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5.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8.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20abf46f-9d80-3041-0df0-514ce23f887b}">
          <p14:sldIdLst>
            <p14:sldId id="256"/>
            <p14:sldId id="257"/>
            <p14:sldId id="258"/>
          </p14:sldIdLst>
        </p14:section>
        <p14:section name="01 · El problema y el contrato" id="{c390ca0f-d958-a749-f548-4d285cb5f96d}">
          <p14:sldIdLst>
            <p14:sldId id="259"/>
            <p14:sldId id="260"/>
            <p14:sldId id="261"/>
            <p14:sldId id="262"/>
          </p14:sldIdLst>
        </p14:section>
        <p14:section name="02 · Los datos de entrada" id="{37da8d06-a855-b246-9aee-1645c7d4a058}">
          <p14:sldIdLst>
            <p14:sldId id="263"/>
            <p14:sldId id="264"/>
            <p14:sldId id="265"/>
            <p14:sldId id="266"/>
          </p14:sldIdLst>
        </p14:section>
        <p14:section name="03 · Arquitectura y flujo de datos" id="{ebb32018-8469-5a4b-43c1-12f5d860cebe}">
          <p14:sldIdLst>
            <p14:sldId id="267"/>
            <p14:sldId id="268"/>
            <p14:sldId id="269"/>
            <p14:sldId id="270"/>
            <p14:sldId id="271"/>
          </p14:sldIdLst>
        </p14:section>
        <p14:section name="04 · El código módulo por módulo" id="{a3d209cf-c71e-86ab-4718-42a52905bc02}">
          <p14:sldIdLst>
            <p14:sldId id="272"/>
            <p14:sldId id="273"/>
            <p14:sldId id="274"/>
            <p14:sldId id="275"/>
            <p14:sldId id="276"/>
            <p14:sldId id="277"/>
            <p14:sldId id="278"/>
            <p14:sldId id="279"/>
            <p14:sldId id="280"/>
            <p14:sldId id="281"/>
            <p14:sldId id="282"/>
            <p14:sldId id="283"/>
          </p14:sldIdLst>
        </p14:section>
        <p14:section name="05 · Dónde y cómo se usa Claude" id="{796d8491-bd9d-4db6-b6a7-148e665f5d86}">
          <p14:sldIdLst>
            <p14:sldId id="284"/>
            <p14:sldId id="285"/>
            <p14:sldId id="286"/>
            <p14:sldId id="287"/>
            <p14:sldId id="288"/>
          </p14:sldIdLst>
        </p14:section>
        <p14:section name="06 · Evaluación y resultados" id="{44570cf8-a692-983a-b331-f0edf28da349}">
          <p14:sldIdLst>
            <p14:sldId id="289"/>
            <p14:sldId id="290"/>
            <p14:sldId id="291"/>
            <p14:sldId id="292"/>
            <p14:sldId id="293"/>
            <p14:sldId id="294"/>
          </p14:sldIdLst>
        </p14:section>
        <p14:section name="07 · Haiku 5.5 vs Opus 5.5" id="{fa20aeba-c17c-3c32-4a28-229052e7c26c}">
          <p14:sldIdLst>
            <p14:sldId id="295"/>
            <p14:sldId id="296"/>
          </p14:sldIdLst>
        </p14:section>
        <p14:section name="08 · Preparación para la entrevista" id="{446e7a7c-b5c0-ccfc-bbcf-415917352050}">
          <p14:sldIdLst>
            <p14:sldId id="297"/>
            <p14:sldId id="298"/>
            <p14:sldId id="299"/>
            <p14:sldId id="300"/>
          </p14:sldIdLst>
        </p14:section>
        <p14:section name="Cierre" id="{8d633a6d-33fb-efee-353c-f80d28674573}">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Evidencias por formato</a:t>
            </a:r>
          </a:p>
        </c:rich>
      </c:tx>
      <c:layout/>
      <c:overlay val="0"/>
    </c:title>
    <c:autoTitleDeleted val="0"/>
    <c:plotArea>
      <c:layout/>
      <c:barChart>
        <c:barDir val="bar"/>
        <c:grouping val="clustered"/>
        <c:varyColors val="0"/>
        <c:ser>
          <c:idx val="0"/>
          <c:order val="0"/>
          <c:tx>
            <c:strRef>
              <c:f>Sheet1!$B$1</c:f>
              <c:strCache>
                <c:ptCount val="1"/>
                <c:pt idx="0">
                  <c:v>Archivos</c:v>
                </c:pt>
              </c:strCache>
            </c:strRef>
          </c:tx>
          <c:spPr>
            <a:solidFill>
              <a:srgbClr val="24425A"/>
            </a:solidFill>
            <a:effectLst/>
          </c:spPr>
          <c:invertIfNegative val="0"/>
          <c:dLbls>
            <c:numFmt formatCode="#,##0"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cat>
            <c:multiLvlStrRef>
              <c:f>Sheet1!$A$2:$A$7</c:f>
              <c:multiLvlStrCache>
                <c:ptCount val="6"/>
                <c:lvl>
                  <c:pt idx="0">
                    <c:v>JSON</c:v>
                  </c:pt>
                  <c:pt idx="1">
                    <c:v>Logs</c:v>
                  </c:pt>
                  <c:pt idx="2">
                    <c:v>SQL</c:v>
                  </c:pt>
                  <c:pt idx="3">
                    <c:v>PNG</c:v>
                  </c:pt>
                  <c:pt idx="4">
                    <c:v>PDF</c:v>
                  </c:pt>
                  <c:pt idx="5">
                    <c:v>TXT</c:v>
                  </c:pt>
                </c:lvl>
              </c:multiLvlStrCache>
            </c:multiLvlStrRef>
          </c:cat>
          <c:val>
            <c:numRef>
              <c:f>Sheet1!$B$2:$B$7</c:f>
              <c:numCache>
                <c:formatCode>General</c:formatCode>
                <c:ptCount val="6"/>
                <c:pt idx="0">
                  <c:v>28</c:v>
                </c:pt>
                <c:pt idx="1">
                  <c:v>26</c:v>
                </c:pt>
                <c:pt idx="2">
                  <c:v>24</c:v>
                </c:pt>
                <c:pt idx="3">
                  <c:v>11</c:v>
                </c:pt>
                <c:pt idx="4">
                  <c:v>4</c:v>
                </c:pt>
                <c:pt idx="5">
                  <c:v>1</c:v>
                </c:pt>
              </c:numCache>
            </c:numRef>
          </c:val>
        </c:ser>
        <c:dLbls>
          <c:numFmt formatCode="#,##0"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6212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Eventos de system_activity.csv por tipo</a:t>
            </a:r>
          </a:p>
        </c:rich>
      </c:tx>
      <c:layout/>
      <c:overlay val="0"/>
    </c:title>
    <c:autoTitleDeleted val="0"/>
    <c:plotArea>
      <c:layout/>
      <c:barChart>
        <c:barDir val="bar"/>
        <c:grouping val="clustered"/>
        <c:varyColors val="0"/>
        <c:ser>
          <c:idx val="0"/>
          <c:order val="0"/>
          <c:tx>
            <c:strRef>
              <c:f>Sheet1!$B$1</c:f>
              <c:strCache>
                <c:ptCount val="1"/>
                <c:pt idx="0">
                  <c:v>Eventos</c:v>
                </c:pt>
              </c:strCache>
            </c:strRef>
          </c:tx>
          <c:spPr>
            <a:solidFill>
              <a:srgbClr val="5E7385"/>
            </a:solidFill>
            <a:effectLst/>
          </c:spPr>
          <c:invertIfNegative val="0"/>
          <c:dLbls>
            <c:numFmt formatCode="#,##0" sourceLinked="0"/>
            <c:txPr>
              <a:bodyPr/>
              <a:lstStyle/>
              <a:p>
                <a:pPr>
                  <a:defRPr b="0" i="0" strike="noStrike" sz="1100" u="none">
                    <a:solidFill>
                      <a:srgbClr val="16212C"/>
                    </a:solidFill>
                    <a:latin typeface="+mn-lt"/>
                  </a:defRPr>
                </a:pPr>
              </a:p>
            </c:txPr>
            <c:showLegendKey val="0"/>
            <c:showVal val="1"/>
            <c:showCatName val="0"/>
            <c:showSerName val="0"/>
            <c:showPercent val="0"/>
            <c:showBubbleSize val="0"/>
            <c:showLeaderLines val="0"/>
          </c:dLbls>
          <c:cat>
            <c:multiLvlStrRef>
              <c:f>Sheet1!$A$2:$A$13</c:f>
              <c:multiLvlStrCache>
                <c:ptCount val="12"/>
                <c:lvl>
                  <c:pt idx="0">
                    <c:v>DELETE_RECORD</c:v>
                  </c:pt>
                  <c:pt idx="1">
                    <c:v>UPDATE_RECORD</c:v>
                  </c:pt>
                  <c:pt idx="2">
                    <c:v>SYNC_RECORD</c:v>
                  </c:pt>
                  <c:pt idx="3">
                    <c:v>INDEX_RECORD</c:v>
                  </c:pt>
                  <c:pt idx="4">
                    <c:v>SEND_EMAIL</c:v>
                  </c:pt>
                  <c:pt idx="5">
                    <c:v>REFRESH_CACHE</c:v>
                  </c:pt>
                  <c:pt idx="6">
                    <c:v>RETAIN_RECORD</c:v>
                  </c:pt>
                  <c:pt idx="7">
                    <c:v>ANONYMIZE_RECORD</c:v>
                  </c:pt>
                  <c:pt idx="8">
                    <c:v>REDACT_RECORD</c:v>
                  </c:pt>
                  <c:pt idx="9">
                    <c:v>CREATE_EXPORT</c:v>
                  </c:pt>
                  <c:pt idx="10">
                    <c:v>CHECK_DATA_FLOW</c:v>
                  </c:pt>
                  <c:pt idx="11">
                    <c:v>otros</c:v>
                  </c:pt>
                </c:lvl>
              </c:multiLvlStrCache>
            </c:multiLvlStrRef>
          </c:cat>
          <c:val>
            <c:numRef>
              <c:f>Sheet1!$B$2:$B$13</c:f>
              <c:numCache>
                <c:formatCode>General</c:formatCode>
                <c:ptCount val="12"/>
                <c:pt idx="0">
                  <c:v>890</c:v>
                </c:pt>
                <c:pt idx="1">
                  <c:v>672</c:v>
                </c:pt>
                <c:pt idx="2">
                  <c:v>447</c:v>
                </c:pt>
                <c:pt idx="3">
                  <c:v>400</c:v>
                </c:pt>
                <c:pt idx="4">
                  <c:v>368</c:v>
                </c:pt>
                <c:pt idx="5">
                  <c:v>284</c:v>
                </c:pt>
                <c:pt idx="6">
                  <c:v>206</c:v>
                </c:pt>
                <c:pt idx="7">
                  <c:v>204</c:v>
                </c:pt>
                <c:pt idx="8">
                  <c:v>173</c:v>
                </c:pt>
                <c:pt idx="9">
                  <c:v>155</c:v>
                </c:pt>
                <c:pt idx="10">
                  <c:v>89</c:v>
                </c:pt>
                <c:pt idx="11">
                  <c:v>123</c:v>
                </c:pt>
              </c:numCache>
            </c:numRef>
          </c:val>
        </c:ser>
        <c:dLbls>
          <c:numFmt formatCode="#,##0" sourceLinked="0"/>
          <c:txPr>
            <a:bodyPr/>
            <a:lstStyle/>
            <a:p>
              <a:pPr>
                <a:defRPr b="0" i="0" strike="noStrike" sz="1100" u="none">
                  <a:solidFill>
                    <a:srgbClr val="1621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6212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Líneas de código por módulo</a:t>
            </a:r>
          </a:p>
        </c:rich>
      </c:tx>
      <c:layout/>
      <c:overlay val="0"/>
    </c:title>
    <c:autoTitleDeleted val="0"/>
    <c:plotArea>
      <c:layout/>
      <c:barChart>
        <c:barDir val="bar"/>
        <c:grouping val="clustered"/>
        <c:varyColors val="0"/>
        <c:ser>
          <c:idx val="0"/>
          <c:order val="0"/>
          <c:tx>
            <c:strRef>
              <c:f>Sheet1!$B$1</c:f>
              <c:strCache>
                <c:ptCount val="1"/>
                <c:pt idx="0">
                  <c:v>Líneas</c:v>
                </c:pt>
              </c:strCache>
            </c:strRef>
          </c:tx>
          <c:spPr>
            <a:solidFill>
              <a:srgbClr val="0F8A80"/>
            </a:solidFill>
            <a:effectLst/>
          </c:spPr>
          <c:invertIfNegative val="0"/>
          <c:dLbls>
            <c:numFmt formatCode="#,##0" sourceLinked="0"/>
            <c:txPr>
              <a:bodyPr/>
              <a:lstStyle/>
              <a:p>
                <a:pPr>
                  <a:defRPr b="0" i="0" strike="noStrike" sz="1100" u="none">
                    <a:solidFill>
                      <a:srgbClr val="16212C"/>
                    </a:solidFill>
                    <a:latin typeface="+mn-lt"/>
                  </a:defRPr>
                </a:pPr>
              </a:p>
            </c:txPr>
            <c:showLegendKey val="0"/>
            <c:showVal val="1"/>
            <c:showCatName val="0"/>
            <c:showSerName val="0"/>
            <c:showPercent val="0"/>
            <c:showBubbleSize val="0"/>
            <c:showLeaderLines val="0"/>
          </c:dLbls>
          <c:cat>
            <c:multiLvlStrRef>
              <c:f>Sheet1!$A$2:$A$13</c:f>
              <c:multiLvlStrCache>
                <c:ptCount val="12"/>
                <c:lvl>
                  <c:pt idx="0">
                    <c:v>observations</c:v>
                  </c:pt>
                  <c:pt idx="1">
                    <c:v>investigate</c:v>
                  </c:pt>
                  <c:pt idx="2">
                    <c:v>media</c:v>
                  </c:pt>
                  <c:pt idx="3">
                    <c:v>llm</c:v>
                  </c:pt>
                  <c:pt idx="4">
                    <c:v>util</c:v>
                  </c:pt>
                  <c:pt idx="5">
                    <c:v>dataset</c:v>
                  </c:pt>
                  <c:pt idx="6">
                    <c:v>pipeline</c:v>
                  </c:pt>
                  <c:pt idx="7">
                    <c:v>intent</c:v>
                  </c:pt>
                  <c:pt idx="8">
                    <c:v>policy</c:v>
                  </c:pt>
                  <c:pt idx="9">
                    <c:v>identity</c:v>
                  </c:pt>
                  <c:pt idx="10">
                    <c:v>main</c:v>
                  </c:pt>
                  <c:pt idx="11">
                    <c:v>validate</c:v>
                  </c:pt>
                </c:lvl>
              </c:multiLvlStrCache>
            </c:multiLvlStrRef>
          </c:cat>
          <c:val>
            <c:numRef>
              <c:f>Sheet1!$B$2:$B$13</c:f>
              <c:numCache>
                <c:formatCode>General</c:formatCode>
                <c:ptCount val="12"/>
                <c:pt idx="0">
                  <c:v>484</c:v>
                </c:pt>
                <c:pt idx="1">
                  <c:v>463</c:v>
                </c:pt>
                <c:pt idx="2">
                  <c:v>184</c:v>
                </c:pt>
                <c:pt idx="3">
                  <c:v>180</c:v>
                </c:pt>
                <c:pt idx="4">
                  <c:v>109</c:v>
                </c:pt>
                <c:pt idx="5">
                  <c:v>100</c:v>
                </c:pt>
                <c:pt idx="6">
                  <c:v>98</c:v>
                </c:pt>
                <c:pt idx="7">
                  <c:v>95</c:v>
                </c:pt>
                <c:pt idx="8">
                  <c:v>95</c:v>
                </c:pt>
                <c:pt idx="9">
                  <c:v>73</c:v>
                </c:pt>
                <c:pt idx="10">
                  <c:v>61</c:v>
                </c:pt>
                <c:pt idx="11">
                  <c:v>60</c:v>
                </c:pt>
              </c:numCache>
            </c:numRef>
          </c:val>
        </c:ser>
        <c:dLbls>
          <c:numFmt formatCode="#,##0" sourceLinked="0"/>
          <c:txPr>
            <a:bodyPr/>
            <a:lstStyle/>
            <a:p>
              <a:pPr>
                <a:defRPr b="0" i="0" strike="noStrike" sz="1100" u="none">
                  <a:solidFill>
                    <a:srgbClr val="1621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6212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Exactitud por campo (%)</a:t>
            </a:r>
          </a:p>
        </c:rich>
      </c:tx>
      <c:layout/>
      <c:overlay val="0"/>
    </c:title>
    <c:autoTitleDeleted val="0"/>
    <c:plotArea>
      <c:layout/>
      <c:barChart>
        <c:barDir val="bar"/>
        <c:grouping val="clustered"/>
        <c:varyColors val="0"/>
        <c:ser>
          <c:idx val="0"/>
          <c:order val="0"/>
          <c:tx>
            <c:strRef>
              <c:f>Sheet1!$B$1</c:f>
              <c:strCache>
                <c:ptCount val="1"/>
                <c:pt idx="0">
                  <c:v>Exactitud</c:v>
                </c:pt>
              </c:strCache>
            </c:strRef>
          </c:tx>
          <c:spPr>
            <a:solidFill>
              <a:srgbClr val="0F8A80"/>
            </a:solidFill>
            <a:effectLst/>
          </c:spPr>
          <c:invertIfNegative val="0"/>
          <c:dLbls>
            <c:numFmt formatCode="0.0&quot;%&quot;"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cat>
            <c:multiLvlStrRef>
              <c:f>Sheet1!$A$2:$A$8</c:f>
              <c:multiLvlStrCache>
                <c:ptCount val="7"/>
                <c:lvl>
                  <c:pt idx="0">
                    <c:v>step_no</c:v>
                  </c:pt>
                  <c:pt idx="1">
                    <c:v>phase</c:v>
                  </c:pt>
                  <c:pt idx="2">
                    <c:v>system_id</c:v>
                  </c:pt>
                  <c:pt idx="3">
                    <c:v>resource_id</c:v>
                  </c:pt>
                  <c:pt idx="4">
                    <c:v>operation</c:v>
                  </c:pt>
                  <c:pt idx="5">
                    <c:v>state</c:v>
                  </c:pt>
                  <c:pt idx="6">
                    <c:v>evidence_id</c:v>
                  </c:pt>
                </c:lvl>
              </c:multiLvlStrCache>
            </c:multiLvlStrRef>
          </c:cat>
          <c:val>
            <c:numRef>
              <c:f>Sheet1!$B$2:$B$8</c:f>
              <c:numCache>
                <c:formatCode>General</c:formatCode>
                <c:ptCount val="7"/>
                <c:pt idx="0">
                  <c:v>95.3</c:v>
                </c:pt>
                <c:pt idx="1">
                  <c:v>97.9</c:v>
                </c:pt>
                <c:pt idx="2">
                  <c:v>97.9</c:v>
                </c:pt>
                <c:pt idx="3">
                  <c:v>97.9</c:v>
                </c:pt>
                <c:pt idx="4">
                  <c:v>97.9</c:v>
                </c:pt>
                <c:pt idx="5">
                  <c:v>97.9</c:v>
                </c:pt>
                <c:pt idx="6">
                  <c:v>97.9</c:v>
                </c:pt>
              </c:numCache>
            </c:numRef>
          </c:val>
        </c:ser>
        <c:dLbls>
          <c:numFmt formatCode="0.0&quot;%&quot;"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6212C"/>
                </a:solidFill>
                <a:latin typeface="Courier New"/>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Puntaje en las muestras (de 32) tras cada mejora</a:t>
            </a:r>
          </a:p>
        </c:rich>
      </c:tx>
      <c:layout/>
      <c:overlay val="0"/>
    </c:title>
    <c:autoTitleDeleted val="0"/>
    <c:plotArea>
      <c:layout/>
      <c:lineChart>
        <c:varyColors val="0"/>
        <c:ser>
          <c:idx val="0"/>
          <c:order val="0"/>
          <c:tx>
            <c:strRef>
              <c:f>Sheet1!$B$1</c:f>
              <c:strCache>
                <c:ptCount val="1"/>
                <c:pt idx="0">
                  <c:v>Estados correctos</c:v>
                </c:pt>
              </c:strCache>
            </c:strRef>
          </c:tx>
          <c:spPr>
            <a:solidFill>
              <a:srgbClr val="0F8A80"/>
            </a:solidFill>
            <a:ln w="38100" cap="flat">
              <a:solidFill>
                <a:srgbClr val="0F8A80"/>
              </a:solidFill>
              <a:prstDash val="solid"/>
              <a:round/>
            </a:ln>
            <a:effectLst/>
          </c:spPr>
          <c:invertIfNegative val="0"/>
          <c:dLbls>
            <c:numFmt formatCode="#,##0" sourceLinked="0"/>
            <c:txPr>
              <a:bodyPr/>
              <a:lstStyle/>
              <a:p>
                <a:pPr>
                  <a:defRPr b="0" i="0" strike="noStrike" sz="1200" u="none">
                    <a:solidFill>
                      <a:srgbClr val="16212C"/>
                    </a:solidFill>
                    <a:latin typeface="+mn-lt"/>
                  </a:defRPr>
                </a:pPr>
              </a:p>
            </c:txPr>
            <c:dLblPos val="t"/>
            <c:showLegendKey val="0"/>
            <c:showVal val="1"/>
            <c:showCatName val="0"/>
            <c:showSerName val="0"/>
            <c:showPercent val="0"/>
            <c:showBubbleSize val="0"/>
            <c:showLeaderLines val="0"/>
          </c:dLbls>
          <c:marker>
            <c:symbol val="circle"/>
            <c:size val="9"/>
            <c:spPr>
              <a:solidFill>
                <a:srgbClr val="0F8A80"/>
              </a:solidFill>
              <a:ln w="9525" cap="flat">
                <a:solidFill>
                  <a:srgbClr val="0F8A80"/>
                </a:solidFill>
                <a:prstDash val="solid"/>
                <a:round/>
              </a:ln>
              <a:effectLst/>
            </c:spPr>
          </c:marker>
          <c:cat>
            <c:multiLvlStrRef>
              <c:f>Sheet1!$A$2:$A$8</c:f>
              <c:multiLvlStrCache>
                <c:ptCount val="7"/>
                <c:lvl>
                  <c:pt idx="0">
                    <c:v>n.º 4</c:v>
                  </c:pt>
                  <c:pt idx="1">
                    <c:v>n.º 5</c:v>
                  </c:pt>
                  <c:pt idx="2">
                    <c:v>n.º 6</c:v>
                  </c:pt>
                  <c:pt idx="3">
                    <c:v>n.º 7</c:v>
                  </c:pt>
                  <c:pt idx="4">
                    <c:v>n.º 8</c:v>
                  </c:pt>
                  <c:pt idx="5">
                    <c:v>n.º 11</c:v>
                  </c:pt>
                  <c:pt idx="6">
                    <c:v>n.º 13</c:v>
                  </c:pt>
                </c:lvl>
              </c:multiLvlStrCache>
            </c:multiLvlStrRef>
          </c:cat>
          <c:val>
            <c:numRef>
              <c:f>Sheet1!$B$2:$B$8</c:f>
              <c:numCache>
                <c:formatCode>General</c:formatCode>
                <c:ptCount val="7"/>
                <c:pt idx="0">
                  <c:v>31</c:v>
                </c:pt>
                <c:pt idx="1">
                  <c:v>31</c:v>
                </c:pt>
                <c:pt idx="2">
                  <c:v>31</c:v>
                </c:pt>
                <c:pt idx="3">
                  <c:v>32</c:v>
                </c:pt>
                <c:pt idx="4">
                  <c:v>32</c:v>
                </c:pt>
                <c:pt idx="5">
                  <c:v>32</c:v>
                </c:pt>
                <c:pt idx="6">
                  <c:v>32</c:v>
                </c:pt>
              </c:numCache>
            </c:numRef>
          </c:val>
          <c:smooth val="0"/>
        </c:ser>
        <c:ser>
          <c:idx val="1"/>
          <c:order val="1"/>
          <c:tx>
            <c:strRef>
              <c:f>Sheet1!$C$1</c:f>
              <c:strCache>
                <c:ptCount val="1"/>
                <c:pt idx="0">
                  <c:v>Secuencias exactas</c:v>
                </c:pt>
              </c:strCache>
            </c:strRef>
          </c:tx>
          <c:spPr>
            <a:solidFill>
              <a:srgbClr val="D9512C"/>
            </a:solidFill>
            <a:ln w="38100" cap="flat">
              <a:solidFill>
                <a:srgbClr val="D9512C"/>
              </a:solidFill>
              <a:prstDash val="solid"/>
              <a:round/>
            </a:ln>
            <a:effectLst/>
          </c:spPr>
          <c:invertIfNegative val="0"/>
          <c:dLbls>
            <c:numFmt formatCode="#,##0" sourceLinked="0"/>
            <c:txPr>
              <a:bodyPr/>
              <a:lstStyle/>
              <a:p>
                <a:pPr>
                  <a:defRPr b="0" i="0" strike="noStrike" sz="1200" u="none">
                    <a:solidFill>
                      <a:srgbClr val="16212C"/>
                    </a:solidFill>
                    <a:latin typeface="+mn-lt"/>
                  </a:defRPr>
                </a:pPr>
              </a:p>
            </c:txPr>
            <c:dLblPos val="t"/>
            <c:showLegendKey val="0"/>
            <c:showVal val="1"/>
            <c:showCatName val="0"/>
            <c:showSerName val="0"/>
            <c:showPercent val="0"/>
            <c:showBubbleSize val="0"/>
            <c:showLeaderLines val="0"/>
          </c:dLbls>
          <c:marker>
            <c:symbol val="circle"/>
            <c:size val="9"/>
            <c:spPr>
              <a:solidFill>
                <a:srgbClr val="D9512C"/>
              </a:solidFill>
              <a:ln w="9525" cap="flat">
                <a:solidFill>
                  <a:srgbClr val="D9512C"/>
                </a:solidFill>
                <a:prstDash val="solid"/>
                <a:round/>
              </a:ln>
              <a:effectLst/>
            </c:spPr>
          </c:marker>
          <c:cat>
            <c:multiLvlStrRef>
              <c:f>Sheet1!$A$2:$A$8</c:f>
              <c:multiLvlStrCache>
                <c:ptCount val="7"/>
                <c:lvl>
                  <c:pt idx="0">
                    <c:v>n.º 4</c:v>
                  </c:pt>
                  <c:pt idx="1">
                    <c:v>n.º 5</c:v>
                  </c:pt>
                  <c:pt idx="2">
                    <c:v>n.º 6</c:v>
                  </c:pt>
                  <c:pt idx="3">
                    <c:v>n.º 7</c:v>
                  </c:pt>
                  <c:pt idx="4">
                    <c:v>n.º 8</c:v>
                  </c:pt>
                  <c:pt idx="5">
                    <c:v>n.º 11</c:v>
                  </c:pt>
                  <c:pt idx="6">
                    <c:v>n.º 13</c:v>
                  </c:pt>
                </c:lvl>
              </c:multiLvlStrCache>
            </c:multiLvlStrRef>
          </c:cat>
          <c:val>
            <c:numRef>
              <c:f>Sheet1!$C$2:$C$8</c:f>
              <c:numCache>
                <c:formatCode>General</c:formatCode>
                <c:ptCount val="7"/>
                <c:pt idx="0">
                  <c:v>22</c:v>
                </c:pt>
                <c:pt idx="1">
                  <c:v>26</c:v>
                </c:pt>
                <c:pt idx="2">
                  <c:v>26</c:v>
                </c:pt>
                <c:pt idx="3">
                  <c:v>27</c:v>
                </c:pt>
                <c:pt idx="4">
                  <c:v>28</c:v>
                </c:pt>
                <c:pt idx="5">
                  <c:v>28</c:v>
                </c:pt>
                <c:pt idx="6">
                  <c:v>28</c:v>
                </c:pt>
              </c:numCache>
            </c:numRef>
          </c:val>
          <c:smooth val="0"/>
        </c:ser>
        <c:dLbls>
          <c:numFmt formatCode="#,##0" sourceLinked="0"/>
          <c:txPr>
            <a:bodyPr/>
            <a:lstStyle/>
            <a:p>
              <a:pPr>
                <a:defRPr b="0" i="0" strike="noStrike" sz="1200" u="none">
                  <a:solidFill>
                    <a:srgbClr val="16212C"/>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6212C"/>
                </a:solidFill>
                <a:latin typeface="+mn-lt"/>
              </a:defRPr>
            </a:pPr>
            <a:endParaRPr lang="en-US"/>
          </a:p>
        </c:txPr>
        <c:crossAx val="2094734552"/>
        <c:crosses val="autoZero"/>
        <c:auto val="1"/>
        <c:lblAlgn val="ctr"/>
        <c:noMultiLvlLbl val="1"/>
      </c:catAx>
      <c:valAx>
        <c:axId val="2094734552"/>
        <c:scaling>
          <c:orientation val="minMax"/>
          <c:max val="34"/>
          <c:min val="15"/>
        </c:scaling>
        <c:delete val="0"/>
        <c:axPos val="l"/>
        <c:majorGridlines>
          <c:spPr>
            <a:ln w="6350" cap="flat">
              <a:solidFill>
                <a:srgbClr val="DCE3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621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Estados de las 518 solicitudes</a:t>
            </a:r>
          </a:p>
        </c:rich>
      </c:tx>
      <c:layout/>
      <c:overlay val="0"/>
    </c:title>
    <c:autoTitleDeleted val="0"/>
    <c:plotArea>
      <c:layout/>
      <c:doughnutChart>
        <c:varyColors val="1"/>
        <c:ser>
          <c:idx val="0"/>
          <c:order val="0"/>
          <c:tx>
            <c:strRef>
              <c:f>Sheet1!$B$1</c:f>
              <c:strCache>
                <c:ptCount val="1"/>
                <c:pt idx="0">
                  <c:v>Estados</c:v>
                </c:pt>
              </c:strCache>
            </c:strRef>
          </c:tx>
          <c:spPr>
            <a:solidFill>
              <a:schemeClr val="accent1"/>
            </a:solidFill>
            <a:ln w="9525" cap="flat">
              <a:solidFill>
                <a:srgbClr val="F9F9F9"/>
              </a:solidFill>
              <a:prstDash val="solid"/>
              <a:round/>
            </a:ln>
            <a:effectLst/>
          </c:spPr>
          <c:dPt>
            <c:idx val="0"/>
            <c:bubble3D val="0"/>
            <c:spPr>
              <a:solidFill>
                <a:srgbClr val="D9512C"/>
              </a:solidFill>
              <a:effectLst/>
            </c:spPr>
          </c:dPt>
          <c:dPt>
            <c:idx val="1"/>
            <c:bubble3D val="0"/>
            <c:spPr>
              <a:solidFill>
                <a:srgbClr val="0F8A80"/>
              </a:solidFill>
              <a:effectLst/>
            </c:spPr>
          </c:dPt>
          <c:dPt>
            <c:idx val="2"/>
            <c:bubble3D val="0"/>
            <c:spPr>
              <a:solidFill>
                <a:srgbClr val="5E7385"/>
              </a:solidFill>
              <a:effectLst/>
            </c:spPr>
          </c:dPt>
          <c:dLbls>
            <c:dLbl>
              <c:idx val="0"/>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INCOMPLETE</c:v>
                </c:pt>
                <c:pt idx="1">
                  <c:v>COMPLETE</c:v>
                </c:pt>
                <c:pt idx="2">
                  <c:v>NOT_APPLICABLE</c:v>
                </c:pt>
              </c:strCache>
            </c:strRef>
          </c:cat>
          <c:val>
            <c:numRef>
              <c:f>Sheet1!$B$2:$B$4</c:f>
              <c:numCache>
                <c:ptCount val="3"/>
                <c:pt idx="0">
                  <c:v>355</c:v>
                </c:pt>
                <c:pt idx="1">
                  <c:v>153</c:v>
                </c:pt>
                <c:pt idx="2">
                  <c:v>10</c:v>
                </c:pt>
              </c:numCache>
            </c:numRef>
          </c:val>
        </c:ser>
        <c:firstSliceAng val="0"/>
        <c:holeSize val="58"/>
      </c:doughnutChart>
      <c:spPr>
        <a:noFill/>
        <a:ln>
          <a:noFill/>
        </a:ln>
        <a:effectLst/>
      </c:spPr>
    </c:plotArea>
    <c:legend>
      <c:legendPos val="b"/>
      <c:overlay val="0"/>
      <c:txPr>
        <a:bodyPr/>
        <a:lstStyle/>
        <a:p>
          <a:pPr>
            <a:defRPr sz="1200">
              <a:solidFill>
                <a:srgbClr val="1621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Hallazgos encontrados</a:t>
            </a:r>
          </a:p>
        </c:rich>
      </c:tx>
      <c:layout/>
      <c:overlay val="0"/>
    </c:title>
    <c:autoTitleDeleted val="0"/>
    <c:plotArea>
      <c:layout/>
      <c:barChart>
        <c:barDir val="bar"/>
        <c:grouping val="clustered"/>
        <c:varyColors val="0"/>
        <c:ser>
          <c:idx val="0"/>
          <c:order val="0"/>
          <c:tx>
            <c:strRef>
              <c:f>Sheet1!$B$1</c:f>
              <c:strCache>
                <c:ptCount val="1"/>
                <c:pt idx="0">
                  <c:v>Hallazgos</c:v>
                </c:pt>
              </c:strCache>
            </c:strRef>
          </c:tx>
          <c:spPr>
            <a:solidFill>
              <a:srgbClr val="D9512C"/>
            </a:solidFill>
            <a:effectLst/>
          </c:spPr>
          <c:invertIfNegative val="0"/>
          <c:dLbls>
            <c:numFmt formatCode="#,##0"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cat>
            <c:multiLvlStrRef>
              <c:f>Sheet1!$A$2:$A$5</c:f>
              <c:multiLvlStrCache>
                <c:ptCount val="4"/>
                <c:lvl>
                  <c:pt idx="0">
                    <c:v>REPORT_REMAINING_RECORD</c:v>
                  </c:pt>
                  <c:pt idx="1">
                    <c:v>REPORT_EXPOSED_PII</c:v>
                  </c:pt>
                  <c:pt idx="2">
                    <c:v>REPORT_ACTIVE_DATA_FLOW</c:v>
                  </c:pt>
                  <c:pt idx="3">
                    <c:v>REPORT_RESTORE_RISK</c:v>
                  </c:pt>
                </c:lvl>
              </c:multiLvlStrCache>
            </c:multiLvlStrRef>
          </c:cat>
          <c:val>
            <c:numRef>
              <c:f>Sheet1!$B$2:$B$5</c:f>
              <c:numCache>
                <c:formatCode>General</c:formatCode>
                <c:ptCount val="4"/>
                <c:pt idx="0">
                  <c:v>368</c:v>
                </c:pt>
                <c:pt idx="1">
                  <c:v>214</c:v>
                </c:pt>
                <c:pt idx="2">
                  <c:v>113</c:v>
                </c:pt>
                <c:pt idx="3">
                  <c:v>26</c:v>
                </c:pt>
              </c:numCache>
            </c:numRef>
          </c:val>
        </c:ser>
        <c:dLbls>
          <c:numFmt formatCode="#,##0"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6212C"/>
                </a:solidFill>
                <a:latin typeface="Courier New"/>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Costo de las 409 llamadas (USD)</a:t>
            </a:r>
          </a:p>
        </c:rich>
      </c:tx>
      <c:layout/>
      <c:overlay val="0"/>
    </c:title>
    <c:autoTitleDeleted val="0"/>
    <c:plotArea>
      <c:layout/>
      <c:barChart>
        <c:barDir val="col"/>
        <c:grouping val="clustered"/>
        <c:varyColors val="0"/>
        <c:ser>
          <c:idx val="0"/>
          <c:order val="0"/>
          <c:tx>
            <c:strRef>
              <c:f>Sheet1!$B$1</c:f>
              <c:strCache>
                <c:ptCount val="1"/>
                <c:pt idx="0">
                  <c:v>Costo (USD)</c:v>
                </c:pt>
              </c:strCache>
            </c:strRef>
          </c:tx>
          <c:spPr>
            <a:solidFill>
              <a:srgbClr val="0F8A80"/>
            </a:solidFill>
            <a:effectLst/>
          </c:spPr>
          <c:invertIfNegative val="0"/>
          <c:dLbls>
            <c:numFmt formatCode="&quot;$&quot;0.00"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dPt>
            <c:idx val="0"/>
            <c:invertIfNegative val="0"/>
            <c:bubble3D val="0"/>
            <c:spPr>
              <a:solidFill>
                <a:srgbClr val="0F8A80"/>
              </a:solidFill>
              <a:effectLst/>
            </c:spPr>
          </c:dPt>
          <c:dPt>
            <c:idx val="1"/>
            <c:invertIfNegative val="0"/>
            <c:bubble3D val="0"/>
            <c:spPr>
              <a:solidFill>
                <a:srgbClr val="D9512C"/>
              </a:solidFill>
              <a:effectLst/>
            </c:spPr>
          </c:dPt>
          <c:cat>
            <c:multiLvlStrRef>
              <c:f>Sheet1!$A$2:$A$3</c:f>
              <c:multiLvlStrCache>
                <c:ptCount val="2"/>
                <c:lvl>
                  <c:pt idx="0">
                    <c:v>Haiku 5.5</c:v>
                  </c:pt>
                  <c:pt idx="1">
                    <c:v>Opus 5.5</c:v>
                  </c:pt>
                </c:lvl>
              </c:multiLvlStrCache>
            </c:multiLvlStrRef>
          </c:cat>
          <c:val>
            <c:numRef>
              <c:f>Sheet1!$B$2:$B$3</c:f>
              <c:numCache>
                <c:formatCode>General</c:formatCode>
                <c:ptCount val="2"/>
                <c:pt idx="0">
                  <c:v>0.0507</c:v>
                </c:pt>
                <c:pt idx="1">
                  <c:v>2.0085</c:v>
                </c:pt>
              </c:numCache>
            </c:numRef>
          </c:val>
        </c:ser>
        <c:dLbls>
          <c:numFmt formatCode="&quot;$&quot;0.00" sourceLinked="0"/>
          <c:txPr>
            <a:bodyPr/>
            <a:lstStyle/>
            <a:p>
              <a:pPr>
                <a:defRPr b="0" i="0" strike="noStrike" sz="1200" u="none">
                  <a:solidFill>
                    <a:srgbClr val="1621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6212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E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QUÉ SIRVE ESTA PRESENTACIÓN
Es una guía de estudio: cada diapositiva tiene una sola idea, y estas notas explican qué decir y los detalles técnicos que el AI Judge puede preguntar.
CÓMO ESTÁ ORGANIZADA (8 secciones)
1. El problema y el contrato de entrada y salida.
2. Los datos que entrega el reto.
3. La arquitectura, el flujo de datos, la ventana temporal y el flujo del operador.
4. El código módulo por módulo, con pseudocódigo y un caso real de punta a punta (case_12).
5. Dónde se usa Claude y dónde no.
6. La evaluación: métricas, casos propios, fallos encontrados y mejoras.
7. La comparación Haiku 5.5 contra Opus 5.5.
8. Preparación para la entrevista: decisiones de diseño, límites y preguntas probables.
DÓNDE ESTÁ TODO
Repositorio OBaruch/hackerrank-orchestrate-october26, rama main. Código en code/ghost_audit/, punto de entrada code/main.py, evaluación en code/evaluation/, pruebas en code/tests/.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(pitch de 30 segundos)
«Construí un agente que no confía en lo que dicen los sistemas. Para cada solicitud de borrado reconstruye qué copias de los datos de la persona existían realmente a la hora de la auditoría, usando solo evidencia observada: filas de bases de datos, búsquedas en logs, capturas de pantalla y PDFs. Después aplica la política de borrado y genera un plan ordenado de hallazgos, remediación y verificación. El núcleo es determinista; Claude solo lee la intención del texto y transcribe capturas.»
LOS NÚMEROS
• 32 de 32 estados correctos en las muestras públicas (COMPLETE, INCOMPLETE o NOT_APPLICABLE).
• F1 de pasos 98,7 %: se encontraron 189 de los 193 pasos esperados y solo sobra 1.
• Costo de Claude para las 518 solicitudes: 0,0507 USD con claude-haiku-5-5 (409 llamadas).
• Al repetir todo con claude-opus-5-5 el output.csv salió idéntico en las 518 filas, a 2,01 USD (40 veces más).
LA IDEA CLAVE
El modelo nunca escribe un paso del plan. Eso hace que la salida sea reproducible, auditable y barata, y que cada paso se pueda justificar con un archivo de evidencia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orden recomendado para estudiar. Si en la entrevista te piden explicar la solución en 5 minutos, usa las secciones 1, 3 y 6: el problema, la arquitectura y los resultados.
Para preguntas técnicas profundas, la sección 4 tiene el pseudocódigo de cada pieza y la sección 5 explica exactamente qué hace Claude.
La sección 8 resume las decisiones de diseño y sus compromisos, que es lo que un juez suele querer escuchar: por qué elegiste esto y no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Aquí se explica el reto de negocio y el contrato de entrada y salida. Es la base para entender por qué la solución desconfía de los estados reportados.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reto parte de una historia: Northstar Shop, una tienda ficticia, perdió 2,4 millones de dólares porque una clienta «borrada» seguía existiendo en sus sistemas. Todos los paneles decían Complete, pero cuando la persona quiso registrarse otra vez, el sistema respondió que el email ya estaba registrado.
La investigación encontró datos personales en bases secundarias, adjuntos de soporte, índices de búsqueda, exportaciones de analítica, logs, archivos y backups. Incluso un trabajo de sincronización había recreado datos que el servicio de cuentas sí había borrado.
LA LECCIÓN QUE GUÍA TODO EL DISEÑO
reported_status (COMPLETE, PARTIALLY_COMPLETE, NOT_STARTED) y reported_result de la actividad (SUCCESS, PARTIAL, FAILED) son afirmaciones. El agente solo acepta como prueba una observación del registro: una fila en una foto de base de datos, una búsqueda que devolvió filas o un 404, un escaneo, una configuración de conector, un documento o una pantalla.
LOS NUEVE LUGARES
Cada uno corresponde a un system_id del contrato: account_service (perfil), réplicas (failover, lectura, reporting, regionales), support_platform (mensajes y adjuntos), export_service (exportaciones descargables), search_service (índice), analytics_platform (perfiles de analítica y copias de contacto), backup_service (archivos que se pueden restaurar), integration_service (conectores que sincronizan) e identity_service (tombstones que deben quedar solo con el user_id).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Cada fila de deletion_requests.csv es un caso. El agente devuelve exactamente una fila por caso en output.csv: 518 filas, ordenadas por case_id, con tres columnas.
LOS CAMPOS DE ENTRADA, UNO POR UNO
• case_id: identifica el caso y su fila de salida.
• email: la identidad que llegó con la solicitud. Puede ser el email actual o uno antiguo; por eso hay que resolver la identidad histórica.
• requested_at: cuándo se pidió. Es el inicio de la ventana de evidencia.
• reported_status y reported_at: lo que el workflow afirmó y cuándo. No es prueba, pero el reported_at sirve para agrupar solicitudes procesadas en la misma corrida del worker.
• audit_at: la hora de corte. Nada posterior puede cambiar la respuesta ni citarse.
• request_text: el texto libre de la persona, en varios idiomas. Hay que decidir si de verdad pide borrar.
LOS TRES ESTADOS
• COMPLETE: cada copia tiene el trato que exige la política, lo retenido sigue disponible y nada puede recrear los datos. Solo lleva pasos VERIFICATION y cada uno cita la evidencia que lo prueba.
• INCOMPLETE: queda algo. Lleva hallazgos (FINDING) que citan evidencia, el plan de remediación completo y las verificaciones que deben pasar después. Remediación y verificación son trabajo futuro, por eso su evidence_id va vacío.
• NOT_APPLICABLE: el texto no autoriza borrar (acceso, corrección, exportación, baja de marketing, soporte). steps_json 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contrato fija un vocabulario cerrado. Cada operación pertenece a una fase y tiene un único estado, así que el estado nunca se elige: se deduce de la operación (en el código, OP_PHASE y OP_STATE en policy.py).
LAS FASES
• FINDING (4): lo que está mal hoy. Siempre cita la evidencia que lo prueba (file_id, activity_id o audit_id).
• REMEDIATION (5): lo que hay que hacer. Siempre sin evidencia, porque es trabajo futuro.
• VERIFICATION (6): lo que hay que comprobar. En un caso COMPLETE cita la prueba del estado actual; en uno INCOMPLETE es una comprobación futura y va sin evidencia.
EL ORDEN
Dentro de cada fase se sigue el orden de la tabla del enunciado, y los empates se resuelven por system_id y después por resource_id. Ese orden no es arbitrario: primero se desactivan los flujos y se bloquean las restauraciones (para que nada vuelva a crear el dato) y solo después se borran, redactan o anonimizan los registros.
DETALLE QUE SUELE PREGUNTARSE
REPORT_EXPOSED_PII se usa cuando el registro puede quedarse (política REDACT o ANONYMIZE) pero todavía expone identificadores. REPORT_REMAINING_RECORD se usa cuando el registro entero debía desaparecer (política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Qué datos entrega el reto. Lo importante: la evidencia es global y mezcla a muchas personas, y el manifiesto no dice qué archivo corresponde a qué caso. El agente tiene que conectarlo todo a través de identificadores.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Todo lo que usa el agente está dentro de dataset/. No usa ningún archivo del organizador.
CADA ARCHIVO
• deletion_requests.csv: las 518 solicitudes que hay que responder.
• sample_deletion_requests.csv y sample_output.csv: 32 solicitudes con su respuesta correcta. Sirven para medir y para iterar; nunca se copian etiquetas.
• user_identities.csv: 850 usuarios con su identidad actual (user_id estable, nombre, email, teléfono, hash del email, fecha de actualización).
• user_audit_log.csv: 306 cambios históricos de email, teléfono o hash. Con esto se recuperan identificadores viejos que pueden seguir en sistemas antiguos.
• system_activity.csv: 4.011 eventos globales (borrados, syncs, exportaciones, backups, restauraciones, indexación). Muchos son de otras personas.
• deletion_rules.csv: 15 reglas de política, una por categoría de dato.
• evidence_files.csv: el manifiesto de las 94 evidencias: file_id, ruta, origen y captured_at (cuándo se capturó el archivo).
LAS EVIDENCIAS (gráfico)
28 JSON (bundles de snapshots, exportaciones de servicios, historiales de lookups, configuraciones de conectores), 26 logs en seis formatos distintos, 24 exportaciones SQL de SQLite (primarias y réplicas), 11 capturas PNG de consolas internas, 4 PDFs (extractos, registros de retención, un adjunto) y 1 texto de handover.
LA TRAMPA
El manifiesto no dice qué caso toca cada archivo. La conexión se hace por contenido: emails actuales e históricos, hashes, teléfonos, user_id, resource_id y referencias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deletion_rules.csv asigna a cada categoría de dato una acción. El agente no borra todo: borra lo que hay que borrar, redacta o anonimiza lo que debe quedarse sin identificar a la persona, y conserva lo que la ley o la seguridad obligan a retener.
LOS CINCO TRATOS
• DELETE (reglas 01, 02, 03, 04, 06, 09, 10): perfil de usuario, identificador secundario (por ejemplo copias de contacto), entrada del índice de búsqueda, caché, adjunto de soporte que pertenece solo a la persona, exportación de usuario y perfil de marketing.
• REDACT (05, 11, 15): mensajes de soporte que tienen contexto compartido con agentes o pedidos, logs de entrega de email que contienen la dirección, y el ACCOUNT_TOMBSTONE.
• ANONYMIZE (07, 08): perfiles de analítica y telemetría que todavía se pueden atribuir a la persona.
• RETAIN (12, 13, 14): logs de auditoría de seguridad dentro del periodo de retención, registros con retención legal activa y archivos de backup. El backup se conserva, pero hay que bloquear su restauración.
• DISABLE: los flujos de datos activos (conectores, syncs) no son una categoría de las reglas, pero el contrato exige reportarlos y desactivarlos.
EL TOMBSTONE (pregunta frecuente)
Algunas cuentas dejan una lápida para que los registros retenidos sigan apuntando al mismo user_id interno. La regla 15 dice: se queda el user_id estable y se quitan nombre, email, teléfono y hash del email. Por eso es REDACT y no DELETE.
EN EL CÓDIGO
policy.py, clase Policy: action(categoría) devuelve la acción de la regla. DATA_FLOW → DISABLE, BACKUP_ARCHIVE → BLOCK_RESTORE, y una categoría desconocida → DELETE (la opción más segura para la privacidad).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system_activity.csv tiene 4.011 eventos de todo el sistema. La mayoría son de otras personas o son ruido operativo. Lo crucial es que reported_result = SUCCESS no prueba que el dato desapareciera: solo dice que alguien envió o completó una orden.
PARA QUÉ LA USA EL AGENTE (y para qué no)
1. Enlaces del catálogo de datos: los 12 eventos LINK_RESOURCE_IDENTITY dicen, por ejemplo, «Data catalog linked account_5762 (account_5762) to haruka.s1838@zoho.com and user_11». Son la forma de conectar una captura de pantalla o un PDF (que a veces solo muestran una referencia como un número de extracto) con la persona.
2. Atribución por lotes: los 1.466 eventos del deletion_worker nombran recursos que a veces no tienen ningún identificador en ninguna evidencia (un perfil que ya da 404, una fila de analítica ya anonimizada). Con el tiempo de cada evento y el reported_at de las solicitudes se asignan a su caso. Se explica en la sección 4.
3. Nunca decide un estado. Un DELETE_RECORD con SUCCESS no hace que un registro sea ABSENT; solo una observación lo hace.
OTROS EVENTOS
CLASSIFY_REQUEST (10 eventos de privacy_intake) afirma que ciertas solicitudes no son de borrado. Tampoco se toman como prueba: la intención se decide leyendo el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La vista de arriba: cómo se encadenan las etapas, qué estructura de datos viaja entre ellas, qué significa la ventana [requested_at, audit_at] y cómo se ejecuta todo desde la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solución es un pipeline de ocho etapas. Lo llamo neuro-simbólico porque combina un núcleo simbólico (reglas explícitas, deterministas) con un modelo neuronal (Claude) solo en dos puntos de percepción.
LAS ETAPAS
1. Solicitud: una fila de deletion_requests.csv.
2. Intención (intent.py): ¿el texto autoriza borrar? Claude Haiku con salida JSON; respaldo por palabras clave. Si no autoriza → NOT_APPLICABLE, [].
3. Identidad (identity.py): con el snapshot actual y el historial de cambios se juntan todos los emails, teléfonos, hashes y el user_id de la persona.
4. Evidencia (observations.py, media.py): cada uno de los 94 archivos se convierte en Observaciones: «en el archivo F, a la hora T, el recurso R estaba presente o ausente, exponía o no PII, estaba activo o no, y aparecía junto a los identificadores L». Las capturas PNG las transcribe Claude visión.
5. Investigador (investigate.py): busca los recursos de la persona y reconstruye su estado en audit_at con la última observación válida.
6. Política (policy.py): aplica deletion_rules.csv y produce hallazgos, remediación y verificación, ordenados y numerados.
7. Validador (validate.py): comprueba el contrato antes de escribir.
8. Salida (pipeline.py): output.csv, más trace.jsonl con el porqué de cada caso y usage.json con tokens y costo.
COLORES
Verde azulado = determinista. Ámbar = interviene Claude. La etapa de evidencia es determinista salvo las 11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Cada etapa recibe y entrega una estructura concreta. Es la mejor forma de explicar el código: seguir el dato.
1. Solicitud: el diccionario de la fila CSV, con sus siete campos.
2. Intención: un diccionario con authorizes_deletion (sí o no), request_type (DELETION, DELETION_VERIFICATION, ACCESS, EXPORT, CORRECTION, MARKETING_OPT_OUT, ACCOUNT_SUPPORT, OTHER), language, rationale y source (llm o keywords).
3. Subject (identity.py): user_id, nombre, conjuntos de emails, teléfonos y hashes, matched_via (current, history o unresolved) y los audit_id usados. Su propiedad link_keys es la unión de todo: la llave para buscar.
4. Observation (observations.py): la unidad común de evidencia. file_id y captured_at (del archivo, para saber si se puede citar), ts (cuándo ocurrió el hecho), system y resource_id, category, los tres estados present, exposed y active (pueden ser None si el archivo no lo dice), links (identificadores vistos junto al registro) y kind (record, lookup o scope; scope = una foto completa de un sistema).
5. ResourceState (investigate.py): el estado final de un recurso en audit_at, con la evidencia que lo prueba, la hora observada y las razones por las que se vinculó a la persona (por ejemplo «evidence_01:minjun.kim@gmail.com» o «activity_4000:catalog»).
6. Paso: los siete campos del contrato. Los pasos se serializan como JSON compacto y forman la fila de salida. Además, cada caso escribe una línea en trace.jsonl con intención, identidad y recursos: es la explicación auditable del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Cada caso se responde «como si fuera audit_at». Eso define qué evidencia vale.
LA REGLA EXACTA (Investigator.in_window)
Una observación cuenta si el archivo se capturó entre requested_at y audit_at (requested_at ≤ captured_at ≤ audit_at) y el hecho observado no es posterior a audit_at (ts ≤ audit_at).
• Evidencia capturada antes de requested_at: no cuenta, porque describe un estado anterior a la solicitud.
• Evidencia en la ventana: cuenta. Si hay varias sobre el mismo recurso, gana la de ts más alto. Si empatan en ts, se fusionan de forma conservadora: presente si alguna copia está presente, expuesto si alguna expone, activo si alguno está activo.
• Evidencia capturada después de audit_at: nunca se cita ni decide el estado. El validador además rechaza cualquier paso que cite un archivo posterior.
EL MATIZ DE LOS RETENIDOS (mejora n.º 5)
A veces el vínculo entre la persona y un registro retenido (un log de auditoría de seguridad) solo aparece en una foto capturada después de audit_at. Ese archivo no se cita, pero el registro se añade a las verificaciones futuras de un caso INCOMPLETE (VERIFY_RECORD_PRESENT sin evidencia), porque después de remediar ese registro tiene que seguir ahí. Esto corrigió los casos 09, 23, 24, 29 y 30.
CASO PROPIO custom_04
Se movió audit_at de case_24 tres días después. Entonces evidence_02 (capturada el 17-09) entra en la ventana, su observación es más reciente, pasa a ser la cita de los hallazgos, y el registro retenido audit_record_7095 entra en las verificaciones. El agente lo acierta.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Así se usa el sistema desde la terminal, en la raíz del repositorio.
1. Instalar: pip install -r code/requirements.txt. Python 3.10 o superior; solo necesita anthropic y pypdf.
2. Clave (opcional): ORCHESTRATE_ANTHROPIC_API_KEY o ANTHROPIC_API_KEY. Solo se lee del entorno, nunca se imprime ni se guarda en el log.
3. Ejecutar: python code/main.py. El modo --llm decide cómo se usa Claude: auto (llama a la API si hay clave, si no usa la caché), cache (nunca llama a la API), live (exige la clave) u off (sin modelo: palabras clave y solo PDFs). Escribe output.csv, code/runs/trace.jsonl y code/runs/usage.json. Con la caché caliente tarda unos 2 segundos; la corrida que llenó la caché tardó unos 10 minutos.
4. Evaluar: python code/evaluation/main.py --custom corre las 32 muestras y los 4 casos propios y calcula todas las métricas. Con --pred y --gold compara cualquier archivo.
5. Probar: python -m unittest discover -s code/tests -t code. 39 pruebas, solo biblioteca estándar, unos 3 segundos, sin clave.
6. Empaquetar: zip -rD code.zip README.md code -x "*/__pycache__/*" ... y subir code.zip, output.csv y log.txt a HackerRank.
OTRAS OPCIONES ÚTILES
--requests sample_deletion_requests.csv --out code/runs/sample_output.csv para correr solo las muestras; --model claude-opus-5-5 para reproducir la corrida con Opus desde su caché.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Aquí está el detalle técnico. Si el juez pregunta «muéstrame cómo decide el estado de un recurso» o «cómo encuentras los datos de un email antiguo», las respuestas están en estas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paquete code/ghost_audit/ tiene doce archivos y unas 2.000 líneas de Python. Las dos piezas más grandes son las que hacen el trabajo difícil: observations.py (leer formatos heterogéneos) e investigate.py (decidir qué es de quién y en qué estado está).
ORDEN DE LECTURA RECOMENDADO
main.py → pipeline.py → dataset.py → observations.py → identity.py → investigate.py → policy.py → validate.py. Después intent.py, media.py y llm.py para la parte de Claude.
DEPENDENCIAS
Solo la biblioteca estándar más anthropic (cliente de Claude) y pypdf (texto de PDFs). SQLite viene con Python: las exportaciones SQL se ejecutan tal cual en una base en memoria.
PRUEBAS (code/tests/, 39)
test_extractors.py (los seis formatos de log, uniones por trace_id, fotos SQL), test_policy_and_contract.py (cada acción de política, el orden y cada violación del contrato), test_investigation.py (un mini dataset ficticio con email histórico y evidencia antes y después de la ventana), test_intent_and_llm.py (intención multilingüe, respaldo y caché) y test_regression.py (las métricas no bajan y la salida se reproduce byte a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Esta es la función run() de pipeline.py, traducida a pseudocódigo. Es todo el sistema en una pantalla.
DETALLES DE CADA LÍNEA
• El LLM se crea con el modelo por defecto claude-haiku-5-5 (se puede cambiar con --model o la variable GHOST_AUDIT_MODEL). En modo off no hay LLM.
• Investigator(ds) extrae todas las observaciones de los 94 archivos una sola vez, al construirse. Después indexa por resource_id, separa las fotos completas (kind = scope), arma el catálogo de enlaces y conecta referencias del catálogo con lo leído en capturas y PDFs.
• El contexto incluye las muestras y la evaluación porque el deletion_worker mezcla solicitudes de ambos archivos en la misma corrida. Para atribuir bien un lote hay que ver todas sus solicitudes.
• La intención se calcula una vez por texto distinto: 398 textos para 550 solicitudes. Los textos repetidos reutilizan la respuesta.
• atribuir_lotes asigna objetivos del worker que no tienen identificadores. Se hace antes de auditar porque es un problema conjunto entre solicitudes de un mismo lote.
• Cada caso se audita, se valida y se escribe. Si el validador encuentra errores, main.py los imprime y termina con código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idea central del diseño: seis formatos distintos se traducen a una sola estructura, Observation. A partir de ahí, el resto del sistema no sabe ni le importa si el dato vino de un log, de SQL o de una captura.
CADA FORMATO
• Logs (26 archivos): parse_log_line reconoce seis formatos: key=value, JSON, «[nivel] [servicio] [trace] evento:», separados por barras verticales, syslog RFC 5424 y el de funciones con requestId. Solo ciertos eventos producen observaciones (profile_lookup_completed, index_query_completed, analytics_profile_read_completed, contact_lookup_completed, connector_config_loaded, restore_candidate_evaluated, message_read, attachment_pii_scan, etc.).
• La unión por trace_id (ejemplo de la derecha): la línea «_started» tiene el identificador buscado (lookup_key) pero no el recurso; la línea «_completed» tiene el recurso y el resultado pero no el identificador. extract_log junta las claves de búsqueda por trace_id y se las pasa a la observación final.
• SQL (24): se ejecuta el script en sqlite3 en memoria. Hay tablas de primaria y de réplicas (failover, lectura, reporting, regionales), algunas con record_json. La tabla snapshot_scope indica que la foto es completa para un sistema: eso permite probar ausencia.
• JSON (28): bundles de snapshots por colección, service_exports por servicio, historiales de operaciones y configuraciones de conectores.
• Texto (1): el handover del 2026-10-01 con líneas «fecha | sistema | recurso | tipo | resultado | sujeto».
• PDF (4): pypdf extrae el texto; los ids de recurso y los identificadores del mismo documento se toman como un registro.
• PNG (11): Claude visión transcribe los registros a JSON. Sección 5.
CÓMO SE DECIDE «EXPUESTO»
Se miran campos directos (email, phone, full_name, requester_email, owner_email, etc.). «[REDACTED]» no cuenta como expuesto. En analítica, un user_id o customer_reference también cuenta, porque la regla dice «todavía atribuible».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solicitud trae un email, pero los sistemas viejos pueden guardar el email anterior, su hash o un teléfono anterior. Por eso la identidad se reconstruye completa antes de buscar.
EL CASO REAL: case_12 (muestra pública)
• La solicitud llega con minjun.kim@gmail.com y el texto «I changed the email on this account before deleting it. Please check that nothing tied to the old address was left behind, even in systems that do not display the email».
• user_identities.csv: ese es el email actual de user_12 (Min-jun Kim, +82 10 2466 4678, hash 6e34ae57…).
• user_audit_log.csv: audit_282 dice que el 2026-05-18 cambió el email desde minjun.kim90@gmail.com; audit_283 dice que el hash cambió desde 44a65154…
• Las link_keys quedan: los dos emails, el teléfono, los dos hashes, el sha256 de cada email (por si un sistema guarda el hash calculado y no el del snapshot) y user_12.
• En evidence_01, la línea de analytics_9914 es contact_lookup_completed rows=1 con correlation_key = 44a65154…: el hash del email ANTIGUO. Esa copia de contacto no aparece buscando el email actual. Es exactamente lo que la persona temía.
CÓMO FUNCIONA IdentityResolver.resolve
Primero busca el email entre los emails actuales; si no está, entre los emails viejos y nuevos del historial (matched_via = history). Si nadie es dueño, la persona queda unresolved y solo se busca por el email y su sha256. Después une snapshot, historial y hashes.
CASO PROPIO custom_03
La misma solicitud de case_12 enviada desde el email antiguo minjun.kim90@gmail.com. El agente resuelve user_12 por historial y llega exactamente a la misma respuesta de 5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Esta es la función audit() de investigate.py y su ayudante resource_state(). Son el corazón del agente.
ENCONTRAR LOS RECURSOS (find_resources)
Tres fuentes, todas dentro de la ventana:
1. Observaciones cuyos links comparten algún identificador con las link_keys de la persona. Se guarda la razón, por ejemplo «evidence_01:44a65154…».
2. Enlaces del catálogo (LINK_RESOURCE_IDENTITY) cuyo email o user_id es de la persona.
3. La atribución por lotes calculada antes para ese caso (siguiente diapositiva).
DECIDIR EL ESTADO (resource_state)
Se toman las observaciones del recurso dentro de la ventana, se queda la del ts más alto y, si hay varias con ese ts, se fusionan de forma conservadora. La cita es el archivo capturado más tarde entre ellas. Si no hay ninguna observación, el estado queda desconocido; para un perfil de cuenta eso se interpreta como ausente (en el plan, present = None en account_service → False).
LOS CUATRO PRINCIPIOS
• Afirmación ≠ prueba: solo observaciones del registro deciden.
• La más reciente gana: el estado en audit_at es la última observación válida.
• Empate conservador: prefiero un falso hallazgo a dejar un fantasma.
• Réplicas: una foto completa vacía no oculta una copia en una réplica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Probar que algo NO existe es más difícil que probar que existe. El agente lo resuelve con fotos completas.
QUÉ ES UNA FOTO COMPLETA
Una exportación SQL con la tabla snapshot_scope (que declara qué sistemas cubre y a qué hora), o un bundle JSON con colecciones completas como customer_profiles, customer_search_documents o deleted_customer_references. En el código son observaciones con kind = scope.
CÓMO SE USA (absence_proof)
Para un VERIFY_RECORD_ABSENT de un caso COMPLETE sin prueba directa, se cita la foto completa más reciente del sistema dentro de la ventana que no lista el recurso. Se prefieren archivos que ya aparecen en el caso y, si no, fotos no vacías de ese sistema.
EL FALLO QUE ESTO CORRIGIÓ (mejora n.º 1)
La primera versión decía «borrado» cuando una foto primaria más nueva no listaba el registro. Pero en otra captura, por ejemplo evidence_54 (réplica failover de cuentas, 2026-09-02), el registro seguía presente, mientras evidence_90 (inventario del 2026-09-05) ya no lo listaba. Ahora una foto completa solo prueba la ausencia de lo que ninguna otra observación muestra en la ventana: la fila de la réplica es una observación del registro, y la falta de fila no lo es.
POR QUÉ IMPORTA
Es literalmente el escenario del enunciado: el primario está limpio, la réplica no, y el panel dice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Hay recursos que el deletion_worker tocó y que no llevan ningún identificador en ninguna evidencia: un perfil que ya responde 404, una fila de analítica ya anonimizada. Aun así pertenecen a un caso, y la respuesta correcta los incluye (normalmente como verificaciones). La atribución por lotes los asigna.
PASO A PASO (attribute_batches)
1. Agrupar: las solicitudes con el mismo reported_at se procesaron en una misma corrida del worker.
2. Ubicar cada evento del worker en su corrida según su plantilla de mensaje y una ventana de minutos relativa a reported_at: «submitted primary profile» de −95 a −25 min; «Policy action completed» de −40 a 0; «received the final result», «Connector status check» y «Restore-access check» de +10 a +160; los mensajes de resultado de −15 a +25. Gana la corrida cuya distancia al centro de la ventana sea menor.
3. Filtrar candidatos: (a) a la solicitud todavía le falta un recurso de ese sistema; (b) el objetivo aparece en los mismos archivos de evidencia que sus otros recursos; (c) para perfiles, el resultado del worker coincide con reported_status (COMPLETE↔SUCCESS, PARTIALLY_COMPLETE↔PARTIAL, NOT_STARTED↔FAILED); (d) los objetivos «Policy action completed» no van a solicitudes cuya corrida reportó fallos.
4. Resolver: primero las asignaciones únicas, después empates de dos en orden estable.
5. El anillo: el worker procesa los perfiles de una corrida en el orden de envío de las solicitudes, empezando en una arbitraria. Se midió en 42 corridas con dueños conocidos por identificadores: 42 de 42 son rotaciones del orden de envío. Anclado en los perfiles de dueño conocido, el anillo desempata casi todo.
HONESTIDAD SOBRE LOS LÍMITES
Lo que sigue ambiguo se marca batch-guess en trace.jsonl: 39 asignaciones de perfil en la evaluación. Y dos filas de analítica sin identificadores en la misma corrida son un 50/50 real (es el error de case_03).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plan_for() en policy.py es una tabla de decisión. Recibe la acción que exige la regla y los tres estados observados (present, exposed, active) y devuelve hasta tres operaciones: hallazgo, remediación y verificación.
CÓMO LEER LA TABLA
• Si el recurso ya tiene el trato exigido, no hay hallazgo ni remediación: solo la verificación que lo prueba.
• DELETE: si sigue presente → REPORT_REMAINING_RECORD, DELETE_RECORD, VERIFY_RECORD_ABSENT.
• REDACT y ANONYMIZE: si expone PII → REPORT_EXPOSED_PII y la remediación correspondiente. Si ya no existe → VERIFY_RECORD_ABSENT.
• RETAIN: siempre VERIFY_RECORD_PRESENT. Nunca se borra lo que hay que conservar.
• Flujos y backups: si están activos o restaurables → REPORT_ACTIVE_DATA_FLOW / REPORT_RESTORE_RISK, luego DISABLE_DATA_FLOW / BLOCK_RESTORE, luego la verificación.
LA DECISIÓN DEL CASO
Si hay al menos un hallazgo, el caso es INCOMPLETE. Si no hay ninguno, es COMPLETE y solo se conservan las verificaciones que pueden citar evidencia.
OJO CON LA CATEGORÍA
La categoría sale de la observación: por ejemplo, contact_lookup_completed en analytics_platform es un SECONDARY_IDENTIFIER (regla 02, DELETE), no un ANALYTICS_PROFILE (regla 07, ANONYMIZE). Por eso en case_12 el paso es REPORT_REMAINING_RECORD y DELETE_RECORD sobre analytics_9914.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Esta es la función plan() de investigate.py más order_steps() de policy.py.
DETALLES
• La evidencia de cada hallazgo es el archivo que mostró el problema (la cita de ResourceState).
• Las verificaciones de ausencia sin prueba directa buscan una foto completa (absence_proof).
• En un caso INCOMPLETE se vacía la evidencia de todas las verificaciones porque son comprobaciones futuras, y se añaden los retenidos documentados solo después de audit_at.
• En un caso COMPLETE se descartan las verificaciones que no pueden citar evidencia, porque el contrato exige que cada verificación de un caso COMPLETE cite su prueba.
• order_steps ordena por (rango de la operación en OPERATION_ORDER, system_id, resource_id) y numera desde 1. Ese rango ya encadena fase y operación, así que la fase queda bien ordenada sin una regla aparte.
POR QUÉ ESTE ORDEN
Primero se reporta, después se cortan los caminos que recrean datos (desactivar flujos, bloquear restauraciones) y solo entonces se borran, redactan o anonimizan los registros. Al final se verifica todo. Si se borrara antes de detener un sync, el sync podría volver a escribir el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check_row() en validate.py revisa cada fila antes de escribirla. El mismo validador lo usan el evaluador y las pruebas, y las respuestas oficiales de las muestras también lo pasan (es una de las pruebas de regresión).
QUÉ COMPRUEBA
• El estado es COMPLETE, INCOMPLETE o NOT_APPLICABLE.
• NOT_APPLICABLE no tiene pasos. INCOMPLETE tiene al menos un hallazgo. COMPLETE solo tiene pasos de VERIFICATION, todos con evidencia.
• Cada paso tiene exactamente los 7 campos, step_no consecutivo desde 1, una operación conocida y la fase y el estado que corresponden a esa operación.
• Las fases nunca retroceden (FINDING, REMEDIATION, VERIFICATION).
• Un hallazgo siempre cita evidencia; en un caso INCOMPLETE los pasos futuros nunca la citan.
• Cada evidence_id que empieza por evidence_ existe en el manifiesto y no se capturó después de audit_at.
RESULTADO
En la corrida final, 0 violaciones en las 518 filas. Si hubiera alguna, main.py la imprime y termina con error, así que nunca se entrega una fila inválida en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Este caso resume todo el diseño. El workflow dice COMPLETE, la persona sospecha que quedó algo ligado a su email anterior, y tiene razón.
LO QUE HACE EL AGENTE
1. Intención: Claude lo clasifica como DELETION_VERIFICATION, que autoriza el borrado (la persona pide verificar y terminar un borrado).
2. Identidad: user_12 con su email actual y el anterior, el teléfono y los dos hashes (diapositiva de identidad).
3. Evidencia en la ventana (2026-08-24 12:00 a 2026-09-15 12:00), todo de evidence_01:
   • account_9797: profile_lookup_completed con 404 y 0 filas, unido por trace_id a la búsqueda del email actual → ausente. Correcto: el perfil sí se borró.
   • analytics_9914: contact_lookup_completed rows=1 con el hash del email antiguo → presente. Es una copia de contacto, categoría SECONDARY_IDENTIFIER, regla 02: DELETE.
   • audit_record_2945: audit_record_read_completed con correlation_key user_12 → registro de auditoría de seguridad, regla 12: RETAIN.
4. Política: un hallazgo (REPORT_REMAINING_RECORD), su remediación (DELETE_RECORD) y tres verificaciones futuras (perfil ausente, copia ausente, auditoría presente).
5. Como hay un hallazgo, el caso es INCOMPLETE y las verificaciones van sin evidencia.
RESULTADO
Coincide paso por paso con la respuesta oficial de sample_output.csv.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La pregunta más probable del juez: ¿dónde está la IA? La respuesta: en las dos tareas donde hace falta entender lenguaje o imagen. Todo lo demás es determinista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Claude hace dos cosas, y las dos son de percepción: leer intención en lenguaje natural multilingüe y leer pantallas. No decide estados, no elige evidencia y no escribe pasos.
1. INTENCIÓN (intent.py)
Una llamada por texto distinto: 398 textos de las 550 solicitudes (518 de evaluación más 32 de muestra). Devuelve authorizes_deletion, request_type, language y rationale.
2. VISIÓN (media.py)
Una llamada por captura: 11 imágenes PNG de consolas internas (cuentas, búsqueda, conectores, backups, soporte, analítica, exportaciones, seguridad, referencias de cuentas borradas, almacenamiento de objetos, marketing). Devuelve los registros visibles con sus etiquetas, emails, teléfonos, nombres, estado y estado de flujo.
CÓMO SE LLAMA
Salida JSON estructurada con esquema fijo (output_config.format = json_schema), esfuerzo bajo y thinking desactivado en Haiku. Con modelos que no permiten desactivar el thinking (Opus 5.5) se omite el campo y se dan 4.096 tokens de margen.
LOS NÚMEROS DE LA CORRIDA COMPLETA
409 llamadas (398 de intención y 11 de capturas), 311.344 tokens de entrada y 39.099 de salida, 0,0507 USD, 0 fallos. Intención: 270.299 de entrada y 35.920 de salida. Capturas: 41.045 y 3.179.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Decidir si un texto autoriza borrar parece trivial, pero hay trampas: textos en siete idiomas, negaciones explícitas y solicitudes que mencionan borrar solo para decir que no lo quieren.
EL PROMPT (SYSTEM en intent.py), resumido
Cuenta como borrado: pedir borrar, eliminar, quitar o cerrar permanentemente la cuenta o el perfil; pedir verificar, auditar o terminar un borrado ya pedido o quitar copias sobrantes. No cuenta: acceso o copia de datos, exportación o descarga, correcciones, solo baja de marketing, soporte de login, facturas, o cualquier cosa que pida conservar la cuenta. Un texto que menciona el borrado solo para decir que no lo quiere tampoco cuenta.
EL RESPALDO (keyword_intent)
Dos expresiones regulares. Primero NOT_DELETION: frases como «not asking for deletion», «don't delete», «no quiero borrar», «sin eliminar», «não excluam», «ne supprimez pas», «nicht löschen», 삭제하지, 削除しないで, 不要删除. Después DELETION: delet, eras, remov, eliminar, borrar, supprim, lösch, cancellazione, 삭제, 削除, 删除, удал, entre otras. Si Claude no responde, decide el respaldo. Si responden distinto, se anota keyword_disagreement en la traza.
EL FALLO QUE LO JUSTIFICA (mejora n.º 9)
La primera versión del respaldo leía «No quiero borrar la cuenta» como borrado. El caso propio custom_01 lo detectó; ahora las negaciones se revisan antes.
RESULTADO
Claude marca 10 de las 518 solicitudes de evaluación como no autorizadas (case_533 a case_542): correcciones de teléfono, nombre o email, baja de marketing, exportación, acceso y facturas, y ayuda de login. El respaldo coincide en todas.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Las capturas son evidencia que no se puede parsear con reglas. Claude las transcribe, pero el agente no confía ciegamente: valida lo que recibe y lo traduce a la misma Observation de siempre.
EL PROMPT DE VISIÓN (VISION_SYSTEM en media.py), resumido
Listar cada registro de la pantalla, copiando exactamente lo que se ve: etiquetas (ids de recurso, user_N, números de ticket, pedido, extracto o factura, nombres de archivo), emails, teléfonos y nombres visibles (lista vacía si están enmascarados), state (PRESENT, DELETED_OR_NOT_FOUND, MASKED_OR_ANONYMIZED, UNKNOWN) y flow (ENABLED, DISABLED, RESTORE_ALLOWED, RESTORE_BLOCKED, NOT_SHOWN). «No inventes registros ni identificadores.»
LA VALIDACIÓN (record_state)
Solo se aceptan ids de recurso, emails y teléfonos que cumplen su expresión regular. Un conector o un backup que muestra datos de la persona sin indicar que esté detenido o bloqueado se considera activo.
EL CATÁLOGO
Algunas evidencias nombran el registro por una referencia de negocio, no por su resource_id: el número de extracto NST-2026-0718-1842 en un PDF, o user_17 en el registro de referencias. El evento LINK_RESOURCE_IDENTITY une esa referencia con el resource_id, el email y el user_id; find_label busca la referencia en lo transcrito y lo convierte en observación del recurso (mejora n.º 10).
IMPACTO
Doce solicitudes de evaluación dependen de una captura o de un PDF enlazado por el catálogo. Sin las capturas, nueve saldrían vacías y case_46 perdería su paso de tombstone.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Cada respuesta de Claude se guarda en disco con una llave que identifica exactamente la pregunta. Así la segunda corrida es gratis, rápida y da el mismo resultado byte a byte, incluso en una máquina sin clave.
LA LLAVE
sha256 de: el modelo, el prompt de sistema, el contenido (las imágenes se representan por el sha256 de sus bytes), el esquema JSON y max_tokens. El archivo es code/cache/llm/&lt;2 primeros caracteres&gt;/&lt;hash&gt;.json y guarda model, purpose, usage (tokens de la llamada original) y output. Si cambia cualquier parte del prompt, la llave cambia y se vuelve a llamar.
LOS MODOS (--llm)
• auto (por defecto): llama a la API si hay clave; si no, reproduce la caché.
• cache: nunca llama a la API.
• live: exige la clave; falla si no está.
• off: sin modelo. Intención por palabras clave y solo PDFs. La salida sigue siendo válida.
REPRODUCIBILIDAD (mejora n.º 11)
Al comparar la corrida que llenó la caché con una repetición, 12 filas emparejaban distinto un empate de analítica. La causa: un bucle iteraba sobre un set de Python, cuyo orden depende de PYTHONHASHSEED. Ahora todos los bucles de desempate iteran en orden; la salida es idéntica con semillas de 0 a 5, y una prueba de regresión lo verifica.
COSTO
La corrida que llenó la caché costó 0,0507 USD; la corrida final que produjo output.csv reprodujo esas mismas respuestas y no facturó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El enunciado exige en evaluation_report.md: exactitud de estado, exactitud por paso y por campo, exactitud de secuencia, al menos tres casos propios, y fallos con mejoras. Todo eso está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evaluador (code/evaluation/main.py) compara la salida del agente con sample_output.csv. Estas son las cuatro métricas principales.
DEFINICIONES
• Exactitud de estado: proporción de casos con deletion_status correcto. 32/32 = 100 %. Matriz de confusión: COMPLETE→COMPLETE 10, INCOMPLETE→INCOMPLETE 22.
• F1 de pasos: los pasos se comparan como multiconjuntos de la tupla (phase, system_id, resource_id, operation, state, evidence_id), micro promediado. Precisión 99,5 %, recall 97,9 %, F1 98,7 %: 189 de 193 pasos encontrados y 1 sobrante.
• Exactitud de secuencia: el array steps_json idéntico al oficial, incluyendo orden y step_no. 28/32 = 87,5 %.
• Exactitud de orden relativo: en todos los casos, los pasos que comparten agente y respuesta aparecen en el mismo orden. 100 %.
SIN MODELO
Con --llm off (solo palabras clave y PDFs) las métricas de las muestras son idénticas: todas las muestras son solicitudes de borrado y ninguna depende de una captura. Por eso las capturas se validan con la tabla de casos de evaluación de la sección 5.
CÓMO REPRODUCIR
python code/evaluation/main.py --custom (o --llm off, o --model claude-opus-5-5).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exactitud por campo alinea cada paso oficial con el paso del agente del mismo (system_id, resource_id, phase) y compara campo por campo. Un paso oficial sin pareja cuenta como error en todos sus campos. Todos los campos están en 97,9 %; step_no baja a 95,3 % porque un paso que falta desplaza la numeración de los siguientes.
LOS 4 CASOS QUE NO SON EXACTOS (y por qué no se pueden arreglar con los datos visibles)
• case_03: se esperaba analytics_9406 y se predijo analytics_5589. Dos filas de analítica ya anonimizadas se trataron en la misma corrida del worker para dos solicitudes, y ninguna tiene identificadores en ningún archivo. Es un 50/50 genuino que se resuelve en un orden estable.
• case_04: falta VERIFY_RECORD_ABSENT de account_004 con evidence_54. account_004 no aparece en ningún archivo ni evento visible.
• case_18 y case_20: falta VERIFY_RECORD_PRESENT de audit_record_6645 y audit_record_5569. Esos ids no aparecen en ningún archivo visible.
CÓMO DEFENDERLO
No forcé reglas para acertar estos cuatro, porque eso sería sobreajustar a las muestras o adivinar etiquetas. Prefiero que el agente diga solo lo que la evidencia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enunciado pide al menos tres casos creados por el participante. Hay cuatro, en code/evaluation/custom_cases.json, y cada uno aísla un comportamiento. Su respuesta esperada se derivó solo de evidencia visible.
• custom_01: acceso en español que rechaza el borrado. «¿Pueden enviarme una copia de los datos personales que tienen sobre mí? No quiero borrar la cuenta.» Prueba la intención: contiene «borrar» pero es NOT_APPLICABLE.
• custom_02: baja de marketing en portugués para la persona de case_24. «Quero apenas deixar de receber e-mails promocionais. Não excluam minha conta.» Hay evidencia de esa persona, pero no debe usarse: NOT_APPLICABLE.
• custom_03: case_12 reenviado desde el email antiguo minjun.kim90@gmail.com (audit_282). Prueba la identidad histórica: debe resolver user_12 y dar exactamente la respuesta oficial de case_12 (5 pasos).
• custom_04: case_24 con audit_at movido del 15-09 al 18-09. Prueba el corte temporal en las dos direcciones: evidence_02 (capturada el 17-09) entra en la ventana y pasa a ser la cita de los dos hallazgos, y audit_record_7095 (documentado solo en evidence_02) entra en las verificaciones. 7 pasos esperados.
RESULTADO
4 de 4: estado 100 %, F1 de pasos 100 %, secuencia 100 %, todos los campos 100 %. custom_01 falló en la primera versión del respaldo por palabras clave y motivó la mejora n.º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El desarrollo fue iterativo contra las muestras públicas: cada fallo que mostraba el evaluador se convertía en una regla general (nunca en un caso especial). El gráfico muestra cómo subieron las secuencias exactas en las iteraciones donde se registró el puntaje.
LAS 13 MEJORAS, EN UNA LÍNEA CADA UNA
1. Deriva de réplicas: una foto primaria vacía más nueva ocultaba registros vivos en una réplica. Ahora una foto completa solo prueba la ausencia de lo que nada más muestra.
2. Atribución por lotes: objetivos del worker sin identificadores se perdían o iban a la corrida vecina. Ahora hay ventanas por plantilla y solo son elegibles objetivos visibles en los archivos del caso.
3. Perfiles intercambiados en una corrida (case_18, case_20): el resultado del worker debe coincidir con reported_status.
4. Objetivos de analítica en corridas con fallos (case_09): «Policy action completed» no va a solicitudes cuya corrida reportó fallos. → 31/22.
5. Faltaba el registro de auditoría retenido (casos 09, 23, 24, 29, 30): los retenidos ligados solo por evidencia posterior entran en las verificaciones futuras. → 31/26.
6. Regresión de una corrida de una sola solicitud (case_04): una solicitud sin otra evidencia es dueña de respaldo. → 31/26.
7. case_07 salía COMPLETE con un documento de identidad aún guardado, visible solo en un PDF: extracción con pypdf. → 32/27.
8. Empate a tres entre perfiles invisibles (case_23): el anillo. → 32/28.
9. «No quiero borrar la cuenta» leído como borrado (custom_01): negaciones primero, en siete idiomas.
10. Solicitudes que solo tenían captura o PDF salían vacías: catálogo + visión.
11. 12 filas dependían de PYTHONHASHSEED: bucles ordenados.
12. Conexiones SQLite abiertas detectadas por las pruebas con warnings como errores: se cierran.
13. Opus 5.5 rechaza thinking desactivado con un 400: se omite el campo en esos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Así quedó output.csv para las 518 solicitudes de evaluación.
ESTADOS
355 INCOMPLETE (68,5 %), 153 COMPLETE (29,5 %) y 10 NOT_APPLICABLE (1,9 %, case_533 a case_542).
PASOS
3.257 pasos en total, 6,3 por caso de media y 14 como máximo. Hallazgos: 368 registros que quedan (REPORT_REMAINING_RECORD), 214 con PII expuesta, 113 flujos de datos activos y 26 riesgos de restauración. Cada hallazgo tiene su remediación: 368 DELETE_RECORD, 141 REDACT_RECORD, 73 ANONYMIZE_RECORD, 113 DISABLE_DATA_FLOW y 26 BLOCK_RESTORE.
CALIDAD
0 violaciones del contrato. 39 asignaciones de perfil quedaron ambiguas tras el anillo y están marcadas batch-guess en trace.jsonl. 39 pruebas unitarias y de regresión pasan en unos 3 segundos.
SISTEMAS MÁS TOCADOS
search_service (810 pasos), account_service (605), support_platform (477), security_service (421), integration_service (372), analytics_platform (337), backup_service (111), export_service (93).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Un experimento de control: si el modelo pequeño se equivocara en la intención o en las capturas, el grande lo revelaría. Resultado: coinciden en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Toda la evaluación se corrió una segunda vez con claude-opus-5-5 en lugar de claude-haiku-5-5, con los mismos prompts y esquemas (python code/main.py --llm live --model claude-opus-5-5).
LO QUE COINCIDE
• Intención: los 398 textos con la misma decisión (388 autorizan borrar en ambos). Solo 2 etiquetas de request_type difieren, sin cambiar la decisión.
• Capturas: las 11 con las mismas observaciones (recurso, presente, expuesto, activo, identificadores).
• output.csv: 518 de 518 filas idénticas.
• Muestras: 32/32, F1 98,7 %, 28/32 exactas en ambos. Casos propios: 4/4 en ambos.
LO QUE CAMBIA
• Costo: 0,0507 USD con Haiku contra 2,0085 USD con Opus, unas 40 veces más. Precios de lista por millón de tokens: Haiku 0,10 / 0,50 USD; Opus 4,00 / 20,00 USD (entrada / salida).
• Tiempo: 582 s contra 1.193 s.
• Tokens: prácticamente iguales (311.344 / 39.099 contra 311.753 / 38.075). En Opus los tokens de thinking van incluidos en la salida.
POR QUÉ EL MODELO PEQUEÑO BASTA
Las dos tareas del modelo son de percepción con una sola respuesta clara, y el núcleo determinista decide todo lo demás. Un modelo más grande no tiene nada que razonar mejor aquí. Haiku queda como predeterminado; las respuestas de Opus también están en caché, así que --model claude-opus-5-5 reproduce la comparación gratis.
DETALLE TÉCNICO (mejora n.º 13)
Opus 5.5 no acepta thinking desactivado (devuelve 400). llm.py omite el campo thinking en esos modelos (thinking adaptativo con esfuerzo bajo) y da 4.096 tokens extra de max_tokens. El resto sigue con thinking desactivado, así que las respuestas cacheadas de Haiku siguen valiendo.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Repasa esta sección justo antes de la entrevista. El juez valora que sepas explicar por qué elegiste cada cosa y que reconozcas los límites con honestidad.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Seis decisiones que definen la solución, cada una con lo que gana y lo que cuesta.
1. Núcleo determinista en vez de un agente LLM libre. Gana: reproducible, auditable, barato, sin alucinaciones en los pasos. Cuesta: los parsers están ajustados a los formatos vistos; un formato nuevo necesita un parser nuevo.
2. Una sola estructura, Observation, para todos los formatos. Gana: el investigador y la política no dependen del formato; añadir un formato no toca el resto. Cuesta: hay que decidir en cada parser qué significa presente, expuesto y activo.
3. Afirmación ≠ prueba. Gana: es el corazón del reto; ningún SUCCESS ni COMPLETE decide un estado. Cuesta: hay que encontrar una observación para todo, incluida la ausencia.
4. Fusión conservadora en empates. Gana: ante la duda se reporta el dato (falso positivo) en vez de dejar un fantasma (falso negativo), lo correcto en privacidad. Cuesta: algún hallazgo de más (hubo 1 paso sobrante en las muestras).
5. Caché por hash de cada llamada. Gana: misma salida sin clave, costo cero al repetir, el juez puede reproducirlo. Cuesta: cambiar un prompt invalida su caché.
6. Validador antes de escribir. Gana: es imposible entregar en silencio una fila inválida o una evidencia posterior a audit_at. Cuesta: nada relevante.
SI TE PREGUNTAN «¿POR QUÉ NO RAG O UN AGENTE CON HERRAMIENTAS?»
Porque los datos son estructurados y muy regulares: las reglas explícitas puntuaron mejor y cuestan casi cero. El LLM aporta donde las reglas no llegan: lenguaje libre e imágenes.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Reconocer los límites con datos concretos da más confianza que decir que todo es perfecto.
LÍMITES
• Empates de dos filas de analítica sin identificadores en una misma corrida: no se pueden resolver con la evidencia; se emparejan en orden estable (case_03).
• 39 asignaciones de perfil en la evaluación siguen ambiguas después del anillo; son conjeturas marcadas batch-guess en la traza.
• La lectura de capturas depende de la transcripción. Se validan identificadores y resource_id, pero un estado mal leído cambiaría el hallazgo. Las 11 transcripciones están en code/cache/llm/ para inspección, y Opus 5.5 dio las mismas.
• Los parsers están hechos para los formatos de este dataset. Un formato de log nuevo no se reconocería sin un parser.
• Algunos pasos oficiales mencionan recursos que no aparecen en ningún archivo visible (case_04, case_18, case_20); el agente no los inventa.
PRÓXIMOS PASOS (si tuviera más tiempo)
• Un parser de respaldo con LLM para formatos desconocidos, cuya salida pase por la misma validación de identificadores.
• Una puntuación de confianza por recurso en la salida de la traza y una cola de revisión humana para las asignaciones batch-guess.
• Más casos propios de borde: tombstones, retenciones legales, varias réplicas en conflicto.
• Ejecución incremental: reprocesar solo los casos cuyos archivos cambiaron.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AMPLIADAS
¿Dónde está la IA y por qué tan poca? → En la intención (398 textos) y en la lectura de 11 capturas. Es lo único que requiere percepción. El resto son reglas verificables, y eso hace que cada paso tenga una evidencia concreta y que la salida sea reproducible. Opus dio la misma salida, lo que confirma que el modelo no es el cuello de botella.
¿Cómo evitas usar evidencia del futuro? → in_window exige requested_at ≤ captured_at ≤ audit_at y ts ≤ audit_at. Además el validador rechaza cualquier cita capturada después de audit_at. Lo posterior solo añade verificaciones futuras de registros retenidos, sin citarse. custom_04 lo prueba.
¿Cómo encuentras datos de un email antiguo? → user_audit_log reconstruye emails, teléfonos y hashes anteriores; además se calcula el sha256 de cada email. En case_12 la copia de contacto solo aparece con el hash del email viejo. custom_03 lo prueba enviando la solicitud desde el email antiguo.
¿Qué pasa si no hay API key o la API falla? → Modo auto o cache: se reproducen las respuestas guardadas y la salida es idéntica. Modo off: palabras clave y solo PDFs; la salida sigue siendo válida. Si una llamada falla tres veces, se cae al respaldo y se cuenta como fallo en usage.json (fueron 0).
¿Cómo sabes que funciona? → 32 muestras (100 % de estados, 98,7 % F1), 4 casos propios al 100 %, 39 pruebas que incluyen regresión byte a byte, 0 violaciones del contrato y la comparación con Opus.
¿Cuánto cuesta? → 0,0507 USD para 518 solicitudes, unos 0,0001 USD por solicitud (676 tokens de media). Repetir cuesta 0.
¿Usaste las respuestas de las muestras para predecir? → No. Se usaron para medir e iterar. No hay etiquetas fijadas ni reglas por caso; las mejoras son reglas generales y el código no lee sample_output.csv al predecir.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TRES FRASES
1. El agente reconstruye la identidad completa de la persona, actual e histórica.
2. Determina el estado real de cada copia a la hora audit_at con la última observación válida, sin creer en estados reportados.
3. Aplica las 15 reglas y produce un plan ordenado y validado, donde cada hallazgo cita su evidencia.
CIFRAS PARA RECORDAR
32/32 estados, F1 de pasos 98,7 %, 28/32 secuencias exactas, 4/4 casos propios, 0 violaciones del contrato, 0,05 USD por las 518 solicitudes, Opus idéntico a 40 veces el costo.
ENLACES
Entrega en HackerRank: https://www.hackerrank.com/contests/hackerrank-orchestrate-october26/challenges/ghost-data-still-exists
Guía de la entrevista (documento de Claude): https://claude.ai/artifact/6g5UpBjJ6V7mDb7W2Ck38x
Código: OBaruch/hackerrank-orchestrate-october26, rama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383280"/>
            <a:ext cx="7680960" cy="1097280"/>
          </a:xfrm>
          <a:prstGeom prst="rect">
            <a:avLst/>
          </a:prstGeom>
          <a:noFill/>
          <a:ln/>
        </p:spPr>
        <p:txBody>
          <a:bodyPr wrap="square" rtlCol="0"/>
          <a:lstStyle>
            <a:lvl1pPr indent="0" marL="0">
              <a:buNone/>
              <a:defRPr lang="en-US" sz="2400" dirty="0">
                <a:solidFill>
                  <a:schemeClr val="accent5"/>
                </a:solidFill>
              </a:defRPr>
            </a:lvl1pPr>
          </a:lstStyle>
          <a:p>
            <a:pPr indent="0" marL="0">
              <a:buNone/>
            </a:pPr>
            <a:endParaRPr lang="en-US" sz="2400" dirty="0"/>
          </a:p>
        </p:txBody>
      </p:sp>
      <p:sp>
        <p:nvSpPr>
          <p:cNvPr id="4" name="Text 0"/>
          <p:cNvSpPr/>
          <p:nvPr>
            <p:ph idx="102" type="body" hasCustomPrompt="1"/>
          </p:nvPr>
        </p:nvSpPr>
        <p:spPr>
          <a:xfrm>
            <a:off x="731520" y="5120640"/>
            <a:ext cx="7680960" cy="82296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rtlCol="0"/>
          <a:lstStyle>
            <a:lvl1pPr indent="0" marL="0">
              <a:buNone/>
              <a:defRPr lang="en-US" sz="6000" b="1" dirty="0">
                <a:solidFill>
                  <a:schemeClr val="accent5"/>
                </a:solidFill>
              </a:defRPr>
            </a:lvl1pPr>
          </a:lstStyle>
          <a:p>
            <a:pPr indent="0" marL="0">
              <a:buNone/>
            </a:pP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Ghost Data Still Exists  ·  Cómo funciona la solución</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4.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4.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slideLayout" Target="../slideLayouts/slideLayout4.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4.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4.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4.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38-1.png"/><Relationship Id="rId3" Type="http://schemas.openxmlformats.org/officeDocument/2006/relationships/image" Target="../media/image-38-2.png"/><Relationship Id="rId4" Type="http://schemas.openxmlformats.org/officeDocument/2006/relationships/image" Target="../media/image-38-3.png"/><Relationship Id="rId5" Type="http://schemas.openxmlformats.org/officeDocument/2006/relationships/image" Target="../media/image-38-4.png"/><Relationship Id="rId6" Type="http://schemas.openxmlformats.org/officeDocument/2006/relationships/image" Target="../media/image-38-5.png"/><Relationship Id="rId7" Type="http://schemas.openxmlformats.org/officeDocument/2006/relationships/image" Target="../media/image-38-6.png"/><Relationship Id="rId8" Type="http://schemas.openxmlformats.org/officeDocument/2006/relationships/slideLayout" Target="../slideLayouts/slideLayout4.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4.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4.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4.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371600"/>
          </a:xfrm>
          <a:prstGeom prst="rect">
            <a:avLst/>
          </a:prstGeom>
          <a:noFill/>
          <a:ln/>
        </p:spPr>
        <p:txBody>
          <a:bodyPr wrap="square" lIns="0" tIns="0" rIns="0" bIns="0" rtlCol="0" anchor="b"/>
          <a:lstStyle/>
          <a:p>
            <a:pPr algn="l" indent="0" marL="0">
              <a:buNone/>
            </a:pPr>
            <a:r>
              <a:rPr lang="en-US" sz="5400" b="1" dirty="0">
                <a:solidFill>
                  <a:schemeClr val="bg1"/>
                </a:solidFill>
              </a:rPr>
              <a:t>Ghost Data Still Exists</a:t>
            </a:r>
            <a:endParaRPr lang="en-US" sz="5400" dirty="0"/>
          </a:p>
        </p:txBody>
      </p:sp>
      <p:sp>
        <p:nvSpPr>
          <p:cNvPr id="3" name="Text 0"/>
          <p:cNvSpPr/>
          <p:nvPr>
            <p:ph idx="101" type="body" hasCustomPrompt="1"/>
          </p:nvPr>
        </p:nvSpPr>
        <p:spPr>
          <a:xfrm>
            <a:off x="731520" y="3383280"/>
            <a:ext cx="7680960" cy="1097280"/>
          </a:xfrm>
          <a:prstGeom prst="rect">
            <a:avLst/>
          </a:prstGeom>
          <a:noFill/>
          <a:ln/>
        </p:spPr>
        <p:txBody>
          <a:bodyPr wrap="square" lIns="0" tIns="0" rIns="0" bIns="0" rtlCol="0" anchor="t"/>
          <a:lstStyle/>
          <a:p>
            <a:pPr indent="0" marL="0">
              <a:buNone/>
            </a:pPr>
            <a:r>
              <a:rPr lang="en-US" sz="2400" dirty="0">
                <a:solidFill>
                  <a:schemeClr val="accent5"/>
                </a:solidFill>
              </a:rPr>
              <a:t>Cómo funciona el agente de auditoría de borrado, de punta a punta</a:t>
            </a:r>
            <a:endParaRPr lang="en-US" sz="2400" dirty="0"/>
          </a:p>
        </p:txBody>
      </p:sp>
      <p:sp>
        <p:nvSpPr>
          <p:cNvPr id="4" name="Text 0"/>
          <p:cNvSpPr/>
          <p:nvPr>
            <p:ph idx="102" type="body" hasCustomPrompt="1"/>
          </p:nvPr>
        </p:nvSpPr>
        <p:spPr>
          <a:xfrm>
            <a:off x="731520" y="5120640"/>
            <a:ext cx="7680960" cy="822960"/>
          </a:xfrm>
          <a:prstGeom prst="rect">
            <a:avLst/>
          </a:prstGeom>
          <a:noFill/>
          <a:ln/>
        </p:spPr>
        <p:txBody>
          <a:bodyPr wrap="square" lIns="0" tIns="0" rIns="0" bIns="0" rtlCol="0" anchor="t"/>
          <a:lstStyle/>
          <a:p>
            <a:pPr indent="0" marL="0">
              <a:buNone/>
            </a:pPr>
            <a:r>
              <a:rPr lang="en-US" sz="1400" dirty="0">
                <a:solidFill>
                  <a:schemeClr val="bg2"/>
                </a:solidFill>
              </a:rPr>
              <a:t>HackerRank Orchestrate · Octubre 2026</a:t>
            </a:r>
            <a:endParaRPr lang="en-US" sz="1400" dirty="0"/>
          </a:p>
          <a:p>
            <a:pPr indent="0" marL="0">
              <a:buNone/>
            </a:pPr>
            <a:r>
              <a:rPr lang="en-US" sz="1400" dirty="0">
                <a:solidFill>
                  <a:schemeClr val="bg2"/>
                </a:solidFill>
              </a:rPr>
              <a:t>Guía de estudio para la entrevista con el AI Judge</a:t>
            </a:r>
            <a:endParaRPr lang="en-US" sz="1400" dirty="0"/>
          </a:p>
        </p:txBody>
      </p:sp>
      <p:sp>
        <p:nvSpPr>
          <p:cNvPr id="5" name="Shape 3"/>
          <p:cNvSpPr/>
          <p:nvPr/>
        </p:nvSpPr>
        <p:spPr>
          <a:xfrm>
            <a:off x="8732520" y="1600200"/>
            <a:ext cx="2926080" cy="292608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372600" y="224028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solución en una frase</a:t>
            </a:r>
            <a:endParaRPr lang="en-US" sz="3200" dirty="0"/>
          </a:p>
        </p:txBody>
      </p:sp>
      <p:sp>
        <p:nvSpPr>
          <p:cNvPr id="4" name="Shape 1"/>
          <p:cNvSpPr/>
          <p:nvPr/>
        </p:nvSpPr>
        <p:spPr>
          <a:xfrm>
            <a:off x="548640" y="1417320"/>
            <a:ext cx="777240" cy="77724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719633" y="1588313"/>
            <a:ext cx="435254" cy="435254"/>
          </a:xfrm>
          <a:prstGeom prst="rect">
            <a:avLst/>
          </a:prstGeom>
        </p:spPr>
      </p:pic>
      <p:sp>
        <p:nvSpPr>
          <p:cNvPr id="6" name="Text 2"/>
          <p:cNvSpPr txBox="1"/>
          <p:nvPr/>
        </p:nvSpPr>
        <p:spPr>
          <a:xfrm>
            <a:off x="1554480" y="1325880"/>
            <a:ext cx="10058400" cy="1097280"/>
          </a:xfrm>
          <a:prstGeom prst="rect">
            <a:avLst/>
          </a:prstGeom>
          <a:noFill/>
          <a:ln/>
        </p:spPr>
        <p:txBody>
          <a:bodyPr wrap="square" lIns="0" tIns="0" rIns="0" bIns="0" rtlCol="0" anchor="ctr"/>
          <a:lstStyle/>
          <a:p>
            <a:pPr indent="0" marL="0">
              <a:buNone/>
            </a:pPr>
            <a:r>
              <a:rPr lang="en-US" sz="2200" i="1" dirty="0">
                <a:solidFill>
                  <a:schemeClr val="tx2"/>
                </a:solidFill>
              </a:rPr>
              <a:t>Un núcleo determinista reconstruye el estado real de cada copia del dato a la hora </a:t>
            </a:r>
            <a:pPr indent="0" marL="0">
              <a:buNone/>
            </a:pPr>
            <a:r>
              <a:rPr lang="en-US" sz="2200" b="1" i="1" dirty="0">
                <a:solidFill>
                  <a:schemeClr val="tx2"/>
                </a:solidFill>
                <a:latin typeface="Courier New" pitchFamily="34" charset="0"/>
                <a:ea typeface="Courier New" pitchFamily="34" charset="-122"/>
                <a:cs typeface="Courier New" pitchFamily="34" charset="-120"/>
              </a:rPr>
              <a:t>audit_at</a:t>
            </a:r>
            <a:pPr indent="0" marL="0">
              <a:buNone/>
            </a:pPr>
            <a:r>
              <a:rPr lang="en-US" sz="2200" i="1" dirty="0">
                <a:solidFill>
                  <a:schemeClr val="tx2"/>
                </a:solidFill>
              </a:rPr>
              <a:t>. Claude solo interviene donde hace falta percibir: leer la intención del texto y transcribir capturas de pantalla.</a:t>
            </a:r>
            <a:endParaRPr lang="en-US" sz="2200" dirty="0"/>
          </a:p>
        </p:txBody>
      </p:sp>
      <p:sp>
        <p:nvSpPr>
          <p:cNvPr id="7" name="Shape 3"/>
          <p:cNvSpPr/>
          <p:nvPr/>
        </p:nvSpPr>
        <p:spPr>
          <a:xfrm>
            <a:off x="548640" y="2743200"/>
            <a:ext cx="2602154" cy="2194560"/>
          </a:xfrm>
          <a:prstGeom prst="roundRect">
            <a:avLst>
              <a:gd name="adj" fmla="val 4167"/>
            </a:avLst>
          </a:prstGeom>
          <a:solidFill>
            <a:schemeClr val="bg2"/>
          </a:solidFill>
          <a:ln w="9525">
            <a:solidFill>
              <a:schemeClr val="bg2"/>
            </a:solidFill>
            <a:prstDash val="solid"/>
          </a:ln>
        </p:spPr>
      </p:sp>
      <p:sp>
        <p:nvSpPr>
          <p:cNvPr id="8" name="Text 4"/>
          <p:cNvSpPr txBox="1"/>
          <p:nvPr/>
        </p:nvSpPr>
        <p:spPr>
          <a:xfrm>
            <a:off x="777240" y="3017520"/>
            <a:ext cx="2144954"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32 / 32</a:t>
            </a:r>
            <a:endParaRPr lang="en-US" sz="4000" dirty="0"/>
          </a:p>
        </p:txBody>
      </p:sp>
      <p:sp>
        <p:nvSpPr>
          <p:cNvPr id="9" name="Text 5"/>
          <p:cNvSpPr txBox="1"/>
          <p:nvPr/>
        </p:nvSpPr>
        <p:spPr>
          <a:xfrm>
            <a:off x="777240" y="4023360"/>
            <a:ext cx="2144954" cy="777240"/>
          </a:xfrm>
          <a:prstGeom prst="rect">
            <a:avLst/>
          </a:prstGeom>
          <a:noFill/>
          <a:ln/>
        </p:spPr>
        <p:txBody>
          <a:bodyPr wrap="square" lIns="0" tIns="0" rIns="0" bIns="0" rtlCol="0" anchor="t"/>
          <a:lstStyle/>
          <a:p>
            <a:pPr indent="0" marL="0">
              <a:buNone/>
            </a:pPr>
            <a:r>
              <a:rPr lang="en-US" sz="1600" dirty="0">
                <a:solidFill>
                  <a:schemeClr val="tx2"/>
                </a:solidFill>
              </a:rPr>
              <a:t>estados correctos en las 32 muestras públicas</a:t>
            </a:r>
            <a:endParaRPr lang="en-US" sz="1600" dirty="0"/>
          </a:p>
        </p:txBody>
      </p:sp>
      <p:sp>
        <p:nvSpPr>
          <p:cNvPr id="10" name="Shape 6"/>
          <p:cNvSpPr/>
          <p:nvPr/>
        </p:nvSpPr>
        <p:spPr>
          <a:xfrm>
            <a:off x="3379394" y="2743200"/>
            <a:ext cx="2602154" cy="2194560"/>
          </a:xfrm>
          <a:prstGeom prst="roundRect">
            <a:avLst>
              <a:gd name="adj" fmla="val 4167"/>
            </a:avLst>
          </a:prstGeom>
          <a:solidFill>
            <a:schemeClr val="bg2"/>
          </a:solidFill>
          <a:ln w="9525">
            <a:solidFill>
              <a:schemeClr val="bg2"/>
            </a:solidFill>
            <a:prstDash val="solid"/>
          </a:ln>
        </p:spPr>
      </p:sp>
      <p:sp>
        <p:nvSpPr>
          <p:cNvPr id="11" name="Text 7"/>
          <p:cNvSpPr txBox="1"/>
          <p:nvPr/>
        </p:nvSpPr>
        <p:spPr>
          <a:xfrm>
            <a:off x="3607994" y="3017520"/>
            <a:ext cx="2144954"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98,7 %</a:t>
            </a:r>
            <a:endParaRPr lang="en-US" sz="4000" dirty="0"/>
          </a:p>
        </p:txBody>
      </p:sp>
      <p:sp>
        <p:nvSpPr>
          <p:cNvPr id="12" name="Text 8"/>
          <p:cNvSpPr txBox="1"/>
          <p:nvPr/>
        </p:nvSpPr>
        <p:spPr>
          <a:xfrm>
            <a:off x="3607994" y="4023360"/>
            <a:ext cx="2144954" cy="777240"/>
          </a:xfrm>
          <a:prstGeom prst="rect">
            <a:avLst/>
          </a:prstGeom>
          <a:noFill/>
          <a:ln/>
        </p:spPr>
        <p:txBody>
          <a:bodyPr wrap="square" lIns="0" tIns="0" rIns="0" bIns="0" rtlCol="0" anchor="t"/>
          <a:lstStyle/>
          <a:p>
            <a:pPr indent="0" marL="0">
              <a:buNone/>
            </a:pPr>
            <a:r>
              <a:rPr lang="en-US" sz="1600" dirty="0">
                <a:solidFill>
                  <a:schemeClr val="tx2"/>
                </a:solidFill>
              </a:rPr>
              <a:t>F1 de pasos: 189 de 193 pasos esperados encontrados</a:t>
            </a:r>
            <a:endParaRPr lang="en-US" sz="1600" dirty="0"/>
          </a:p>
        </p:txBody>
      </p:sp>
      <p:sp>
        <p:nvSpPr>
          <p:cNvPr id="13" name="Shape 9"/>
          <p:cNvSpPr/>
          <p:nvPr/>
        </p:nvSpPr>
        <p:spPr>
          <a:xfrm>
            <a:off x="6210148" y="2743200"/>
            <a:ext cx="2602154" cy="2194560"/>
          </a:xfrm>
          <a:prstGeom prst="roundRect">
            <a:avLst>
              <a:gd name="adj" fmla="val 4167"/>
            </a:avLst>
          </a:prstGeom>
          <a:solidFill>
            <a:schemeClr val="bg2"/>
          </a:solidFill>
          <a:ln w="9525">
            <a:solidFill>
              <a:schemeClr val="bg2"/>
            </a:solidFill>
            <a:prstDash val="solid"/>
          </a:ln>
        </p:spPr>
      </p:sp>
      <p:sp>
        <p:nvSpPr>
          <p:cNvPr id="14" name="Text 10"/>
          <p:cNvSpPr txBox="1"/>
          <p:nvPr/>
        </p:nvSpPr>
        <p:spPr>
          <a:xfrm>
            <a:off x="6438748" y="3017520"/>
            <a:ext cx="2144954" cy="9144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$0,05</a:t>
            </a:r>
            <a:endParaRPr lang="en-US" sz="4000" dirty="0"/>
          </a:p>
        </p:txBody>
      </p:sp>
      <p:sp>
        <p:nvSpPr>
          <p:cNvPr id="15" name="Text 11"/>
          <p:cNvSpPr txBox="1"/>
          <p:nvPr/>
        </p:nvSpPr>
        <p:spPr>
          <a:xfrm>
            <a:off x="6438748" y="4023360"/>
            <a:ext cx="2144954" cy="777240"/>
          </a:xfrm>
          <a:prstGeom prst="rect">
            <a:avLst/>
          </a:prstGeom>
          <a:noFill/>
          <a:ln/>
        </p:spPr>
        <p:txBody>
          <a:bodyPr wrap="square" lIns="0" tIns="0" rIns="0" bIns="0" rtlCol="0" anchor="t"/>
          <a:lstStyle/>
          <a:p>
            <a:pPr indent="0" marL="0">
              <a:buNone/>
            </a:pPr>
            <a:r>
              <a:rPr lang="en-US" sz="1600" dirty="0">
                <a:solidFill>
                  <a:schemeClr val="tx2"/>
                </a:solidFill>
              </a:rPr>
              <a:t>costo de Claude para las 518 solicitudes (Haiku 5.5)</a:t>
            </a:r>
            <a:endParaRPr lang="en-US" sz="1600" dirty="0"/>
          </a:p>
        </p:txBody>
      </p:sp>
      <p:sp>
        <p:nvSpPr>
          <p:cNvPr id="16" name="Shape 12"/>
          <p:cNvSpPr/>
          <p:nvPr/>
        </p:nvSpPr>
        <p:spPr>
          <a:xfrm>
            <a:off x="9040901" y="2743200"/>
            <a:ext cx="2602154" cy="2194560"/>
          </a:xfrm>
          <a:prstGeom prst="roundRect">
            <a:avLst>
              <a:gd name="adj" fmla="val 4167"/>
            </a:avLst>
          </a:prstGeom>
          <a:solidFill>
            <a:schemeClr val="bg2"/>
          </a:solidFill>
          <a:ln w="9525">
            <a:solidFill>
              <a:schemeClr val="bg2"/>
            </a:solidFill>
            <a:prstDash val="solid"/>
          </a:ln>
        </p:spPr>
      </p:sp>
      <p:sp>
        <p:nvSpPr>
          <p:cNvPr id="17" name="Text 13"/>
          <p:cNvSpPr txBox="1"/>
          <p:nvPr/>
        </p:nvSpPr>
        <p:spPr>
          <a:xfrm>
            <a:off x="9269501" y="3017520"/>
            <a:ext cx="2144954"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518 / 518</a:t>
            </a:r>
            <a:endParaRPr lang="en-US" sz="4000" dirty="0"/>
          </a:p>
        </p:txBody>
      </p:sp>
      <p:sp>
        <p:nvSpPr>
          <p:cNvPr id="18" name="Text 14"/>
          <p:cNvSpPr txBox="1"/>
          <p:nvPr/>
        </p:nvSpPr>
        <p:spPr>
          <a:xfrm>
            <a:off x="9269501" y="4023360"/>
            <a:ext cx="2144954" cy="777240"/>
          </a:xfrm>
          <a:prstGeom prst="rect">
            <a:avLst/>
          </a:prstGeom>
          <a:noFill/>
          <a:ln/>
        </p:spPr>
        <p:txBody>
          <a:bodyPr wrap="square" lIns="0" tIns="0" rIns="0" bIns="0" rtlCol="0" anchor="t"/>
          <a:lstStyle/>
          <a:p>
            <a:pPr indent="0" marL="0">
              <a:buNone/>
            </a:pPr>
            <a:r>
              <a:rPr lang="en-US" sz="1600" dirty="0">
                <a:solidFill>
                  <a:schemeClr val="tx2"/>
                </a:solidFill>
              </a:rPr>
              <a:t>filas idénticas al repetir todo con Opus 5.5</a:t>
            </a:r>
            <a:endParaRPr lang="en-US" sz="1600" dirty="0"/>
          </a:p>
        </p:txBody>
      </p:sp>
      <p:sp>
        <p:nvSpPr>
          <p:cNvPr id="19" name="Shape 15"/>
          <p:cNvSpPr/>
          <p:nvPr/>
        </p:nvSpPr>
        <p:spPr>
          <a:xfrm>
            <a:off x="548640" y="5349240"/>
            <a:ext cx="594360" cy="594360"/>
          </a:xfrm>
          <a:prstGeom prst="ellipse">
            <a:avLst/>
          </a:prstGeom>
          <a:solidFill>
            <a:schemeClr val="accent1"/>
          </a:solidFill>
          <a:ln w="12700">
            <a:solidFill>
              <a:schemeClr val="accent1"/>
            </a:solidFill>
            <a:prstDash val="solid"/>
          </a:ln>
        </p:spPr>
      </p:sp>
      <p:pic>
        <p:nvPicPr>
          <p:cNvPr id="20" name="Image 1" descr="preencoded.png">    </p:cNvPr>
          <p:cNvPicPr>
            <a:picLocks noChangeAspect="1"/>
          </p:cNvPicPr>
          <p:nvPr/>
        </p:nvPicPr>
        <p:blipFill>
          <a:blip r:embed="rId2"/>
          <a:stretch>
            <a:fillRect/>
          </a:stretch>
        </p:blipFill>
        <p:spPr>
          <a:xfrm>
            <a:off x="679399" y="5479999"/>
            <a:ext cx="332842" cy="332842"/>
          </a:xfrm>
          <a:prstGeom prst="rect">
            <a:avLst/>
          </a:prstGeom>
        </p:spPr>
      </p:pic>
      <p:sp>
        <p:nvSpPr>
          <p:cNvPr id="21" name="Text 16"/>
          <p:cNvSpPr txBox="1"/>
          <p:nvPr/>
        </p:nvSpPr>
        <p:spPr>
          <a:xfrm>
            <a:off x="1325880" y="5349240"/>
            <a:ext cx="10332720" cy="594360"/>
          </a:xfrm>
          <a:prstGeom prst="rect">
            <a:avLst/>
          </a:prstGeom>
          <a:noFill/>
          <a:ln/>
        </p:spPr>
        <p:txBody>
          <a:bodyPr wrap="square" lIns="0" tIns="0" rIns="0" bIns="0" rtlCol="0" anchor="ctr"/>
          <a:lstStyle/>
          <a:p>
            <a:pPr indent="0" marL="0">
              <a:buNone/>
            </a:pPr>
            <a:r>
              <a:rPr lang="en-US" sz="1700" dirty="0">
                <a:solidFill>
                  <a:schemeClr val="tx2"/>
                </a:solidFill>
              </a:rPr>
              <a:t>Todo el plan de pasos sale de reglas explícitas y verificables. El modelo nunca escribe un paso ni elige una evidencia.</a:t>
            </a:r>
            <a:endParaRPr lang="en-US" sz="17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Recorrido</a:t>
            </a:r>
            <a:endParaRPr lang="en-US" sz="3200" dirty="0"/>
          </a:p>
        </p:txBody>
      </p:sp>
      <p:sp>
        <p:nvSpPr>
          <p:cNvPr id="4" name="Text 1"/>
          <p:cNvSpPr/>
          <p:nvPr/>
        </p:nvSpPr>
        <p:spPr>
          <a:xfrm>
            <a:off x="548640" y="141732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01</a:t>
            </a:r>
            <a:endParaRPr lang="en-US" sz="1800" dirty="0"/>
          </a:p>
        </p:txBody>
      </p:sp>
      <p:sp>
        <p:nvSpPr>
          <p:cNvPr id="5" name="Text 2"/>
          <p:cNvSpPr txBox="1"/>
          <p:nvPr/>
        </p:nvSpPr>
        <p:spPr>
          <a:xfrm>
            <a:off x="1463040" y="1399032"/>
            <a:ext cx="4480560" cy="411480"/>
          </a:xfrm>
          <a:prstGeom prst="rect">
            <a:avLst/>
          </a:prstGeom>
          <a:noFill/>
          <a:ln/>
        </p:spPr>
        <p:txBody>
          <a:bodyPr wrap="square" lIns="0" tIns="0" rIns="0" bIns="0" rtlCol="0" anchor="t"/>
          <a:lstStyle/>
          <a:p>
            <a:pPr indent="0" marL="0">
              <a:buNone/>
            </a:pPr>
            <a:r>
              <a:rPr lang="en-US" sz="1900" b="1" dirty="0">
                <a:solidFill>
                  <a:schemeClr val="tx1"/>
                </a:solidFill>
              </a:rPr>
              <a:t>El problema y el contrato</a:t>
            </a:r>
            <a:endParaRPr lang="en-US" sz="1900" dirty="0"/>
          </a:p>
        </p:txBody>
      </p:sp>
      <p:sp>
        <p:nvSpPr>
          <p:cNvPr id="6" name="Text 3"/>
          <p:cNvSpPr txBox="1"/>
          <p:nvPr/>
        </p:nvSpPr>
        <p:spPr>
          <a:xfrm>
            <a:off x="1463040" y="180136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Qué pide el reto y qué debe devolver el agente</a:t>
            </a:r>
            <a:endParaRPr lang="en-US" sz="1400" dirty="0"/>
          </a:p>
        </p:txBody>
      </p:sp>
      <p:sp>
        <p:nvSpPr>
          <p:cNvPr id="7" name="Text 4"/>
          <p:cNvSpPr/>
          <p:nvPr/>
        </p:nvSpPr>
        <p:spPr>
          <a:xfrm>
            <a:off x="548640" y="260604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02</a:t>
            </a:r>
            <a:endParaRPr lang="en-US" sz="1800" dirty="0"/>
          </a:p>
        </p:txBody>
      </p:sp>
      <p:sp>
        <p:nvSpPr>
          <p:cNvPr id="8" name="Text 5"/>
          <p:cNvSpPr txBox="1"/>
          <p:nvPr/>
        </p:nvSpPr>
        <p:spPr>
          <a:xfrm>
            <a:off x="1463040" y="2587752"/>
            <a:ext cx="4480560" cy="411480"/>
          </a:xfrm>
          <a:prstGeom prst="rect">
            <a:avLst/>
          </a:prstGeom>
          <a:noFill/>
          <a:ln/>
        </p:spPr>
        <p:txBody>
          <a:bodyPr wrap="square" lIns="0" tIns="0" rIns="0" bIns="0" rtlCol="0" anchor="t"/>
          <a:lstStyle/>
          <a:p>
            <a:pPr indent="0" marL="0">
              <a:buNone/>
            </a:pPr>
            <a:r>
              <a:rPr lang="en-US" sz="1900" b="1" dirty="0">
                <a:solidFill>
                  <a:schemeClr val="tx1"/>
                </a:solidFill>
              </a:rPr>
              <a:t>Los datos de entrada</a:t>
            </a:r>
            <a:endParaRPr lang="en-US" sz="1900" dirty="0"/>
          </a:p>
        </p:txBody>
      </p:sp>
      <p:sp>
        <p:nvSpPr>
          <p:cNvPr id="9" name="Text 6"/>
          <p:cNvSpPr txBox="1"/>
          <p:nvPr/>
        </p:nvSpPr>
        <p:spPr>
          <a:xfrm>
            <a:off x="1463040" y="299008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Archivos, evidencias, reglas y actividad global</a:t>
            </a:r>
            <a:endParaRPr lang="en-US" sz="1400" dirty="0"/>
          </a:p>
        </p:txBody>
      </p:sp>
      <p:sp>
        <p:nvSpPr>
          <p:cNvPr id="10" name="Text 7"/>
          <p:cNvSpPr/>
          <p:nvPr/>
        </p:nvSpPr>
        <p:spPr>
          <a:xfrm>
            <a:off x="548640" y="379476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03</a:t>
            </a:r>
            <a:endParaRPr lang="en-US" sz="1800" dirty="0"/>
          </a:p>
        </p:txBody>
      </p:sp>
      <p:sp>
        <p:nvSpPr>
          <p:cNvPr id="11" name="Text 8"/>
          <p:cNvSpPr txBox="1"/>
          <p:nvPr/>
        </p:nvSpPr>
        <p:spPr>
          <a:xfrm>
            <a:off x="1463040" y="3776472"/>
            <a:ext cx="4480560" cy="411480"/>
          </a:xfrm>
          <a:prstGeom prst="rect">
            <a:avLst/>
          </a:prstGeom>
          <a:noFill/>
          <a:ln/>
        </p:spPr>
        <p:txBody>
          <a:bodyPr wrap="square" lIns="0" tIns="0" rIns="0" bIns="0" rtlCol="0" anchor="t"/>
          <a:lstStyle/>
          <a:p>
            <a:pPr indent="0" marL="0">
              <a:buNone/>
            </a:pPr>
            <a:r>
              <a:rPr lang="en-US" sz="1900" b="1" dirty="0">
                <a:solidFill>
                  <a:schemeClr val="tx1"/>
                </a:solidFill>
              </a:rPr>
              <a:t>Arquitectura y flujo de datos</a:t>
            </a:r>
            <a:endParaRPr lang="en-US" sz="1900" dirty="0"/>
          </a:p>
        </p:txBody>
      </p:sp>
      <p:sp>
        <p:nvSpPr>
          <p:cNvPr id="12" name="Text 9"/>
          <p:cNvSpPr txBox="1"/>
          <p:nvPr/>
        </p:nvSpPr>
        <p:spPr>
          <a:xfrm>
            <a:off x="1463040" y="417880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Etapas, objetos que viajan y la ventana temporal</a:t>
            </a:r>
            <a:endParaRPr lang="en-US" sz="1400" dirty="0"/>
          </a:p>
        </p:txBody>
      </p:sp>
      <p:sp>
        <p:nvSpPr>
          <p:cNvPr id="13" name="Text 10"/>
          <p:cNvSpPr/>
          <p:nvPr/>
        </p:nvSpPr>
        <p:spPr>
          <a:xfrm>
            <a:off x="548640" y="498348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04</a:t>
            </a:r>
            <a:endParaRPr lang="en-US" sz="1800" dirty="0"/>
          </a:p>
        </p:txBody>
      </p:sp>
      <p:sp>
        <p:nvSpPr>
          <p:cNvPr id="14" name="Text 11"/>
          <p:cNvSpPr txBox="1"/>
          <p:nvPr/>
        </p:nvSpPr>
        <p:spPr>
          <a:xfrm>
            <a:off x="1463040" y="4965192"/>
            <a:ext cx="4480560" cy="411480"/>
          </a:xfrm>
          <a:prstGeom prst="rect">
            <a:avLst/>
          </a:prstGeom>
          <a:noFill/>
          <a:ln/>
        </p:spPr>
        <p:txBody>
          <a:bodyPr wrap="square" lIns="0" tIns="0" rIns="0" bIns="0" rtlCol="0" anchor="t"/>
          <a:lstStyle/>
          <a:p>
            <a:pPr indent="0" marL="0">
              <a:buNone/>
            </a:pPr>
            <a:r>
              <a:rPr lang="en-US" sz="1900" b="1" dirty="0">
                <a:solidFill>
                  <a:schemeClr val="tx1"/>
                </a:solidFill>
              </a:rPr>
              <a:t>El código módulo por módulo</a:t>
            </a:r>
            <a:endParaRPr lang="en-US" sz="1900" dirty="0"/>
          </a:p>
        </p:txBody>
      </p:sp>
      <p:sp>
        <p:nvSpPr>
          <p:cNvPr id="15" name="Text 12"/>
          <p:cNvSpPr txBox="1"/>
          <p:nvPr/>
        </p:nvSpPr>
        <p:spPr>
          <a:xfrm>
            <a:off x="1463040" y="536752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Pseudocódigo de cada pieza y un caso completo</a:t>
            </a:r>
            <a:endParaRPr lang="en-US" sz="1400" dirty="0"/>
          </a:p>
        </p:txBody>
      </p:sp>
      <p:sp>
        <p:nvSpPr>
          <p:cNvPr id="16" name="Text 13"/>
          <p:cNvSpPr/>
          <p:nvPr/>
        </p:nvSpPr>
        <p:spPr>
          <a:xfrm>
            <a:off x="6263640" y="1417320"/>
            <a:ext cx="685800" cy="68580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800" b="1" dirty="0">
                <a:solidFill>
                  <a:schemeClr val="tx1"/>
                </a:solidFill>
              </a:rPr>
              <a:t>05</a:t>
            </a:r>
            <a:endParaRPr lang="en-US" sz="1800" dirty="0"/>
          </a:p>
        </p:txBody>
      </p:sp>
      <p:sp>
        <p:nvSpPr>
          <p:cNvPr id="17" name="Text 14"/>
          <p:cNvSpPr txBox="1"/>
          <p:nvPr/>
        </p:nvSpPr>
        <p:spPr>
          <a:xfrm>
            <a:off x="7178040" y="1399032"/>
            <a:ext cx="4480560" cy="411480"/>
          </a:xfrm>
          <a:prstGeom prst="rect">
            <a:avLst/>
          </a:prstGeom>
          <a:noFill/>
          <a:ln/>
        </p:spPr>
        <p:txBody>
          <a:bodyPr wrap="square" lIns="0" tIns="0" rIns="0" bIns="0" rtlCol="0" anchor="t"/>
          <a:lstStyle/>
          <a:p>
            <a:pPr indent="0" marL="0">
              <a:buNone/>
            </a:pPr>
            <a:r>
              <a:rPr lang="en-US" sz="1900" b="1" dirty="0">
                <a:solidFill>
                  <a:schemeClr val="tx1"/>
                </a:solidFill>
              </a:rPr>
              <a:t>Dónde y cómo se usa Claude</a:t>
            </a:r>
            <a:endParaRPr lang="en-US" sz="1900" dirty="0"/>
          </a:p>
        </p:txBody>
      </p:sp>
      <p:sp>
        <p:nvSpPr>
          <p:cNvPr id="18" name="Text 15"/>
          <p:cNvSpPr txBox="1"/>
          <p:nvPr/>
        </p:nvSpPr>
        <p:spPr>
          <a:xfrm>
            <a:off x="7178040" y="180136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Intención, visión, caché y respaldo sin modelo</a:t>
            </a:r>
            <a:endParaRPr lang="en-US" sz="1400" dirty="0"/>
          </a:p>
        </p:txBody>
      </p:sp>
      <p:sp>
        <p:nvSpPr>
          <p:cNvPr id="19" name="Text 16"/>
          <p:cNvSpPr/>
          <p:nvPr/>
        </p:nvSpPr>
        <p:spPr>
          <a:xfrm>
            <a:off x="6263640" y="260604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06</a:t>
            </a:r>
            <a:endParaRPr lang="en-US" sz="1800" dirty="0"/>
          </a:p>
        </p:txBody>
      </p:sp>
      <p:sp>
        <p:nvSpPr>
          <p:cNvPr id="20" name="Text 17"/>
          <p:cNvSpPr txBox="1"/>
          <p:nvPr/>
        </p:nvSpPr>
        <p:spPr>
          <a:xfrm>
            <a:off x="7178040" y="2587752"/>
            <a:ext cx="4480560" cy="411480"/>
          </a:xfrm>
          <a:prstGeom prst="rect">
            <a:avLst/>
          </a:prstGeom>
          <a:noFill/>
          <a:ln/>
        </p:spPr>
        <p:txBody>
          <a:bodyPr wrap="square" lIns="0" tIns="0" rIns="0" bIns="0" rtlCol="0" anchor="t"/>
          <a:lstStyle/>
          <a:p>
            <a:pPr indent="0" marL="0">
              <a:buNone/>
            </a:pPr>
            <a:r>
              <a:rPr lang="en-US" sz="1900" b="1" dirty="0">
                <a:solidFill>
                  <a:schemeClr val="tx1"/>
                </a:solidFill>
              </a:rPr>
              <a:t>Evaluación y resultados</a:t>
            </a:r>
            <a:endParaRPr lang="en-US" sz="1900" dirty="0"/>
          </a:p>
        </p:txBody>
      </p:sp>
      <p:sp>
        <p:nvSpPr>
          <p:cNvPr id="21" name="Text 18"/>
          <p:cNvSpPr txBox="1"/>
          <p:nvPr/>
        </p:nvSpPr>
        <p:spPr>
          <a:xfrm>
            <a:off x="7178040" y="299008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Métricas, casos propios y fallos corregidos</a:t>
            </a:r>
            <a:endParaRPr lang="en-US" sz="1400" dirty="0"/>
          </a:p>
        </p:txBody>
      </p:sp>
      <p:sp>
        <p:nvSpPr>
          <p:cNvPr id="22" name="Text 19"/>
          <p:cNvSpPr/>
          <p:nvPr/>
        </p:nvSpPr>
        <p:spPr>
          <a:xfrm>
            <a:off x="6263640" y="379476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07</a:t>
            </a:r>
            <a:endParaRPr lang="en-US" sz="1800" dirty="0"/>
          </a:p>
        </p:txBody>
      </p:sp>
      <p:sp>
        <p:nvSpPr>
          <p:cNvPr id="23" name="Text 20"/>
          <p:cNvSpPr txBox="1"/>
          <p:nvPr/>
        </p:nvSpPr>
        <p:spPr>
          <a:xfrm>
            <a:off x="7178040" y="3776472"/>
            <a:ext cx="4480560" cy="411480"/>
          </a:xfrm>
          <a:prstGeom prst="rect">
            <a:avLst/>
          </a:prstGeom>
          <a:noFill/>
          <a:ln/>
        </p:spPr>
        <p:txBody>
          <a:bodyPr wrap="square" lIns="0" tIns="0" rIns="0" bIns="0" rtlCol="0" anchor="t"/>
          <a:lstStyle/>
          <a:p>
            <a:pPr indent="0" marL="0">
              <a:buNone/>
            </a:pPr>
            <a:r>
              <a:rPr lang="en-US" sz="1900" b="1" dirty="0">
                <a:solidFill>
                  <a:schemeClr val="tx1"/>
                </a:solidFill>
              </a:rPr>
              <a:t>Haiku 5.5 vs Opus 5.5</a:t>
            </a:r>
            <a:endParaRPr lang="en-US" sz="1900" dirty="0"/>
          </a:p>
        </p:txBody>
      </p:sp>
      <p:sp>
        <p:nvSpPr>
          <p:cNvPr id="24" name="Text 21"/>
          <p:cNvSpPr txBox="1"/>
          <p:nvPr/>
        </p:nvSpPr>
        <p:spPr>
          <a:xfrm>
            <a:off x="7178040" y="417880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La misma salida a 1/40 del costo</a:t>
            </a:r>
            <a:endParaRPr lang="en-US" sz="1400" dirty="0"/>
          </a:p>
        </p:txBody>
      </p:sp>
      <p:sp>
        <p:nvSpPr>
          <p:cNvPr id="25" name="Text 22"/>
          <p:cNvSpPr/>
          <p:nvPr/>
        </p:nvSpPr>
        <p:spPr>
          <a:xfrm>
            <a:off x="6263640" y="4983480"/>
            <a:ext cx="685800" cy="6858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08</a:t>
            </a:r>
            <a:endParaRPr lang="en-US" sz="1800" dirty="0"/>
          </a:p>
        </p:txBody>
      </p:sp>
      <p:sp>
        <p:nvSpPr>
          <p:cNvPr id="26" name="Text 23"/>
          <p:cNvSpPr txBox="1"/>
          <p:nvPr/>
        </p:nvSpPr>
        <p:spPr>
          <a:xfrm>
            <a:off x="7178040" y="4965192"/>
            <a:ext cx="4480560" cy="411480"/>
          </a:xfrm>
          <a:prstGeom prst="rect">
            <a:avLst/>
          </a:prstGeom>
          <a:noFill/>
          <a:ln/>
        </p:spPr>
        <p:txBody>
          <a:bodyPr wrap="square" lIns="0" tIns="0" rIns="0" bIns="0" rtlCol="0" anchor="t"/>
          <a:lstStyle/>
          <a:p>
            <a:pPr indent="0" marL="0">
              <a:buNone/>
            </a:pPr>
            <a:r>
              <a:rPr lang="en-US" sz="1900" b="1" dirty="0">
                <a:solidFill>
                  <a:schemeClr val="tx1"/>
                </a:solidFill>
              </a:rPr>
              <a:t>Preparación para la entrevista</a:t>
            </a:r>
            <a:endParaRPr lang="en-US" sz="1900" dirty="0"/>
          </a:p>
        </p:txBody>
      </p:sp>
      <p:sp>
        <p:nvSpPr>
          <p:cNvPr id="27" name="Text 24"/>
          <p:cNvSpPr txBox="1"/>
          <p:nvPr/>
        </p:nvSpPr>
        <p:spPr>
          <a:xfrm>
            <a:off x="7178040" y="5367528"/>
            <a:ext cx="4480560" cy="365760"/>
          </a:xfrm>
          <a:prstGeom prst="rect">
            <a:avLst/>
          </a:prstGeom>
          <a:noFill/>
          <a:ln/>
        </p:spPr>
        <p:txBody>
          <a:bodyPr wrap="square" lIns="0" tIns="0" rIns="0" bIns="0" rtlCol="0" anchor="t"/>
          <a:lstStyle/>
          <a:p>
            <a:pPr indent="0" marL="0">
              <a:buNone/>
            </a:pPr>
            <a:r>
              <a:rPr lang="en-US" sz="1400" dirty="0">
                <a:solidFill>
                  <a:schemeClr val="accent4"/>
                </a:solidFill>
              </a:rPr>
              <a:t>Decisiones, límites y preguntas probables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01</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El problema y el contrato</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Por qué un borrado marcado como «Complete» no prueba nada, y qué forma exacta debe tener la respuesta del agente.</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Un borrado «Complete» que no lo era</a:t>
            </a:r>
            <a:endParaRPr lang="en-US" sz="3200" dirty="0"/>
          </a:p>
        </p:txBody>
      </p:sp>
      <p:sp>
        <p:nvSpPr>
          <p:cNvPr id="4" name="Text 1"/>
          <p:cNvSpPr txBox="1"/>
          <p:nvPr/>
        </p:nvSpPr>
        <p:spPr>
          <a:xfrm>
            <a:off x="548640" y="1371600"/>
            <a:ext cx="5120640" cy="411480"/>
          </a:xfrm>
          <a:prstGeom prst="rect">
            <a:avLst/>
          </a:prstGeom>
          <a:noFill/>
          <a:ln/>
        </p:spPr>
        <p:txBody>
          <a:bodyPr wrap="square" lIns="0" tIns="0" rIns="0" bIns="0" rtlCol="0" anchor="t"/>
          <a:lstStyle/>
          <a:p>
            <a:pPr indent="0" marL="0">
              <a:buNone/>
            </a:pPr>
            <a:r>
              <a:rPr lang="en-US" sz="2000" b="1" dirty="0">
                <a:solidFill>
                  <a:schemeClr val="tx1"/>
                </a:solidFill>
              </a:rPr>
              <a:t>La historia</a:t>
            </a:r>
            <a:endParaRPr lang="en-US" sz="2000" dirty="0"/>
          </a:p>
        </p:txBody>
      </p:sp>
      <p:sp>
        <p:nvSpPr>
          <p:cNvPr id="5" name="Text 2"/>
          <p:cNvSpPr txBox="1"/>
          <p:nvPr/>
        </p:nvSpPr>
        <p:spPr>
          <a:xfrm>
            <a:off x="548640" y="1874520"/>
            <a:ext cx="5120640" cy="1828800"/>
          </a:xfrm>
          <a:prstGeom prst="rect">
            <a:avLst/>
          </a:prstGeom>
          <a:noFill/>
          <a:ln/>
        </p:spPr>
        <p:txBody>
          <a:bodyPr wrap="square" lIns="0" tIns="0" rIns="0" bIns="0" rtlCol="0" anchor="t"/>
          <a:lstStyle/>
          <a:p>
            <a:pPr indent="0" marL="0">
              <a:buNone/>
            </a:pPr>
            <a:r>
              <a:rPr lang="en-US" sz="1600" dirty="0">
                <a:solidFill>
                  <a:schemeClr val="tx2"/>
                </a:solidFill>
              </a:rPr>
              <a:t>Northstar Shop perdió 2,4 millones de dólares. Todos sus paneles marcaban la solicitud de borrado como «Complete». Semanas después, la clienta quiso crear una cuenta nueva y el sistema respondió: «This email is already registered».</a:t>
            </a:r>
            <a:endParaRPr lang="en-US" sz="1600" dirty="0"/>
          </a:p>
        </p:txBody>
      </p:sp>
      <p:sp>
        <p:nvSpPr>
          <p:cNvPr id="6" name="Shape 3"/>
          <p:cNvSpPr/>
          <p:nvPr/>
        </p:nvSpPr>
        <p:spPr>
          <a:xfrm>
            <a:off x="548640" y="4526280"/>
            <a:ext cx="5120640" cy="1463040"/>
          </a:xfrm>
          <a:prstGeom prst="roundRect">
            <a:avLst>
              <a:gd name="adj" fmla="val 6250"/>
            </a:avLst>
          </a:prstGeom>
          <a:solidFill>
            <a:schemeClr val="bg2"/>
          </a:solidFill>
          <a:ln w="9525">
            <a:solidFill>
              <a:schemeClr val="bg2"/>
            </a:solidFill>
            <a:prstDash val="solid"/>
          </a:ln>
        </p:spPr>
      </p:sp>
      <p:sp>
        <p:nvSpPr>
          <p:cNvPr id="7" name="Shape 4"/>
          <p:cNvSpPr/>
          <p:nvPr/>
        </p:nvSpPr>
        <p:spPr>
          <a:xfrm>
            <a:off x="822960" y="4892040"/>
            <a:ext cx="731520" cy="731520"/>
          </a:xfrm>
          <a:prstGeom prst="ellipse">
            <a:avLst/>
          </a:prstGeom>
          <a:solidFill>
            <a:schemeClr val="accent2"/>
          </a:solidFill>
          <a:ln w="12700">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983894" y="5052974"/>
            <a:ext cx="409651" cy="409651"/>
          </a:xfrm>
          <a:prstGeom prst="rect">
            <a:avLst/>
          </a:prstGeom>
        </p:spPr>
      </p:pic>
      <p:sp>
        <p:nvSpPr>
          <p:cNvPr id="9" name="Text 5"/>
          <p:cNvSpPr txBox="1"/>
          <p:nvPr/>
        </p:nvSpPr>
        <p:spPr>
          <a:xfrm>
            <a:off x="1783080" y="4663440"/>
            <a:ext cx="3657600" cy="1188720"/>
          </a:xfrm>
          <a:prstGeom prst="rect">
            <a:avLst/>
          </a:prstGeom>
          <a:noFill/>
          <a:ln/>
        </p:spPr>
        <p:txBody>
          <a:bodyPr wrap="square" lIns="0" tIns="0" rIns="0" bIns="0" rtlCol="0" anchor="ctr"/>
          <a:lstStyle/>
          <a:p>
            <a:pPr indent="0" marL="0">
              <a:buNone/>
            </a:pPr>
            <a:r>
              <a:rPr lang="en-US" sz="1800" b="1" dirty="0">
                <a:solidFill>
                  <a:schemeClr val="tx2"/>
                </a:solidFill>
              </a:rPr>
              <a:t>La lección: un estado reportado es una afirmación, no una prueba.</a:t>
            </a:r>
            <a:endParaRPr lang="en-US" sz="1800" dirty="0"/>
          </a:p>
        </p:txBody>
      </p:sp>
      <p:sp>
        <p:nvSpPr>
          <p:cNvPr id="10" name="Text 6"/>
          <p:cNvSpPr txBox="1"/>
          <p:nvPr/>
        </p:nvSpPr>
        <p:spPr>
          <a:xfrm>
            <a:off x="6172200" y="1371600"/>
            <a:ext cx="5486400" cy="411480"/>
          </a:xfrm>
          <a:prstGeom prst="rect">
            <a:avLst/>
          </a:prstGeom>
          <a:noFill/>
          <a:ln/>
        </p:spPr>
        <p:txBody>
          <a:bodyPr wrap="square" lIns="0" tIns="0" rIns="0" bIns="0" rtlCol="0" anchor="t"/>
          <a:lstStyle/>
          <a:p>
            <a:pPr indent="0" marL="0">
              <a:buNone/>
            </a:pPr>
            <a:r>
              <a:rPr lang="en-US" sz="2000" b="1" dirty="0">
                <a:solidFill>
                  <a:schemeClr val="tx1"/>
                </a:solidFill>
              </a:rPr>
              <a:t>Dónde se esconden los datos fantasma</a:t>
            </a:r>
            <a:endParaRPr lang="en-US" sz="2000" dirty="0"/>
          </a:p>
        </p:txBody>
      </p:sp>
      <p:sp>
        <p:nvSpPr>
          <p:cNvPr id="11" name="Shape 7"/>
          <p:cNvSpPr/>
          <p:nvPr/>
        </p:nvSpPr>
        <p:spPr>
          <a:xfrm>
            <a:off x="6172200" y="1920240"/>
            <a:ext cx="1737360" cy="1280160"/>
          </a:xfrm>
          <a:prstGeom prst="roundRect">
            <a:avLst>
              <a:gd name="adj" fmla="val 7143"/>
            </a:avLst>
          </a:prstGeom>
          <a:solidFill>
            <a:schemeClr val="bg2"/>
          </a:solidFill>
          <a:ln w="9525">
            <a:solidFill>
              <a:schemeClr val="bg2"/>
            </a:solidFill>
            <a:prstDash val="solid"/>
          </a:ln>
        </p:spPr>
      </p:sp>
      <p:sp>
        <p:nvSpPr>
          <p:cNvPr id="12" name="Shape 8"/>
          <p:cNvSpPr/>
          <p:nvPr/>
        </p:nvSpPr>
        <p:spPr>
          <a:xfrm>
            <a:off x="6784848" y="2057400"/>
            <a:ext cx="512064" cy="512064"/>
          </a:xfrm>
          <a:prstGeom prst="ellipse">
            <a:avLst/>
          </a:prstGeom>
          <a:solidFill>
            <a:schemeClr val="tx2"/>
          </a:solidFill>
          <a:ln w="12700">
            <a:solidFill>
              <a:schemeClr val="tx2"/>
            </a:solidFill>
            <a:prstDash val="solid"/>
          </a:ln>
        </p:spPr>
      </p:sp>
      <p:pic>
        <p:nvPicPr>
          <p:cNvPr id="13" name="Image 1" descr="preencoded.png">    </p:cNvPr>
          <p:cNvPicPr>
            <a:picLocks noChangeAspect="1"/>
          </p:cNvPicPr>
          <p:nvPr/>
        </p:nvPicPr>
        <p:blipFill>
          <a:blip r:embed="rId2"/>
          <a:stretch>
            <a:fillRect/>
          </a:stretch>
        </p:blipFill>
        <p:spPr>
          <a:xfrm>
            <a:off x="6897502" y="2170054"/>
            <a:ext cx="286756" cy="286756"/>
          </a:xfrm>
          <a:prstGeom prst="rect">
            <a:avLst/>
          </a:prstGeom>
        </p:spPr>
      </p:pic>
      <p:sp>
        <p:nvSpPr>
          <p:cNvPr id="14" name="Text 9"/>
          <p:cNvSpPr txBox="1"/>
          <p:nvPr/>
        </p:nvSpPr>
        <p:spPr>
          <a:xfrm>
            <a:off x="6263640" y="263347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Réplicas de base de datos</a:t>
            </a:r>
            <a:endParaRPr lang="en-US" sz="1200" dirty="0"/>
          </a:p>
        </p:txBody>
      </p:sp>
      <p:sp>
        <p:nvSpPr>
          <p:cNvPr id="15" name="Shape 10"/>
          <p:cNvSpPr/>
          <p:nvPr/>
        </p:nvSpPr>
        <p:spPr>
          <a:xfrm>
            <a:off x="8028432" y="1920240"/>
            <a:ext cx="1737360" cy="1280160"/>
          </a:xfrm>
          <a:prstGeom prst="roundRect">
            <a:avLst>
              <a:gd name="adj" fmla="val 7143"/>
            </a:avLst>
          </a:prstGeom>
          <a:solidFill>
            <a:schemeClr val="bg2"/>
          </a:solidFill>
          <a:ln w="9525">
            <a:solidFill>
              <a:schemeClr val="bg2"/>
            </a:solidFill>
            <a:prstDash val="solid"/>
          </a:ln>
        </p:spPr>
      </p:sp>
      <p:sp>
        <p:nvSpPr>
          <p:cNvPr id="16" name="Shape 11"/>
          <p:cNvSpPr/>
          <p:nvPr/>
        </p:nvSpPr>
        <p:spPr>
          <a:xfrm>
            <a:off x="8641080" y="2057400"/>
            <a:ext cx="512064" cy="512064"/>
          </a:xfrm>
          <a:prstGeom prst="ellipse">
            <a:avLst/>
          </a:prstGeom>
          <a:solidFill>
            <a:schemeClr val="tx2"/>
          </a:solidFill>
          <a:ln w="12700">
            <a:solidFill>
              <a:schemeClr val="tx2"/>
            </a:solidFill>
            <a:prstDash val="solid"/>
          </a:ln>
        </p:spPr>
      </p:sp>
      <p:pic>
        <p:nvPicPr>
          <p:cNvPr id="17" name="Image 2" descr="preencoded.png">    </p:cNvPr>
          <p:cNvPicPr>
            <a:picLocks noChangeAspect="1"/>
          </p:cNvPicPr>
          <p:nvPr/>
        </p:nvPicPr>
        <p:blipFill>
          <a:blip r:embed="rId3"/>
          <a:stretch>
            <a:fillRect/>
          </a:stretch>
        </p:blipFill>
        <p:spPr>
          <a:xfrm>
            <a:off x="8753734" y="2170054"/>
            <a:ext cx="286756" cy="286756"/>
          </a:xfrm>
          <a:prstGeom prst="rect">
            <a:avLst/>
          </a:prstGeom>
        </p:spPr>
      </p:pic>
      <p:sp>
        <p:nvSpPr>
          <p:cNvPr id="18" name="Text 12"/>
          <p:cNvSpPr txBox="1"/>
          <p:nvPr/>
        </p:nvSpPr>
        <p:spPr>
          <a:xfrm>
            <a:off x="8119872" y="263347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Logs de servicios</a:t>
            </a:r>
            <a:endParaRPr lang="en-US" sz="1200" dirty="0"/>
          </a:p>
        </p:txBody>
      </p:sp>
      <p:sp>
        <p:nvSpPr>
          <p:cNvPr id="19" name="Shape 13"/>
          <p:cNvSpPr/>
          <p:nvPr/>
        </p:nvSpPr>
        <p:spPr>
          <a:xfrm>
            <a:off x="9884664" y="1920240"/>
            <a:ext cx="1737360" cy="1280160"/>
          </a:xfrm>
          <a:prstGeom prst="roundRect">
            <a:avLst>
              <a:gd name="adj" fmla="val 7143"/>
            </a:avLst>
          </a:prstGeom>
          <a:solidFill>
            <a:schemeClr val="bg2"/>
          </a:solidFill>
          <a:ln w="9525">
            <a:solidFill>
              <a:schemeClr val="bg2"/>
            </a:solidFill>
            <a:prstDash val="solid"/>
          </a:ln>
        </p:spPr>
      </p:sp>
      <p:sp>
        <p:nvSpPr>
          <p:cNvPr id="20" name="Shape 14"/>
          <p:cNvSpPr/>
          <p:nvPr/>
        </p:nvSpPr>
        <p:spPr>
          <a:xfrm>
            <a:off x="10497312" y="2057400"/>
            <a:ext cx="512064" cy="512064"/>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10609966" y="2170054"/>
            <a:ext cx="286756" cy="286756"/>
          </a:xfrm>
          <a:prstGeom prst="rect">
            <a:avLst/>
          </a:prstGeom>
        </p:spPr>
      </p:pic>
      <p:sp>
        <p:nvSpPr>
          <p:cNvPr id="22" name="Text 15"/>
          <p:cNvSpPr txBox="1"/>
          <p:nvPr/>
        </p:nvSpPr>
        <p:spPr>
          <a:xfrm>
            <a:off x="9976104" y="263347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Adjuntos de soporte</a:t>
            </a:r>
            <a:endParaRPr lang="en-US" sz="1200" dirty="0"/>
          </a:p>
        </p:txBody>
      </p:sp>
      <p:sp>
        <p:nvSpPr>
          <p:cNvPr id="23" name="Shape 16"/>
          <p:cNvSpPr/>
          <p:nvPr/>
        </p:nvSpPr>
        <p:spPr>
          <a:xfrm>
            <a:off x="6172200" y="3337560"/>
            <a:ext cx="1737360" cy="1280160"/>
          </a:xfrm>
          <a:prstGeom prst="roundRect">
            <a:avLst>
              <a:gd name="adj" fmla="val 7143"/>
            </a:avLst>
          </a:prstGeom>
          <a:solidFill>
            <a:schemeClr val="bg2"/>
          </a:solidFill>
          <a:ln w="9525">
            <a:solidFill>
              <a:schemeClr val="bg2"/>
            </a:solidFill>
            <a:prstDash val="solid"/>
          </a:ln>
        </p:spPr>
      </p:sp>
      <p:sp>
        <p:nvSpPr>
          <p:cNvPr id="24" name="Shape 17"/>
          <p:cNvSpPr/>
          <p:nvPr/>
        </p:nvSpPr>
        <p:spPr>
          <a:xfrm>
            <a:off x="6784848" y="3474720"/>
            <a:ext cx="512064" cy="512064"/>
          </a:xfrm>
          <a:prstGeom prst="ellipse">
            <a:avLst/>
          </a:prstGeom>
          <a:solidFill>
            <a:schemeClr val="tx2"/>
          </a:solidFill>
          <a:ln w="12700">
            <a:solidFill>
              <a:schemeClr val="tx2"/>
            </a:solidFill>
            <a:prstDash val="solid"/>
          </a:ln>
        </p:spPr>
      </p:sp>
      <p:pic>
        <p:nvPicPr>
          <p:cNvPr id="25" name="Image 4" descr="preencoded.png">    </p:cNvPr>
          <p:cNvPicPr>
            <a:picLocks noChangeAspect="1"/>
          </p:cNvPicPr>
          <p:nvPr/>
        </p:nvPicPr>
        <p:blipFill>
          <a:blip r:embed="rId5"/>
          <a:stretch>
            <a:fillRect/>
          </a:stretch>
        </p:blipFill>
        <p:spPr>
          <a:xfrm>
            <a:off x="6897502" y="3587374"/>
            <a:ext cx="286756" cy="286756"/>
          </a:xfrm>
          <a:prstGeom prst="rect">
            <a:avLst/>
          </a:prstGeom>
        </p:spPr>
      </p:pic>
      <p:sp>
        <p:nvSpPr>
          <p:cNvPr id="26" name="Text 18"/>
          <p:cNvSpPr txBox="1"/>
          <p:nvPr/>
        </p:nvSpPr>
        <p:spPr>
          <a:xfrm>
            <a:off x="6263640" y="405079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Exportaciones descargables</a:t>
            </a:r>
            <a:endParaRPr lang="en-US" sz="1200" dirty="0"/>
          </a:p>
        </p:txBody>
      </p:sp>
      <p:sp>
        <p:nvSpPr>
          <p:cNvPr id="27" name="Shape 19"/>
          <p:cNvSpPr/>
          <p:nvPr/>
        </p:nvSpPr>
        <p:spPr>
          <a:xfrm>
            <a:off x="8028432" y="3337560"/>
            <a:ext cx="1737360" cy="1280160"/>
          </a:xfrm>
          <a:prstGeom prst="roundRect">
            <a:avLst>
              <a:gd name="adj" fmla="val 7143"/>
            </a:avLst>
          </a:prstGeom>
          <a:solidFill>
            <a:schemeClr val="bg2"/>
          </a:solidFill>
          <a:ln w="9525">
            <a:solidFill>
              <a:schemeClr val="bg2"/>
            </a:solidFill>
            <a:prstDash val="solid"/>
          </a:ln>
        </p:spPr>
      </p:sp>
      <p:sp>
        <p:nvSpPr>
          <p:cNvPr id="28" name="Shape 20"/>
          <p:cNvSpPr/>
          <p:nvPr/>
        </p:nvSpPr>
        <p:spPr>
          <a:xfrm>
            <a:off x="8641080" y="3474720"/>
            <a:ext cx="512064" cy="512064"/>
          </a:xfrm>
          <a:prstGeom prst="ellipse">
            <a:avLst/>
          </a:prstGeom>
          <a:solidFill>
            <a:schemeClr val="tx2"/>
          </a:solidFill>
          <a:ln w="12700">
            <a:solidFill>
              <a:schemeClr val="tx2"/>
            </a:solidFill>
            <a:prstDash val="solid"/>
          </a:ln>
        </p:spPr>
      </p:sp>
      <p:pic>
        <p:nvPicPr>
          <p:cNvPr id="29" name="Image 5" descr="preencoded.png">    </p:cNvPr>
          <p:cNvPicPr>
            <a:picLocks noChangeAspect="1"/>
          </p:cNvPicPr>
          <p:nvPr/>
        </p:nvPicPr>
        <p:blipFill>
          <a:blip r:embed="rId6"/>
          <a:stretch>
            <a:fillRect/>
          </a:stretch>
        </p:blipFill>
        <p:spPr>
          <a:xfrm>
            <a:off x="8753734" y="3587374"/>
            <a:ext cx="286756" cy="286756"/>
          </a:xfrm>
          <a:prstGeom prst="rect">
            <a:avLst/>
          </a:prstGeom>
        </p:spPr>
      </p:pic>
      <p:sp>
        <p:nvSpPr>
          <p:cNvPr id="30" name="Text 21"/>
          <p:cNvSpPr txBox="1"/>
          <p:nvPr/>
        </p:nvSpPr>
        <p:spPr>
          <a:xfrm>
            <a:off x="8119872" y="405079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Índices de búsqueda</a:t>
            </a:r>
            <a:endParaRPr lang="en-US" sz="1200" dirty="0"/>
          </a:p>
        </p:txBody>
      </p:sp>
      <p:sp>
        <p:nvSpPr>
          <p:cNvPr id="31" name="Shape 22"/>
          <p:cNvSpPr/>
          <p:nvPr/>
        </p:nvSpPr>
        <p:spPr>
          <a:xfrm>
            <a:off x="9884664" y="3337560"/>
            <a:ext cx="1737360" cy="1280160"/>
          </a:xfrm>
          <a:prstGeom prst="roundRect">
            <a:avLst>
              <a:gd name="adj" fmla="val 7143"/>
            </a:avLst>
          </a:prstGeom>
          <a:solidFill>
            <a:schemeClr val="bg2"/>
          </a:solidFill>
          <a:ln w="9525">
            <a:solidFill>
              <a:schemeClr val="bg2"/>
            </a:solidFill>
            <a:prstDash val="solid"/>
          </a:ln>
        </p:spPr>
      </p:sp>
      <p:sp>
        <p:nvSpPr>
          <p:cNvPr id="32" name="Shape 23"/>
          <p:cNvSpPr/>
          <p:nvPr/>
        </p:nvSpPr>
        <p:spPr>
          <a:xfrm>
            <a:off x="10497312" y="3474720"/>
            <a:ext cx="512064" cy="512064"/>
          </a:xfrm>
          <a:prstGeom prst="ellipse">
            <a:avLst/>
          </a:prstGeom>
          <a:solidFill>
            <a:schemeClr val="tx2"/>
          </a:solidFill>
          <a:ln w="12700">
            <a:solidFill>
              <a:schemeClr val="tx2"/>
            </a:solidFill>
            <a:prstDash val="solid"/>
          </a:ln>
        </p:spPr>
      </p:sp>
      <p:pic>
        <p:nvPicPr>
          <p:cNvPr id="33" name="Image 6" descr="preencoded.png">    </p:cNvPr>
          <p:cNvPicPr>
            <a:picLocks noChangeAspect="1"/>
          </p:cNvPicPr>
          <p:nvPr/>
        </p:nvPicPr>
        <p:blipFill>
          <a:blip r:embed="rId7"/>
          <a:stretch>
            <a:fillRect/>
          </a:stretch>
        </p:blipFill>
        <p:spPr>
          <a:xfrm>
            <a:off x="10609966" y="3587374"/>
            <a:ext cx="286756" cy="286756"/>
          </a:xfrm>
          <a:prstGeom prst="rect">
            <a:avLst/>
          </a:prstGeom>
        </p:spPr>
      </p:pic>
      <p:sp>
        <p:nvSpPr>
          <p:cNvPr id="34" name="Text 24"/>
          <p:cNvSpPr txBox="1"/>
          <p:nvPr/>
        </p:nvSpPr>
        <p:spPr>
          <a:xfrm>
            <a:off x="9976104" y="405079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Perfiles de analítica</a:t>
            </a:r>
            <a:endParaRPr lang="en-US" sz="1200" dirty="0"/>
          </a:p>
        </p:txBody>
      </p:sp>
      <p:sp>
        <p:nvSpPr>
          <p:cNvPr id="35" name="Shape 25"/>
          <p:cNvSpPr/>
          <p:nvPr/>
        </p:nvSpPr>
        <p:spPr>
          <a:xfrm>
            <a:off x="6172200" y="4754880"/>
            <a:ext cx="1737360" cy="1280160"/>
          </a:xfrm>
          <a:prstGeom prst="roundRect">
            <a:avLst>
              <a:gd name="adj" fmla="val 7143"/>
            </a:avLst>
          </a:prstGeom>
          <a:solidFill>
            <a:schemeClr val="bg2"/>
          </a:solidFill>
          <a:ln w="9525">
            <a:solidFill>
              <a:schemeClr val="bg2"/>
            </a:solidFill>
            <a:prstDash val="solid"/>
          </a:ln>
        </p:spPr>
      </p:sp>
      <p:sp>
        <p:nvSpPr>
          <p:cNvPr id="36" name="Shape 26"/>
          <p:cNvSpPr/>
          <p:nvPr/>
        </p:nvSpPr>
        <p:spPr>
          <a:xfrm>
            <a:off x="6784848" y="4892040"/>
            <a:ext cx="512064" cy="512064"/>
          </a:xfrm>
          <a:prstGeom prst="ellipse">
            <a:avLst/>
          </a:prstGeom>
          <a:solidFill>
            <a:schemeClr val="accent2"/>
          </a:solidFill>
          <a:ln w="12700">
            <a:solidFill>
              <a:schemeClr val="accent2"/>
            </a:solidFill>
            <a:prstDash val="solid"/>
          </a:ln>
        </p:spPr>
      </p:sp>
      <p:pic>
        <p:nvPicPr>
          <p:cNvPr id="37" name="Image 7" descr="preencoded.png">    </p:cNvPr>
          <p:cNvPicPr>
            <a:picLocks noChangeAspect="1"/>
          </p:cNvPicPr>
          <p:nvPr/>
        </p:nvPicPr>
        <p:blipFill>
          <a:blip r:embed="rId8"/>
          <a:stretch>
            <a:fillRect/>
          </a:stretch>
        </p:blipFill>
        <p:spPr>
          <a:xfrm>
            <a:off x="6897502" y="5004694"/>
            <a:ext cx="286756" cy="286756"/>
          </a:xfrm>
          <a:prstGeom prst="rect">
            <a:avLst/>
          </a:prstGeom>
        </p:spPr>
      </p:pic>
      <p:sp>
        <p:nvSpPr>
          <p:cNvPr id="38" name="Text 27"/>
          <p:cNvSpPr txBox="1"/>
          <p:nvPr/>
        </p:nvSpPr>
        <p:spPr>
          <a:xfrm>
            <a:off x="6263640" y="546811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Backups restaurables</a:t>
            </a:r>
            <a:endParaRPr lang="en-US" sz="1200" dirty="0"/>
          </a:p>
        </p:txBody>
      </p:sp>
      <p:sp>
        <p:nvSpPr>
          <p:cNvPr id="39" name="Shape 28"/>
          <p:cNvSpPr/>
          <p:nvPr/>
        </p:nvSpPr>
        <p:spPr>
          <a:xfrm>
            <a:off x="8028432" y="4754880"/>
            <a:ext cx="1737360" cy="1280160"/>
          </a:xfrm>
          <a:prstGeom prst="roundRect">
            <a:avLst>
              <a:gd name="adj" fmla="val 7143"/>
            </a:avLst>
          </a:prstGeom>
          <a:solidFill>
            <a:schemeClr val="bg2"/>
          </a:solidFill>
          <a:ln w="9525">
            <a:solidFill>
              <a:schemeClr val="bg2"/>
            </a:solidFill>
            <a:prstDash val="solid"/>
          </a:ln>
        </p:spPr>
      </p:sp>
      <p:sp>
        <p:nvSpPr>
          <p:cNvPr id="40" name="Shape 29"/>
          <p:cNvSpPr/>
          <p:nvPr/>
        </p:nvSpPr>
        <p:spPr>
          <a:xfrm>
            <a:off x="8641080" y="4892040"/>
            <a:ext cx="512064" cy="512064"/>
          </a:xfrm>
          <a:prstGeom prst="ellipse">
            <a:avLst/>
          </a:prstGeom>
          <a:solidFill>
            <a:schemeClr val="accent2"/>
          </a:solidFill>
          <a:ln w="12700">
            <a:solidFill>
              <a:schemeClr val="accent2"/>
            </a:solidFill>
            <a:prstDash val="solid"/>
          </a:ln>
        </p:spPr>
      </p:sp>
      <p:pic>
        <p:nvPicPr>
          <p:cNvPr id="41" name="Image 8" descr="preencoded.png">    </p:cNvPr>
          <p:cNvPicPr>
            <a:picLocks noChangeAspect="1"/>
          </p:cNvPicPr>
          <p:nvPr/>
        </p:nvPicPr>
        <p:blipFill>
          <a:blip r:embed="rId9"/>
          <a:stretch>
            <a:fillRect/>
          </a:stretch>
        </p:blipFill>
        <p:spPr>
          <a:xfrm>
            <a:off x="8753734" y="5004694"/>
            <a:ext cx="286756" cy="286756"/>
          </a:xfrm>
          <a:prstGeom prst="rect">
            <a:avLst/>
          </a:prstGeom>
        </p:spPr>
      </p:pic>
      <p:sp>
        <p:nvSpPr>
          <p:cNvPr id="42" name="Text 30"/>
          <p:cNvSpPr txBox="1"/>
          <p:nvPr/>
        </p:nvSpPr>
        <p:spPr>
          <a:xfrm>
            <a:off x="8119872" y="546811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Sincronizaciones activas</a:t>
            </a:r>
            <a:endParaRPr lang="en-US" sz="1200" dirty="0"/>
          </a:p>
        </p:txBody>
      </p:sp>
      <p:sp>
        <p:nvSpPr>
          <p:cNvPr id="43" name="Shape 31"/>
          <p:cNvSpPr/>
          <p:nvPr/>
        </p:nvSpPr>
        <p:spPr>
          <a:xfrm>
            <a:off x="9884664" y="4754880"/>
            <a:ext cx="1737360" cy="1280160"/>
          </a:xfrm>
          <a:prstGeom prst="roundRect">
            <a:avLst>
              <a:gd name="adj" fmla="val 7143"/>
            </a:avLst>
          </a:prstGeom>
          <a:solidFill>
            <a:schemeClr val="bg2"/>
          </a:solidFill>
          <a:ln w="9525">
            <a:solidFill>
              <a:schemeClr val="bg2"/>
            </a:solidFill>
            <a:prstDash val="solid"/>
          </a:ln>
        </p:spPr>
      </p:sp>
      <p:sp>
        <p:nvSpPr>
          <p:cNvPr id="44" name="Shape 32"/>
          <p:cNvSpPr/>
          <p:nvPr/>
        </p:nvSpPr>
        <p:spPr>
          <a:xfrm>
            <a:off x="10497312" y="4892040"/>
            <a:ext cx="512064" cy="512064"/>
          </a:xfrm>
          <a:prstGeom prst="ellipse">
            <a:avLst/>
          </a:prstGeom>
          <a:solidFill>
            <a:schemeClr val="tx2"/>
          </a:solidFill>
          <a:ln w="12700">
            <a:solidFill>
              <a:schemeClr val="tx2"/>
            </a:solidFill>
            <a:prstDash val="solid"/>
          </a:ln>
        </p:spPr>
      </p:sp>
      <p:pic>
        <p:nvPicPr>
          <p:cNvPr id="45" name="Image 9" descr="preencoded.png">    </p:cNvPr>
          <p:cNvPicPr>
            <a:picLocks noChangeAspect="1"/>
          </p:cNvPicPr>
          <p:nvPr/>
        </p:nvPicPr>
        <p:blipFill>
          <a:blip r:embed="rId10"/>
          <a:stretch>
            <a:fillRect/>
          </a:stretch>
        </p:blipFill>
        <p:spPr>
          <a:xfrm>
            <a:off x="10609966" y="5004694"/>
            <a:ext cx="286756" cy="286756"/>
          </a:xfrm>
          <a:prstGeom prst="rect">
            <a:avLst/>
          </a:prstGeom>
        </p:spPr>
      </p:pic>
      <p:sp>
        <p:nvSpPr>
          <p:cNvPr id="46" name="Text 33"/>
          <p:cNvSpPr txBox="1"/>
          <p:nvPr/>
        </p:nvSpPr>
        <p:spPr>
          <a:xfrm>
            <a:off x="9976104" y="5468112"/>
            <a:ext cx="1554480" cy="502920"/>
          </a:xfrm>
          <a:prstGeom prst="rect">
            <a:avLst/>
          </a:prstGeom>
          <a:noFill/>
          <a:ln/>
        </p:spPr>
        <p:txBody>
          <a:bodyPr wrap="square" lIns="0" tIns="0" rIns="0" bIns="0" rtlCol="0" anchor="ctr"/>
          <a:lstStyle/>
          <a:p>
            <a:pPr algn="ctr" indent="0" marL="0">
              <a:buNone/>
            </a:pPr>
            <a:r>
              <a:rPr lang="en-US" sz="1200" dirty="0">
                <a:solidFill>
                  <a:schemeClr val="tx1"/>
                </a:solidFill>
              </a:rPr>
              <a:t>Tombstones de cuenta</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Qué recibe y qué devuelve el agente</a:t>
            </a:r>
            <a:endParaRPr lang="en-US" sz="3200" dirty="0"/>
          </a:p>
        </p:txBody>
      </p:sp>
      <p:sp>
        <p:nvSpPr>
          <p:cNvPr id="4" name="Shape 1"/>
          <p:cNvSpPr/>
          <p:nvPr/>
        </p:nvSpPr>
        <p:spPr>
          <a:xfrm>
            <a:off x="548640" y="1325880"/>
            <a:ext cx="5257800" cy="2788920"/>
          </a:xfrm>
          <a:prstGeom prst="roundRect">
            <a:avLst>
              <a:gd name="adj" fmla="val 3279"/>
            </a:avLst>
          </a:prstGeom>
          <a:solidFill>
            <a:schemeClr val="bg2"/>
          </a:solidFill>
          <a:ln w="9525">
            <a:solidFill>
              <a:schemeClr val="bg2"/>
            </a:solidFill>
            <a:prstDash val="solid"/>
          </a:ln>
        </p:spPr>
      </p:sp>
      <p:sp>
        <p:nvSpPr>
          <p:cNvPr id="5" name="Text 2"/>
          <p:cNvSpPr txBox="1"/>
          <p:nvPr/>
        </p:nvSpPr>
        <p:spPr>
          <a:xfrm>
            <a:off x="777240" y="1444752"/>
            <a:ext cx="4846320" cy="365760"/>
          </a:xfrm>
          <a:prstGeom prst="rect">
            <a:avLst/>
          </a:prstGeom>
          <a:noFill/>
          <a:ln/>
        </p:spPr>
        <p:txBody>
          <a:bodyPr wrap="square" lIns="0" tIns="0" rIns="0" bIns="0" rtlCol="0" anchor="t"/>
          <a:lstStyle/>
          <a:p>
            <a:pPr indent="0" marL="0">
              <a:buNone/>
            </a:pPr>
            <a:r>
              <a:rPr lang="en-US" sz="1500" b="1" dirty="0">
                <a:solidFill>
                  <a:schemeClr val="tx2"/>
                </a:solidFill>
              </a:rPr>
              <a:t>Entrada · una fila de deletion_requests.csv</a:t>
            </a:r>
            <a:endParaRPr lang="en-US" sz="1500" dirty="0"/>
          </a:p>
        </p:txBody>
      </p:sp>
      <p:sp>
        <p:nvSpPr>
          <p:cNvPr id="6" name="Text 3"/>
          <p:cNvSpPr txBox="1"/>
          <p:nvPr/>
        </p:nvSpPr>
        <p:spPr>
          <a:xfrm>
            <a:off x="777240" y="1874520"/>
            <a:ext cx="4846320" cy="2148840"/>
          </a:xfrm>
          <a:prstGeom prst="rect">
            <a:avLst/>
          </a:prstGeom>
          <a:noFill/>
          <a:ln/>
        </p:spPr>
        <p:txBody>
          <a:bodyPr wrap="square" lIns="0" tIns="0" rIns="0" bIns="0" rtlCol="0" anchor="t"/>
          <a:lstStyle/>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case_id         </a:t>
            </a:r>
            <a:pPr indent="0" marL="0">
              <a:spcAft>
                <a:spcPts val="300"/>
              </a:spcAft>
              <a:buNone/>
            </a:pPr>
            <a:r>
              <a:rPr lang="en-US" sz="1300" dirty="0">
                <a:solidFill>
                  <a:schemeClr val="tx2"/>
                </a:solidFill>
              </a:rPr>
              <a:t>identificador del caso</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email           </a:t>
            </a:r>
            <a:pPr indent="0" marL="0">
              <a:spcAft>
                <a:spcPts val="300"/>
              </a:spcAft>
              <a:buNone/>
            </a:pPr>
            <a:r>
              <a:rPr lang="en-US" sz="1300" dirty="0">
                <a:solidFill>
                  <a:schemeClr val="tx2"/>
                </a:solidFill>
              </a:rPr>
              <a:t>actual o histórico</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requested_at    </a:t>
            </a:r>
            <a:pPr indent="0" marL="0">
              <a:spcAft>
                <a:spcPts val="300"/>
              </a:spcAft>
              <a:buNone/>
            </a:pPr>
            <a:r>
              <a:rPr lang="en-US" sz="1300" dirty="0">
                <a:solidFill>
                  <a:schemeClr val="tx2"/>
                </a:solidFill>
              </a:rPr>
              <a:t>cuándo se pidió</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reported_status </a:t>
            </a:r>
            <a:pPr indent="0" marL="0">
              <a:spcAft>
                <a:spcPts val="300"/>
              </a:spcAft>
              <a:buNone/>
            </a:pPr>
            <a:r>
              <a:rPr lang="en-US" sz="1300" dirty="0">
                <a:solidFill>
                  <a:schemeClr val="tx2"/>
                </a:solidFill>
              </a:rPr>
              <a:t>lo que dice el workflow</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reported_at     </a:t>
            </a:r>
            <a:pPr indent="0" marL="0">
              <a:spcAft>
                <a:spcPts val="300"/>
              </a:spcAft>
              <a:buNone/>
            </a:pPr>
            <a:r>
              <a:rPr lang="en-US" sz="1300" dirty="0">
                <a:solidFill>
                  <a:schemeClr val="tx2"/>
                </a:solidFill>
              </a:rPr>
              <a:t>cuándo lo dijo</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audit_at        </a:t>
            </a:r>
            <a:pPr indent="0" marL="0">
              <a:spcAft>
                <a:spcPts val="300"/>
              </a:spcAft>
              <a:buNone/>
            </a:pPr>
            <a:r>
              <a:rPr lang="en-US" sz="1300" dirty="0">
                <a:solidFill>
                  <a:schemeClr val="tx2"/>
                </a:solidFill>
              </a:rPr>
              <a:t>hora de corte de la respuesta</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request_text    </a:t>
            </a:r>
            <a:pPr indent="0" marL="0">
              <a:spcAft>
                <a:spcPts val="300"/>
              </a:spcAft>
              <a:buNone/>
            </a:pPr>
            <a:r>
              <a:rPr lang="en-US" sz="1300" dirty="0">
                <a:solidFill>
                  <a:schemeClr val="tx2"/>
                </a:solidFill>
              </a:rPr>
              <a:t>texto libre, varios idiomas</a:t>
            </a:r>
            <a:endParaRPr lang="en-US" sz="1300" dirty="0"/>
          </a:p>
        </p:txBody>
      </p:sp>
      <p:sp>
        <p:nvSpPr>
          <p:cNvPr id="7" name="Shape 4"/>
          <p:cNvSpPr/>
          <p:nvPr/>
        </p:nvSpPr>
        <p:spPr>
          <a:xfrm>
            <a:off x="5943600" y="2715768"/>
            <a:ext cx="411480" cy="0"/>
          </a:xfrm>
          <a:prstGeom prst="line">
            <a:avLst/>
          </a:prstGeom>
          <a:noFill/>
          <a:ln w="38100">
            <a:solidFill>
              <a:schemeClr val="accent4"/>
            </a:solidFill>
            <a:prstDash val="solid"/>
            <a:tailEnd type="triangle"/>
          </a:ln>
        </p:spPr>
      </p:sp>
      <p:sp>
        <p:nvSpPr>
          <p:cNvPr id="8" name="Shape 5"/>
          <p:cNvSpPr/>
          <p:nvPr/>
        </p:nvSpPr>
        <p:spPr>
          <a:xfrm>
            <a:off x="6492240" y="1325880"/>
            <a:ext cx="5148072" cy="2788920"/>
          </a:xfrm>
          <a:prstGeom prst="roundRect">
            <a:avLst>
              <a:gd name="adj" fmla="val 3279"/>
            </a:avLst>
          </a:prstGeom>
          <a:solidFill>
            <a:schemeClr val="bg2"/>
          </a:solidFill>
          <a:ln w="9525">
            <a:solidFill>
              <a:schemeClr val="bg2"/>
            </a:solidFill>
            <a:prstDash val="solid"/>
          </a:ln>
        </p:spPr>
      </p:sp>
      <p:sp>
        <p:nvSpPr>
          <p:cNvPr id="9" name="Text 6"/>
          <p:cNvSpPr txBox="1"/>
          <p:nvPr/>
        </p:nvSpPr>
        <p:spPr>
          <a:xfrm>
            <a:off x="6720840" y="1444752"/>
            <a:ext cx="4754880" cy="365760"/>
          </a:xfrm>
          <a:prstGeom prst="rect">
            <a:avLst/>
          </a:prstGeom>
          <a:noFill/>
          <a:ln/>
        </p:spPr>
        <p:txBody>
          <a:bodyPr wrap="square" lIns="0" tIns="0" rIns="0" bIns="0" rtlCol="0" anchor="t"/>
          <a:lstStyle/>
          <a:p>
            <a:pPr indent="0" marL="0">
              <a:buNone/>
            </a:pPr>
            <a:r>
              <a:rPr lang="en-US" sz="1500" b="1" dirty="0">
                <a:solidFill>
                  <a:schemeClr val="tx2"/>
                </a:solidFill>
              </a:rPr>
              <a:t>Salida · una fila de output.csv</a:t>
            </a:r>
            <a:endParaRPr lang="en-US" sz="1500" dirty="0"/>
          </a:p>
        </p:txBody>
      </p:sp>
      <p:sp>
        <p:nvSpPr>
          <p:cNvPr id="10" name="Text 7"/>
          <p:cNvSpPr txBox="1"/>
          <p:nvPr/>
        </p:nvSpPr>
        <p:spPr>
          <a:xfrm>
            <a:off x="6720840" y="1874520"/>
            <a:ext cx="4754880" cy="68580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case_id, deletion_status, steps_json</a:t>
            </a:r>
            <a:endParaRPr lang="en-US" sz="1300" dirty="0"/>
          </a:p>
          <a:p>
            <a:pPr indent="0" marL="0">
              <a:buNone/>
            </a:pPr>
            <a:r>
              <a:rPr lang="en-US" sz="1300" dirty="0">
                <a:solidFill>
                  <a:schemeClr val="tx2"/>
                </a:solidFill>
              </a:rPr>
              <a:t>518 filas, ordenadas por case_id. Cada paso de steps_json:</a:t>
            </a:r>
            <a:endParaRPr lang="en-US" sz="1300" dirty="0"/>
          </a:p>
        </p:txBody>
      </p:sp>
      <p:sp>
        <p:nvSpPr>
          <p:cNvPr id="11" name="Shape 8"/>
          <p:cNvSpPr/>
          <p:nvPr/>
        </p:nvSpPr>
        <p:spPr>
          <a:xfrm>
            <a:off x="6720840" y="2606040"/>
            <a:ext cx="4709160" cy="1371600"/>
          </a:xfrm>
          <a:prstGeom prst="roundRect">
            <a:avLst>
              <a:gd name="adj" fmla="val 5333"/>
            </a:avLst>
          </a:prstGeom>
          <a:solidFill>
            <a:schemeClr val="tx1"/>
          </a:solidFill>
          <a:ln w="9525">
            <a:solidFill>
              <a:schemeClr val="tx1"/>
            </a:solidFill>
            <a:prstDash val="solid"/>
          </a:ln>
        </p:spPr>
      </p:sp>
      <p:sp>
        <p:nvSpPr>
          <p:cNvPr id="12" name="Text 9"/>
          <p:cNvSpPr txBox="1"/>
          <p:nvPr/>
        </p:nvSpPr>
        <p:spPr>
          <a:xfrm>
            <a:off x="6903720" y="2743200"/>
            <a:ext cx="4343400" cy="109728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{"step_no": 1, "phase": "FINDING",</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"system_id": "account_service",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"resource_id": "account_005",</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"operation": "REPORT_REMAINING_RECORD",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"state": "PRESENT", "evidence_id": "evidence_01"}</a:t>
            </a:r>
            <a:endParaRPr lang="en-US" sz="1100" dirty="0"/>
          </a:p>
        </p:txBody>
      </p:sp>
      <p:sp>
        <p:nvSpPr>
          <p:cNvPr id="13" name="Shape 10"/>
          <p:cNvSpPr/>
          <p:nvPr/>
        </p:nvSpPr>
        <p:spPr>
          <a:xfrm>
            <a:off x="548640" y="4389120"/>
            <a:ext cx="3545738" cy="1783080"/>
          </a:xfrm>
          <a:prstGeom prst="roundRect">
            <a:avLst>
              <a:gd name="adj" fmla="val 5128"/>
            </a:avLst>
          </a:prstGeom>
          <a:solidFill>
            <a:schemeClr val="bg1"/>
          </a:solidFill>
          <a:ln w="12700">
            <a:solidFill>
              <a:srgbClr val="D3DCE1"/>
            </a:solidFill>
            <a:prstDash val="solid"/>
          </a:ln>
        </p:spPr>
      </p:sp>
      <p:sp>
        <p:nvSpPr>
          <p:cNvPr id="14" name="Shape 11"/>
          <p:cNvSpPr/>
          <p:nvPr/>
        </p:nvSpPr>
        <p:spPr>
          <a:xfrm>
            <a:off x="731520" y="4553712"/>
            <a:ext cx="502920" cy="502920"/>
          </a:xfrm>
          <a:prstGeom prst="ellipse">
            <a:avLst/>
          </a:prstGeom>
          <a:solidFill>
            <a:schemeClr val="accent1"/>
          </a:solidFill>
          <a:ln w="12700">
            <a:solidFill>
              <a:schemeClr val="accent1"/>
            </a:solidFill>
            <a:prstDash val="solid"/>
          </a:ln>
        </p:spPr>
      </p:sp>
      <p:pic>
        <p:nvPicPr>
          <p:cNvPr id="15" name="Image 0" descr="preencoded.png">    </p:cNvPr>
          <p:cNvPicPr>
            <a:picLocks noChangeAspect="1"/>
          </p:cNvPicPr>
          <p:nvPr/>
        </p:nvPicPr>
        <p:blipFill>
          <a:blip r:embed="rId1"/>
          <a:stretch>
            <a:fillRect/>
          </a:stretch>
        </p:blipFill>
        <p:spPr>
          <a:xfrm>
            <a:off x="842162" y="4664354"/>
            <a:ext cx="281635" cy="281635"/>
          </a:xfrm>
          <a:prstGeom prst="rect">
            <a:avLst/>
          </a:prstGeom>
        </p:spPr>
      </p:pic>
      <p:sp>
        <p:nvSpPr>
          <p:cNvPr id="16" name="Text 12"/>
          <p:cNvSpPr txBox="1"/>
          <p:nvPr/>
        </p:nvSpPr>
        <p:spPr>
          <a:xfrm>
            <a:off x="1371600" y="4553712"/>
            <a:ext cx="2631338" cy="50292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COMPLETE</a:t>
            </a:r>
            <a:endParaRPr lang="en-US" sz="1600" dirty="0"/>
          </a:p>
        </p:txBody>
      </p:sp>
      <p:sp>
        <p:nvSpPr>
          <p:cNvPr id="17" name="Text 13"/>
          <p:cNvSpPr txBox="1"/>
          <p:nvPr/>
        </p:nvSpPr>
        <p:spPr>
          <a:xfrm>
            <a:off x="731520" y="5166360"/>
            <a:ext cx="3179978" cy="914400"/>
          </a:xfrm>
          <a:prstGeom prst="rect">
            <a:avLst/>
          </a:prstGeom>
          <a:noFill/>
          <a:ln/>
        </p:spPr>
        <p:txBody>
          <a:bodyPr wrap="square" lIns="0" tIns="0" rIns="0" bIns="0" rtlCol="0" anchor="t"/>
          <a:lstStyle/>
          <a:p>
            <a:pPr indent="0" marL="0">
              <a:buNone/>
            </a:pPr>
            <a:r>
              <a:rPr lang="en-US" sz="1300" dirty="0">
                <a:solidFill>
                  <a:schemeClr val="tx2"/>
                </a:solidFill>
              </a:rPr>
              <a:t>Cada copia tiene el trato exigido y nada puede recrearla. Solo pasos VERIFICATION, cada uno con su evidencia.</a:t>
            </a:r>
            <a:endParaRPr lang="en-US" sz="1300" dirty="0"/>
          </a:p>
        </p:txBody>
      </p:sp>
      <p:sp>
        <p:nvSpPr>
          <p:cNvPr id="18" name="Shape 14"/>
          <p:cNvSpPr/>
          <p:nvPr/>
        </p:nvSpPr>
        <p:spPr>
          <a:xfrm>
            <a:off x="4322978" y="4389120"/>
            <a:ext cx="3545738" cy="1783080"/>
          </a:xfrm>
          <a:prstGeom prst="roundRect">
            <a:avLst>
              <a:gd name="adj" fmla="val 5128"/>
            </a:avLst>
          </a:prstGeom>
          <a:solidFill>
            <a:schemeClr val="bg1"/>
          </a:solidFill>
          <a:ln w="12700">
            <a:solidFill>
              <a:srgbClr val="D3DCE1"/>
            </a:solidFill>
            <a:prstDash val="solid"/>
          </a:ln>
        </p:spPr>
      </p:sp>
      <p:sp>
        <p:nvSpPr>
          <p:cNvPr id="19" name="Shape 15"/>
          <p:cNvSpPr/>
          <p:nvPr/>
        </p:nvSpPr>
        <p:spPr>
          <a:xfrm>
            <a:off x="4505858" y="4553712"/>
            <a:ext cx="502920" cy="502920"/>
          </a:xfrm>
          <a:prstGeom prst="ellipse">
            <a:avLst/>
          </a:prstGeom>
          <a:solidFill>
            <a:schemeClr val="accent2"/>
          </a:solidFill>
          <a:ln w="12700">
            <a:solidFill>
              <a:schemeClr val="accent2"/>
            </a:solidFill>
            <a:prstDash val="solid"/>
          </a:ln>
        </p:spPr>
      </p:sp>
      <p:pic>
        <p:nvPicPr>
          <p:cNvPr id="20" name="Image 1" descr="preencoded.png">    </p:cNvPr>
          <p:cNvPicPr>
            <a:picLocks noChangeAspect="1"/>
          </p:cNvPicPr>
          <p:nvPr/>
        </p:nvPicPr>
        <p:blipFill>
          <a:blip r:embed="rId2"/>
          <a:stretch>
            <a:fillRect/>
          </a:stretch>
        </p:blipFill>
        <p:spPr>
          <a:xfrm>
            <a:off x="4616501" y="4664354"/>
            <a:ext cx="281635" cy="281635"/>
          </a:xfrm>
          <a:prstGeom prst="rect">
            <a:avLst/>
          </a:prstGeom>
        </p:spPr>
      </p:pic>
      <p:sp>
        <p:nvSpPr>
          <p:cNvPr id="21" name="Text 16"/>
          <p:cNvSpPr txBox="1"/>
          <p:nvPr/>
        </p:nvSpPr>
        <p:spPr>
          <a:xfrm>
            <a:off x="5145938" y="4553712"/>
            <a:ext cx="2631338" cy="502920"/>
          </a:xfrm>
          <a:prstGeom prst="rect">
            <a:avLst/>
          </a:prstGeom>
          <a:noFill/>
          <a:ln/>
        </p:spPr>
        <p:txBody>
          <a:bodyPr wrap="square" lIns="0" tIns="0" rIns="0" bIns="0" rtlCol="0" anchor="ctr"/>
          <a:lstStyle/>
          <a:p>
            <a:pPr indent="0" marL="0">
              <a:buNone/>
            </a:pPr>
            <a:r>
              <a:rPr lang="en-US" sz="1600" b="1" dirty="0">
                <a:solidFill>
                  <a:schemeClr val="accent2"/>
                </a:solidFill>
                <a:latin typeface="Courier New" pitchFamily="34" charset="0"/>
                <a:ea typeface="Courier New" pitchFamily="34" charset="-122"/>
                <a:cs typeface="Courier New" pitchFamily="34" charset="-120"/>
              </a:rPr>
              <a:t>INCOMPLETE</a:t>
            </a:r>
            <a:endParaRPr lang="en-US" sz="1600" dirty="0"/>
          </a:p>
        </p:txBody>
      </p:sp>
      <p:sp>
        <p:nvSpPr>
          <p:cNvPr id="22" name="Text 17"/>
          <p:cNvSpPr txBox="1"/>
          <p:nvPr/>
        </p:nvSpPr>
        <p:spPr>
          <a:xfrm>
            <a:off x="4505858" y="5166360"/>
            <a:ext cx="3179978" cy="914400"/>
          </a:xfrm>
          <a:prstGeom prst="rect">
            <a:avLst/>
          </a:prstGeom>
          <a:noFill/>
          <a:ln/>
        </p:spPr>
        <p:txBody>
          <a:bodyPr wrap="square" lIns="0" tIns="0" rIns="0" bIns="0" rtlCol="0" anchor="t"/>
          <a:lstStyle/>
          <a:p>
            <a:pPr indent="0" marL="0">
              <a:buNone/>
            </a:pPr>
            <a:r>
              <a:rPr lang="en-US" sz="1300" dirty="0">
                <a:solidFill>
                  <a:schemeClr val="tx2"/>
                </a:solidFill>
              </a:rPr>
              <a:t>Queda algo. Hallazgos con evidencia, plan de remediación y verificaciones futuras con evidence_id vacío.</a:t>
            </a:r>
            <a:endParaRPr lang="en-US" sz="1300" dirty="0"/>
          </a:p>
        </p:txBody>
      </p:sp>
      <p:sp>
        <p:nvSpPr>
          <p:cNvPr id="23" name="Shape 18"/>
          <p:cNvSpPr/>
          <p:nvPr/>
        </p:nvSpPr>
        <p:spPr>
          <a:xfrm>
            <a:off x="8097317" y="4389120"/>
            <a:ext cx="3545738" cy="1783080"/>
          </a:xfrm>
          <a:prstGeom prst="roundRect">
            <a:avLst>
              <a:gd name="adj" fmla="val 5128"/>
            </a:avLst>
          </a:prstGeom>
          <a:solidFill>
            <a:schemeClr val="bg1"/>
          </a:solidFill>
          <a:ln w="12700">
            <a:solidFill>
              <a:srgbClr val="D3DCE1"/>
            </a:solidFill>
            <a:prstDash val="solid"/>
          </a:ln>
        </p:spPr>
      </p:sp>
      <p:sp>
        <p:nvSpPr>
          <p:cNvPr id="24" name="Shape 19"/>
          <p:cNvSpPr/>
          <p:nvPr/>
        </p:nvSpPr>
        <p:spPr>
          <a:xfrm>
            <a:off x="8280197" y="4553712"/>
            <a:ext cx="502920" cy="502920"/>
          </a:xfrm>
          <a:prstGeom prst="ellipse">
            <a:avLst/>
          </a:prstGeom>
          <a:solidFill>
            <a:schemeClr val="accent4"/>
          </a:solidFill>
          <a:ln w="12700">
            <a:solidFill>
              <a:schemeClr val="accent4"/>
            </a:solidFill>
            <a:prstDash val="solid"/>
          </a:ln>
        </p:spPr>
      </p:sp>
      <p:pic>
        <p:nvPicPr>
          <p:cNvPr id="25" name="Image 2" descr="preencoded.png">    </p:cNvPr>
          <p:cNvPicPr>
            <a:picLocks noChangeAspect="1"/>
          </p:cNvPicPr>
          <p:nvPr/>
        </p:nvPicPr>
        <p:blipFill>
          <a:blip r:embed="rId3"/>
          <a:stretch>
            <a:fillRect/>
          </a:stretch>
        </p:blipFill>
        <p:spPr>
          <a:xfrm>
            <a:off x="8390839" y="4664354"/>
            <a:ext cx="281635" cy="281635"/>
          </a:xfrm>
          <a:prstGeom prst="rect">
            <a:avLst/>
          </a:prstGeom>
        </p:spPr>
      </p:pic>
      <p:sp>
        <p:nvSpPr>
          <p:cNvPr id="26" name="Text 20"/>
          <p:cNvSpPr txBox="1"/>
          <p:nvPr/>
        </p:nvSpPr>
        <p:spPr>
          <a:xfrm>
            <a:off x="8920277" y="4553712"/>
            <a:ext cx="2631338" cy="502920"/>
          </a:xfrm>
          <a:prstGeom prst="rect">
            <a:avLst/>
          </a:prstGeom>
          <a:noFill/>
          <a:ln/>
        </p:spPr>
        <p:txBody>
          <a:bodyPr wrap="square" lIns="0" tIns="0" rIns="0" bIns="0" rtlCol="0" anchor="ctr"/>
          <a:lstStyle/>
          <a:p>
            <a:pPr indent="0" marL="0">
              <a:buNone/>
            </a:pPr>
            <a:r>
              <a:rPr lang="en-US" sz="1600" b="1" dirty="0">
                <a:solidFill>
                  <a:schemeClr val="accent4"/>
                </a:solidFill>
                <a:latin typeface="Courier New" pitchFamily="34" charset="0"/>
                <a:ea typeface="Courier New" pitchFamily="34" charset="-122"/>
                <a:cs typeface="Courier New" pitchFamily="34" charset="-120"/>
              </a:rPr>
              <a:t>NOT_APPLICABLE</a:t>
            </a:r>
            <a:endParaRPr lang="en-US" sz="1600" dirty="0"/>
          </a:p>
        </p:txBody>
      </p:sp>
      <p:sp>
        <p:nvSpPr>
          <p:cNvPr id="27" name="Text 21"/>
          <p:cNvSpPr txBox="1"/>
          <p:nvPr/>
        </p:nvSpPr>
        <p:spPr>
          <a:xfrm>
            <a:off x="8280197" y="5166360"/>
            <a:ext cx="3179978" cy="914400"/>
          </a:xfrm>
          <a:prstGeom prst="rect">
            <a:avLst/>
          </a:prstGeom>
          <a:noFill/>
          <a:ln/>
        </p:spPr>
        <p:txBody>
          <a:bodyPr wrap="square" lIns="0" tIns="0" rIns="0" bIns="0" rtlCol="0" anchor="t"/>
          <a:lstStyle/>
          <a:p>
            <a:pPr indent="0" marL="0">
              <a:buNone/>
            </a:pPr>
            <a:r>
              <a:rPr lang="en-US" sz="1300" dirty="0">
                <a:solidFill>
                  <a:schemeClr val="tx2"/>
                </a:solidFill>
              </a:rPr>
              <a:t>El texto no autoriza borrar: acceso, corrección, exportación, baja de marketing. steps_json = [].</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Vocabulario: 15 operaciones en 3 fases</a:t>
            </a:r>
            <a:endParaRPr lang="en-US" sz="3200" dirty="0"/>
          </a:p>
        </p:txBody>
      </p:sp>
      <p:sp>
        <p:nvSpPr>
          <p:cNvPr id="4" name="Shape 1"/>
          <p:cNvSpPr/>
          <p:nvPr/>
        </p:nvSpPr>
        <p:spPr>
          <a:xfrm>
            <a:off x="548640" y="1325880"/>
            <a:ext cx="3545738" cy="4160520"/>
          </a:xfrm>
          <a:prstGeom prst="roundRect">
            <a:avLst>
              <a:gd name="adj" fmla="val 2579"/>
            </a:avLst>
          </a:prstGeom>
          <a:solidFill>
            <a:schemeClr val="bg2"/>
          </a:solidFill>
          <a:ln w="9525">
            <a:solidFill>
              <a:schemeClr val="bg2"/>
            </a:solidFill>
            <a:prstDash val="solid"/>
          </a:ln>
        </p:spPr>
      </p:sp>
      <p:sp>
        <p:nvSpPr>
          <p:cNvPr id="5" name="Shape 2"/>
          <p:cNvSpPr/>
          <p:nvPr/>
        </p:nvSpPr>
        <p:spPr>
          <a:xfrm>
            <a:off x="685800" y="1463040"/>
            <a:ext cx="3271418" cy="731520"/>
          </a:xfrm>
          <a:prstGeom prst="roundRect">
            <a:avLst>
              <a:gd name="adj" fmla="val 10000"/>
            </a:avLst>
          </a:prstGeom>
          <a:solidFill>
            <a:schemeClr val="accent2"/>
          </a:solidFill>
          <a:ln w="9525">
            <a:solidFill>
              <a:schemeClr val="accent2"/>
            </a:solidFill>
            <a:prstDash val="solid"/>
          </a:ln>
        </p:spPr>
      </p:sp>
      <p:sp>
        <p:nvSpPr>
          <p:cNvPr id="6" name="Text 3"/>
          <p:cNvSpPr txBox="1"/>
          <p:nvPr/>
        </p:nvSpPr>
        <p:spPr>
          <a:xfrm>
            <a:off x="868680" y="1463040"/>
            <a:ext cx="2905658" cy="731520"/>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FINDING</a:t>
            </a:r>
            <a:endParaRPr lang="en-US" sz="1400" dirty="0"/>
          </a:p>
          <a:p>
            <a:pPr indent="0" marL="0">
              <a:buNone/>
            </a:pPr>
            <a:r>
              <a:rPr lang="en-US" sz="1200" dirty="0">
                <a:solidFill>
                  <a:schemeClr val="bg1"/>
                </a:solidFill>
              </a:rPr>
              <a:t>4 hallazgos</a:t>
            </a:r>
            <a:endParaRPr lang="en-US" sz="1400" dirty="0"/>
          </a:p>
        </p:txBody>
      </p:sp>
      <p:sp>
        <p:nvSpPr>
          <p:cNvPr id="7" name="Text 4"/>
          <p:cNvSpPr txBox="1"/>
          <p:nvPr/>
        </p:nvSpPr>
        <p:spPr>
          <a:xfrm>
            <a:off x="822960" y="2331720"/>
            <a:ext cx="3088538" cy="306324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REPORT_REMAINING_RECORD</a:t>
            </a:r>
            <a:endParaRPr lang="en-US" sz="1200" dirty="0"/>
          </a:p>
          <a:p>
            <a:pPr indent="0" marL="0">
              <a:spcAft>
                <a:spcPts val="700"/>
              </a:spcAft>
              <a:buNone/>
            </a:pPr>
            <a:r>
              <a:rPr lang="en-US" sz="1200" dirty="0">
                <a:solidFill>
                  <a:schemeClr val="tx2"/>
                </a:solidFill>
              </a:rPr>
              <a:t>PRESENT · queda un registro que debía borrarse</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REPORT_EXPOSED_PII</a:t>
            </a:r>
            <a:endParaRPr lang="en-US" sz="1200" dirty="0"/>
          </a:p>
          <a:p>
            <a:pPr indent="0" marL="0">
              <a:spcAft>
                <a:spcPts val="700"/>
              </a:spcAft>
              <a:buNone/>
            </a:pPr>
            <a:r>
              <a:rPr lang="en-US" sz="1200" dirty="0">
                <a:solidFill>
                  <a:schemeClr val="tx2"/>
                </a:solidFill>
              </a:rPr>
              <a:t>PRESENT · el registro sigue exponiendo identificadores</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REPORT_ACTIVE_DATA_FLOW</a:t>
            </a:r>
            <a:endParaRPr lang="en-US" sz="1200" dirty="0"/>
          </a:p>
          <a:p>
            <a:pPr indent="0" marL="0">
              <a:spcAft>
                <a:spcPts val="700"/>
              </a:spcAft>
              <a:buNone/>
            </a:pPr>
            <a:r>
              <a:rPr lang="en-US" sz="1200" dirty="0">
                <a:solidFill>
                  <a:schemeClr val="tx2"/>
                </a:solidFill>
              </a:rPr>
              <a:t>ACTIVE · un proceso puede copiar o recrear el dato</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REPORT_RESTORE_RISK</a:t>
            </a:r>
            <a:endParaRPr lang="en-US" sz="1200" dirty="0"/>
          </a:p>
          <a:p>
            <a:pPr indent="0" marL="0">
              <a:spcAft>
                <a:spcPts val="700"/>
              </a:spcAft>
              <a:buNone/>
            </a:pPr>
            <a:r>
              <a:rPr lang="en-US" sz="1200" dirty="0">
                <a:solidFill>
                  <a:schemeClr val="tx2"/>
                </a:solidFill>
              </a:rPr>
              <a:t>ACTIVE · un backup puede restaurarlo</a:t>
            </a:r>
            <a:endParaRPr lang="en-US" sz="1200" dirty="0"/>
          </a:p>
        </p:txBody>
      </p:sp>
      <p:sp>
        <p:nvSpPr>
          <p:cNvPr id="8" name="Shape 5"/>
          <p:cNvSpPr/>
          <p:nvPr/>
        </p:nvSpPr>
        <p:spPr>
          <a:xfrm>
            <a:off x="4322978" y="1325880"/>
            <a:ext cx="3545738" cy="4160520"/>
          </a:xfrm>
          <a:prstGeom prst="roundRect">
            <a:avLst>
              <a:gd name="adj" fmla="val 2579"/>
            </a:avLst>
          </a:prstGeom>
          <a:solidFill>
            <a:schemeClr val="bg2"/>
          </a:solidFill>
          <a:ln w="9525">
            <a:solidFill>
              <a:schemeClr val="bg2"/>
            </a:solidFill>
            <a:prstDash val="solid"/>
          </a:ln>
        </p:spPr>
      </p:sp>
      <p:sp>
        <p:nvSpPr>
          <p:cNvPr id="9" name="Shape 6"/>
          <p:cNvSpPr/>
          <p:nvPr/>
        </p:nvSpPr>
        <p:spPr>
          <a:xfrm>
            <a:off x="4460138" y="1463040"/>
            <a:ext cx="3271418" cy="731520"/>
          </a:xfrm>
          <a:prstGeom prst="roundRect">
            <a:avLst>
              <a:gd name="adj" fmla="val 10000"/>
            </a:avLst>
          </a:prstGeom>
          <a:solidFill>
            <a:schemeClr val="accent6"/>
          </a:solidFill>
          <a:ln w="9525">
            <a:solidFill>
              <a:schemeClr val="accent6"/>
            </a:solidFill>
            <a:prstDash val="solid"/>
          </a:ln>
        </p:spPr>
      </p:sp>
      <p:sp>
        <p:nvSpPr>
          <p:cNvPr id="10" name="Text 7"/>
          <p:cNvSpPr txBox="1"/>
          <p:nvPr/>
        </p:nvSpPr>
        <p:spPr>
          <a:xfrm>
            <a:off x="4643018" y="1463040"/>
            <a:ext cx="2905658" cy="731520"/>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REMEDIATION</a:t>
            </a:r>
            <a:endParaRPr lang="en-US" sz="1400" dirty="0"/>
          </a:p>
          <a:p>
            <a:pPr indent="0" marL="0">
              <a:buNone/>
            </a:pPr>
            <a:r>
              <a:rPr lang="en-US" sz="1200" dirty="0">
                <a:solidFill>
                  <a:schemeClr val="bg1"/>
                </a:solidFill>
              </a:rPr>
              <a:t>5 acciones</a:t>
            </a:r>
            <a:endParaRPr lang="en-US" sz="1400" dirty="0"/>
          </a:p>
        </p:txBody>
      </p:sp>
      <p:sp>
        <p:nvSpPr>
          <p:cNvPr id="11" name="Text 8"/>
          <p:cNvSpPr txBox="1"/>
          <p:nvPr/>
        </p:nvSpPr>
        <p:spPr>
          <a:xfrm>
            <a:off x="4597298" y="2331720"/>
            <a:ext cx="3088538" cy="306324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DISABLE_DATA_FLOW</a:t>
            </a:r>
            <a:endParaRPr lang="en-US" sz="1200" dirty="0"/>
          </a:p>
          <a:p>
            <a:pPr indent="0" marL="0">
              <a:spcAft>
                <a:spcPts val="700"/>
              </a:spcAft>
              <a:buNone/>
            </a:pPr>
            <a:r>
              <a:rPr lang="en-US" sz="1200" dirty="0">
                <a:solidFill>
                  <a:schemeClr val="tx2"/>
                </a:solidFill>
              </a:rPr>
              <a:t>DISABLED · detener el proceso</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BLOCK_RESTORE</a:t>
            </a:r>
            <a:endParaRPr lang="en-US" sz="1200" dirty="0"/>
          </a:p>
          <a:p>
            <a:pPr indent="0" marL="0">
              <a:spcAft>
                <a:spcPts val="700"/>
              </a:spcAft>
              <a:buNone/>
            </a:pPr>
            <a:r>
              <a:rPr lang="en-US" sz="1200" dirty="0">
                <a:solidFill>
                  <a:schemeClr val="tx2"/>
                </a:solidFill>
              </a:rPr>
              <a:t>BLOCKED · impedir la restauración</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DELETE_RECORD</a:t>
            </a:r>
            <a:endParaRPr lang="en-US" sz="1200" dirty="0"/>
          </a:p>
          <a:p>
            <a:pPr indent="0" marL="0">
              <a:spcAft>
                <a:spcPts val="700"/>
              </a:spcAft>
              <a:buNone/>
            </a:pPr>
            <a:r>
              <a:rPr lang="en-US" sz="1200" dirty="0">
                <a:solidFill>
                  <a:schemeClr val="tx2"/>
                </a:solidFill>
              </a:rPr>
              <a:t>ABSENT · borrar el registro entero</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REDACT_RECORD</a:t>
            </a:r>
            <a:endParaRPr lang="en-US" sz="1200" dirty="0"/>
          </a:p>
          <a:p>
            <a:pPr indent="0" marL="0">
              <a:spcAft>
                <a:spcPts val="700"/>
              </a:spcAft>
              <a:buNone/>
            </a:pPr>
            <a:r>
              <a:rPr lang="en-US" sz="1200" dirty="0">
                <a:solidFill>
                  <a:schemeClr val="tx2"/>
                </a:solidFill>
              </a:rPr>
              <a:t>REDACTED · quitar los campos prohibidos</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ANONYMIZE_RECORD</a:t>
            </a:r>
            <a:endParaRPr lang="en-US" sz="1200" dirty="0"/>
          </a:p>
          <a:p>
            <a:pPr indent="0" marL="0">
              <a:spcAft>
                <a:spcPts val="700"/>
              </a:spcAft>
              <a:buNone/>
            </a:pPr>
            <a:r>
              <a:rPr lang="en-US" sz="1200" dirty="0">
                <a:solidFill>
                  <a:schemeClr val="tx2"/>
                </a:solidFill>
              </a:rPr>
              <a:t>ANONYMIZED · desvincularlo de la persona</a:t>
            </a:r>
            <a:endParaRPr lang="en-US" sz="1200" dirty="0"/>
          </a:p>
        </p:txBody>
      </p:sp>
      <p:sp>
        <p:nvSpPr>
          <p:cNvPr id="12" name="Shape 9"/>
          <p:cNvSpPr/>
          <p:nvPr/>
        </p:nvSpPr>
        <p:spPr>
          <a:xfrm>
            <a:off x="8097317" y="1325880"/>
            <a:ext cx="3545738" cy="4160520"/>
          </a:xfrm>
          <a:prstGeom prst="roundRect">
            <a:avLst>
              <a:gd name="adj" fmla="val 2579"/>
            </a:avLst>
          </a:prstGeom>
          <a:solidFill>
            <a:schemeClr val="bg2"/>
          </a:solidFill>
          <a:ln w="9525">
            <a:solidFill>
              <a:schemeClr val="bg2"/>
            </a:solidFill>
            <a:prstDash val="solid"/>
          </a:ln>
        </p:spPr>
      </p:sp>
      <p:sp>
        <p:nvSpPr>
          <p:cNvPr id="13" name="Shape 10"/>
          <p:cNvSpPr/>
          <p:nvPr/>
        </p:nvSpPr>
        <p:spPr>
          <a:xfrm>
            <a:off x="8234477" y="1463040"/>
            <a:ext cx="3271418" cy="731520"/>
          </a:xfrm>
          <a:prstGeom prst="roundRect">
            <a:avLst>
              <a:gd name="adj" fmla="val 10000"/>
            </a:avLst>
          </a:prstGeom>
          <a:solidFill>
            <a:schemeClr val="accent1"/>
          </a:solidFill>
          <a:ln w="9525">
            <a:solidFill>
              <a:schemeClr val="accent1"/>
            </a:solidFill>
            <a:prstDash val="solid"/>
          </a:ln>
        </p:spPr>
      </p:sp>
      <p:sp>
        <p:nvSpPr>
          <p:cNvPr id="14" name="Text 11"/>
          <p:cNvSpPr txBox="1"/>
          <p:nvPr/>
        </p:nvSpPr>
        <p:spPr>
          <a:xfrm>
            <a:off x="8417357" y="1463040"/>
            <a:ext cx="2905658" cy="731520"/>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VERIFICATION</a:t>
            </a:r>
            <a:endParaRPr lang="en-US" sz="1400" dirty="0"/>
          </a:p>
          <a:p>
            <a:pPr indent="0" marL="0">
              <a:buNone/>
            </a:pPr>
            <a:r>
              <a:rPr lang="en-US" sz="1200" dirty="0">
                <a:solidFill>
                  <a:schemeClr val="bg1"/>
                </a:solidFill>
              </a:rPr>
              <a:t>6 comprobaciones</a:t>
            </a:r>
            <a:endParaRPr lang="en-US" sz="1400" dirty="0"/>
          </a:p>
        </p:txBody>
      </p:sp>
      <p:sp>
        <p:nvSpPr>
          <p:cNvPr id="15" name="Text 12"/>
          <p:cNvSpPr txBox="1"/>
          <p:nvPr/>
        </p:nvSpPr>
        <p:spPr>
          <a:xfrm>
            <a:off x="8371637" y="2331720"/>
            <a:ext cx="3088538" cy="306324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VERIFY_RECORD_ABSENT</a:t>
            </a:r>
            <a:endParaRPr lang="en-US" sz="1200" dirty="0"/>
          </a:p>
          <a:p>
            <a:pPr indent="0" marL="0">
              <a:spcAft>
                <a:spcPts val="700"/>
              </a:spcAft>
              <a:buNone/>
            </a:pPr>
            <a:r>
              <a:rPr lang="en-US" sz="1200" dirty="0">
                <a:solidFill>
                  <a:schemeClr val="tx2"/>
                </a:solidFill>
              </a:rPr>
              <a:t>ABSENT</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VERIFY_RECORD_PRESENT</a:t>
            </a:r>
            <a:endParaRPr lang="en-US" sz="1200" dirty="0"/>
          </a:p>
          <a:p>
            <a:pPr indent="0" marL="0">
              <a:spcAft>
                <a:spcPts val="700"/>
              </a:spcAft>
              <a:buNone/>
            </a:pPr>
            <a:r>
              <a:rPr lang="en-US" sz="1200" dirty="0">
                <a:solidFill>
                  <a:schemeClr val="tx2"/>
                </a:solidFill>
              </a:rPr>
              <a:t>PRESENT · lo retenido sigue ahí</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VERIFY_RECORD_REDACTED</a:t>
            </a:r>
            <a:endParaRPr lang="en-US" sz="1200" dirty="0"/>
          </a:p>
          <a:p>
            <a:pPr indent="0" marL="0">
              <a:spcAft>
                <a:spcPts val="700"/>
              </a:spcAft>
              <a:buNone/>
            </a:pPr>
            <a:r>
              <a:rPr lang="en-US" sz="1200" dirty="0">
                <a:solidFill>
                  <a:schemeClr val="tx2"/>
                </a:solidFill>
              </a:rPr>
              <a:t>REDACTED</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VERIFY_RECORD_ANONYMIZED</a:t>
            </a:r>
            <a:endParaRPr lang="en-US" sz="1200" dirty="0"/>
          </a:p>
          <a:p>
            <a:pPr indent="0" marL="0">
              <a:spcAft>
                <a:spcPts val="700"/>
              </a:spcAft>
              <a:buNone/>
            </a:pPr>
            <a:r>
              <a:rPr lang="en-US" sz="1200" dirty="0">
                <a:solidFill>
                  <a:schemeClr val="tx2"/>
                </a:solidFill>
              </a:rPr>
              <a:t>ANONYMIZED</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VERIFY_DATA_FLOW_DISABLED</a:t>
            </a:r>
            <a:endParaRPr lang="en-US" sz="1200" dirty="0"/>
          </a:p>
          <a:p>
            <a:pPr indent="0" marL="0">
              <a:spcAft>
                <a:spcPts val="700"/>
              </a:spcAft>
              <a:buNone/>
            </a:pPr>
            <a:r>
              <a:rPr lang="en-US" sz="1200" dirty="0">
                <a:solidFill>
                  <a:schemeClr val="tx2"/>
                </a:solidFill>
              </a:rPr>
              <a:t>DISABLED</a:t>
            </a:r>
            <a:endParaRPr lang="en-US" sz="1200" dirty="0"/>
          </a:p>
          <a:p>
            <a:pPr indent="0" marL="0">
              <a:buNone/>
            </a:pPr>
            <a:r>
              <a:rPr lang="en-US" sz="1200" b="1" dirty="0">
                <a:solidFill>
                  <a:schemeClr val="tx1"/>
                </a:solidFill>
                <a:latin typeface="Courier New" pitchFamily="34" charset="0"/>
                <a:ea typeface="Courier New" pitchFamily="34" charset="-122"/>
                <a:cs typeface="Courier New" pitchFamily="34" charset="-120"/>
              </a:rPr>
              <a:t>VERIFY_RESTORE_BLOCKED</a:t>
            </a:r>
            <a:endParaRPr lang="en-US" sz="1200" dirty="0"/>
          </a:p>
          <a:p>
            <a:pPr indent="0" marL="0">
              <a:spcAft>
                <a:spcPts val="700"/>
              </a:spcAft>
              <a:buNone/>
            </a:pPr>
            <a:r>
              <a:rPr lang="en-US" sz="1200" dirty="0">
                <a:solidFill>
                  <a:schemeClr val="tx2"/>
                </a:solidFill>
              </a:rPr>
              <a:t>BLOCKED</a:t>
            </a:r>
            <a:endParaRPr lang="en-US" sz="1200" dirty="0"/>
          </a:p>
        </p:txBody>
      </p:sp>
      <p:sp>
        <p:nvSpPr>
          <p:cNvPr id="16" name="Shape 13"/>
          <p:cNvSpPr/>
          <p:nvPr/>
        </p:nvSpPr>
        <p:spPr>
          <a:xfrm>
            <a:off x="548640" y="5669280"/>
            <a:ext cx="11094415" cy="566928"/>
          </a:xfrm>
          <a:prstGeom prst="roundRect">
            <a:avLst>
              <a:gd name="adj" fmla="val 16129"/>
            </a:avLst>
          </a:prstGeom>
          <a:solidFill>
            <a:schemeClr val="bg1"/>
          </a:solidFill>
          <a:ln w="12700">
            <a:solidFill>
              <a:srgbClr val="D3DCE1"/>
            </a:solidFill>
            <a:prstDash val="solid"/>
          </a:ln>
        </p:spPr>
      </p:sp>
      <p:pic>
        <p:nvPicPr>
          <p:cNvPr id="17" name="Image 0" descr="preencoded.png">    </p:cNvPr>
          <p:cNvPicPr>
            <a:picLocks noChangeAspect="1"/>
          </p:cNvPicPr>
          <p:nvPr/>
        </p:nvPicPr>
        <p:blipFill>
          <a:blip r:embed="rId1"/>
          <a:stretch>
            <a:fillRect/>
          </a:stretch>
        </p:blipFill>
        <p:spPr>
          <a:xfrm>
            <a:off x="731520" y="5760720"/>
            <a:ext cx="384048" cy="384048"/>
          </a:xfrm>
          <a:prstGeom prst="rect">
            <a:avLst/>
          </a:prstGeom>
        </p:spPr>
      </p:pic>
      <p:sp>
        <p:nvSpPr>
          <p:cNvPr id="18" name="Text 14"/>
          <p:cNvSpPr txBox="1"/>
          <p:nvPr/>
        </p:nvSpPr>
        <p:spPr>
          <a:xfrm>
            <a:off x="1280160" y="5669280"/>
            <a:ext cx="10180015" cy="566928"/>
          </a:xfrm>
          <a:prstGeom prst="rect">
            <a:avLst/>
          </a:prstGeom>
          <a:noFill/>
          <a:ln/>
        </p:spPr>
        <p:txBody>
          <a:bodyPr wrap="square" lIns="0" tIns="0" rIns="0" bIns="0" rtlCol="0" anchor="ctr"/>
          <a:lstStyle/>
          <a:p>
            <a:pPr indent="0" marL="0">
              <a:buNone/>
            </a:pPr>
            <a:r>
              <a:rPr lang="en-US" sz="1400" dirty="0">
                <a:solidFill>
                  <a:schemeClr val="tx2"/>
                </a:solidFill>
              </a:rPr>
              <a:t>Orden obligatorio: fase → orden de esta tabla → system_id → resource_id. Así se cortan los flujos y las restauraciones antes de tocar los registros.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02</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Los datos de entrada</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Nueve archivos CSV y 94 evidencias en seis formatos. Datos globales con señuelos: nada dice a qué caso pertenece cada archivo.</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Nueve archivos y 94 evidencias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2926080"/>
                <a:gridCol w="731520"/>
                <a:gridCol w="3200400"/>
              </a:tblGrid>
              <a:tr h="548640">
                <a:tc>
                  <a:txBody>
                    <a:bodyPr/>
                    <a:lstStyle/>
                    <a:p>
                      <a:pPr indent="0" marL="0">
                        <a:buNone/>
                      </a:pPr>
                      <a:r>
                        <a:rPr lang="en-US" sz="1300" b="1" dirty="0">
                          <a:solidFill>
                            <a:schemeClr val="bg1"/>
                          </a:solidFill>
                        </a:rPr>
                        <a:t>Archivo</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Filas</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Para qué sirve</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deletion_requests.csv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518</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solicitudes a auditar</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sample_*.csv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32</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muestras con la respuesta correcta</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user_identities.csv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850</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identidad actual: user_id, nombre, email, teléfono, hash</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user_audit_log.csv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306</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cambios históricos de email, teléfono y hash</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system_activity.csv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4.011</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eventos globales: afirmaciones, no pruebas</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deletion_rules.csv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15</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trato exigido por categoría de dato</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evidence_files.csv</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94</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manifiesto: file_id, ruta, origen, captured_at</a:t>
                      </a:r>
                      <a:endParaRPr lang="en-US" sz="13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bl>
          </a:graphicData>
        </a:graphic>
      </p:graphicFrame>
      <p:graphicFrame>
        <p:nvGraphicFramePr>
          <p:cNvPr id="5" name="Chart 0" descr=""/>
          <p:cNvGraphicFramePr/>
          <p:nvPr/>
        </p:nvGraphicFramePr>
        <p:xfrm>
          <a:off x="7680960" y="1280160"/>
          <a:ext cx="3959352" cy="3931920"/>
        </p:xfrm>
        <a:graphic xmlns:a="http://schemas.openxmlformats.org/drawingml/2006/main">
          <a:graphicData uri="http://schemas.openxmlformats.org/drawingml/2006/chart">
            <c:chart xmlns:c="http://schemas.openxmlformats.org/drawingml/2006/chart" r:id="rId1"/>
          </a:graphicData>
        </a:graphic>
      </p:graphicFrame>
      <p:sp>
        <p:nvSpPr>
          <p:cNvPr id="6" name="Shape 1"/>
          <p:cNvSpPr/>
          <p:nvPr/>
        </p:nvSpPr>
        <p:spPr>
          <a:xfrm>
            <a:off x="7680960" y="5349240"/>
            <a:ext cx="3959352" cy="868680"/>
          </a:xfrm>
          <a:prstGeom prst="roundRect">
            <a:avLst>
              <a:gd name="adj" fmla="val 10526"/>
            </a:avLst>
          </a:prstGeom>
          <a:solidFill>
            <a:schemeClr val="bg2"/>
          </a:solidFill>
          <a:ln w="9525">
            <a:solidFill>
              <a:schemeClr val="bg2"/>
            </a:solidFill>
            <a:prstDash val="solid"/>
          </a:ln>
        </p:spPr>
      </p:sp>
      <p:sp>
        <p:nvSpPr>
          <p:cNvPr id="7" name="Text 2"/>
          <p:cNvSpPr txBox="1"/>
          <p:nvPr/>
        </p:nvSpPr>
        <p:spPr>
          <a:xfrm>
            <a:off x="7863840" y="5349240"/>
            <a:ext cx="3611880" cy="868680"/>
          </a:xfrm>
          <a:prstGeom prst="rect">
            <a:avLst/>
          </a:prstGeom>
          <a:noFill/>
          <a:ln/>
        </p:spPr>
        <p:txBody>
          <a:bodyPr wrap="square" lIns="0" tIns="0" rIns="0" bIns="0" rtlCol="0" anchor="ctr"/>
          <a:lstStyle/>
          <a:p>
            <a:pPr indent="0" marL="0">
              <a:buNone/>
            </a:pPr>
            <a:r>
              <a:rPr lang="en-US" sz="1300" dirty="0">
                <a:solidFill>
                  <a:schemeClr val="tx2"/>
                </a:solidFill>
              </a:rPr>
              <a:t>El manifiesto no dice a qué caso pertenece cada archivo: hay que conectarlo por su contenido.</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política: 15 reglas, 5 tratos</a:t>
            </a:r>
            <a:endParaRPr lang="en-US" sz="3200" dirty="0"/>
          </a:p>
        </p:txBody>
      </p:sp>
      <p:sp>
        <p:nvSpPr>
          <p:cNvPr id="4" name="Shape 1"/>
          <p:cNvSpPr/>
          <p:nvPr/>
        </p:nvSpPr>
        <p:spPr>
          <a:xfrm>
            <a:off x="548640" y="1325880"/>
            <a:ext cx="2087209" cy="4297680"/>
          </a:xfrm>
          <a:prstGeom prst="roundRect">
            <a:avLst>
              <a:gd name="adj" fmla="val 4381"/>
            </a:avLst>
          </a:prstGeom>
          <a:solidFill>
            <a:schemeClr val="bg2"/>
          </a:solidFill>
          <a:ln w="9525">
            <a:solidFill>
              <a:schemeClr val="bg2"/>
            </a:solidFill>
            <a:prstDash val="solid"/>
          </a:ln>
        </p:spPr>
      </p:sp>
      <p:sp>
        <p:nvSpPr>
          <p:cNvPr id="5" name="Shape 2"/>
          <p:cNvSpPr/>
          <p:nvPr/>
        </p:nvSpPr>
        <p:spPr>
          <a:xfrm>
            <a:off x="731520" y="1508760"/>
            <a:ext cx="640080" cy="6400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872338" y="1649578"/>
            <a:ext cx="358445" cy="358445"/>
          </a:xfrm>
          <a:prstGeom prst="rect">
            <a:avLst/>
          </a:prstGeom>
        </p:spPr>
      </p:pic>
      <p:sp>
        <p:nvSpPr>
          <p:cNvPr id="7" name="Text 3"/>
          <p:cNvSpPr txBox="1"/>
          <p:nvPr/>
        </p:nvSpPr>
        <p:spPr>
          <a:xfrm>
            <a:off x="731520" y="2286000"/>
            <a:ext cx="1721449" cy="411480"/>
          </a:xfrm>
          <a:prstGeom prst="rect">
            <a:avLst/>
          </a:prstGeom>
          <a:noFill/>
          <a:ln/>
        </p:spPr>
        <p:txBody>
          <a:bodyPr wrap="square" lIns="0" tIns="0" rIns="0" bIns="0" rtlCol="0" anchor="t"/>
          <a:lstStyle/>
          <a:p>
            <a:pPr indent="0" marL="0">
              <a:buNone/>
            </a:pPr>
            <a:r>
              <a:rPr lang="en-US" sz="1700" b="1" dirty="0">
                <a:solidFill>
                  <a:schemeClr val="accent2"/>
                </a:solidFill>
                <a:latin typeface="Courier New" pitchFamily="34" charset="0"/>
                <a:ea typeface="Courier New" pitchFamily="34" charset="-122"/>
                <a:cs typeface="Courier New" pitchFamily="34" charset="-120"/>
              </a:rPr>
              <a:t>DELETE</a:t>
            </a:r>
            <a:endParaRPr lang="en-US" sz="1700" dirty="0"/>
          </a:p>
        </p:txBody>
      </p:sp>
      <p:sp>
        <p:nvSpPr>
          <p:cNvPr id="8" name="Text 4"/>
          <p:cNvSpPr txBox="1"/>
          <p:nvPr/>
        </p:nvSpPr>
        <p:spPr>
          <a:xfrm>
            <a:off x="731520" y="2788920"/>
            <a:ext cx="1812889" cy="27432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01 Perfil de usuario</a:t>
            </a:r>
            <a:endParaRPr lang="en-US" sz="1400" dirty="0"/>
          </a:p>
          <a:p>
            <a:pPr marL="177800" indent="-177800">
              <a:spcAft>
                <a:spcPts val="700"/>
              </a:spcAft>
              <a:buSzPct val="100000"/>
              <a:buChar char="•"/>
            </a:pPr>
            <a:r>
              <a:rPr lang="en-US" sz="1400" dirty="0">
                <a:solidFill>
                  <a:schemeClr val="tx1"/>
                </a:solidFill>
              </a:rPr>
              <a:t>02 Identificador secundario</a:t>
            </a:r>
            <a:endParaRPr lang="en-US" sz="1400" dirty="0"/>
          </a:p>
          <a:p>
            <a:pPr marL="177800" indent="-177800">
              <a:spcAft>
                <a:spcPts val="700"/>
              </a:spcAft>
              <a:buSzPct val="100000"/>
              <a:buChar char="•"/>
            </a:pPr>
            <a:r>
              <a:rPr lang="en-US" sz="1400" dirty="0">
                <a:solidFill>
                  <a:schemeClr val="tx1"/>
                </a:solidFill>
              </a:rPr>
              <a:t>03 Índice de búsqueda</a:t>
            </a:r>
            <a:endParaRPr lang="en-US" sz="1400" dirty="0"/>
          </a:p>
          <a:p>
            <a:pPr marL="177800" indent="-177800">
              <a:spcAft>
                <a:spcPts val="700"/>
              </a:spcAft>
              <a:buSzPct val="100000"/>
              <a:buChar char="•"/>
            </a:pPr>
            <a:r>
              <a:rPr lang="en-US" sz="1400" dirty="0">
                <a:solidFill>
                  <a:schemeClr val="tx1"/>
                </a:solidFill>
              </a:rPr>
              <a:t>04 Caché</a:t>
            </a:r>
            <a:endParaRPr lang="en-US" sz="1400" dirty="0"/>
          </a:p>
          <a:p>
            <a:pPr marL="177800" indent="-177800">
              <a:spcAft>
                <a:spcPts val="700"/>
              </a:spcAft>
              <a:buSzPct val="100000"/>
              <a:buChar char="•"/>
            </a:pPr>
            <a:r>
              <a:rPr lang="en-US" sz="1400" dirty="0">
                <a:solidFill>
                  <a:schemeClr val="tx1"/>
                </a:solidFill>
              </a:rPr>
              <a:t>06 Adjunto de soporte</a:t>
            </a:r>
            <a:endParaRPr lang="en-US" sz="1400" dirty="0"/>
          </a:p>
          <a:p>
            <a:pPr marL="177800" indent="-177800">
              <a:spcAft>
                <a:spcPts val="700"/>
              </a:spcAft>
              <a:buSzPct val="100000"/>
              <a:buChar char="•"/>
            </a:pPr>
            <a:r>
              <a:rPr lang="en-US" sz="1400" dirty="0">
                <a:solidFill>
                  <a:schemeClr val="tx1"/>
                </a:solidFill>
              </a:rPr>
              <a:t>09 Exportación</a:t>
            </a:r>
            <a:endParaRPr lang="en-US" sz="1400" dirty="0"/>
          </a:p>
          <a:p>
            <a:pPr marL="177800" indent="-177800">
              <a:spcAft>
                <a:spcPts val="700"/>
              </a:spcAft>
              <a:buSzPct val="100000"/>
              <a:buChar char="•"/>
            </a:pPr>
            <a:r>
              <a:rPr lang="en-US" sz="1400" dirty="0">
                <a:solidFill>
                  <a:schemeClr val="tx1"/>
                </a:solidFill>
              </a:rPr>
              <a:t>10 Perfil de marketing</a:t>
            </a:r>
            <a:endParaRPr lang="en-US" sz="1400" dirty="0"/>
          </a:p>
        </p:txBody>
      </p:sp>
      <p:sp>
        <p:nvSpPr>
          <p:cNvPr id="9" name="Shape 5"/>
          <p:cNvSpPr/>
          <p:nvPr/>
        </p:nvSpPr>
        <p:spPr>
          <a:xfrm>
            <a:off x="2800441" y="1325880"/>
            <a:ext cx="2087209" cy="4297680"/>
          </a:xfrm>
          <a:prstGeom prst="roundRect">
            <a:avLst>
              <a:gd name="adj" fmla="val 4381"/>
            </a:avLst>
          </a:prstGeom>
          <a:solidFill>
            <a:schemeClr val="bg2"/>
          </a:solidFill>
          <a:ln w="9525">
            <a:solidFill>
              <a:schemeClr val="bg2"/>
            </a:solidFill>
            <a:prstDash val="solid"/>
          </a:ln>
        </p:spPr>
      </p:sp>
      <p:sp>
        <p:nvSpPr>
          <p:cNvPr id="10" name="Shape 6"/>
          <p:cNvSpPr/>
          <p:nvPr/>
        </p:nvSpPr>
        <p:spPr>
          <a:xfrm>
            <a:off x="2983321" y="1508760"/>
            <a:ext cx="640080" cy="640080"/>
          </a:xfrm>
          <a:prstGeom prst="ellipse">
            <a:avLst/>
          </a:prstGeom>
          <a:solidFill>
            <a:schemeClr val="accent6"/>
          </a:solidFill>
          <a:ln w="12700">
            <a:solidFill>
              <a:schemeClr val="accent6"/>
            </a:solidFill>
            <a:prstDash val="solid"/>
          </a:ln>
        </p:spPr>
      </p:sp>
      <p:pic>
        <p:nvPicPr>
          <p:cNvPr id="11" name="Image 1" descr="preencoded.png">    </p:cNvPr>
          <p:cNvPicPr>
            <a:picLocks noChangeAspect="1"/>
          </p:cNvPicPr>
          <p:nvPr/>
        </p:nvPicPr>
        <p:blipFill>
          <a:blip r:embed="rId2"/>
          <a:stretch>
            <a:fillRect/>
          </a:stretch>
        </p:blipFill>
        <p:spPr>
          <a:xfrm>
            <a:off x="3124139" y="1649578"/>
            <a:ext cx="358445" cy="358445"/>
          </a:xfrm>
          <a:prstGeom prst="rect">
            <a:avLst/>
          </a:prstGeom>
        </p:spPr>
      </p:pic>
      <p:sp>
        <p:nvSpPr>
          <p:cNvPr id="12" name="Text 7"/>
          <p:cNvSpPr txBox="1"/>
          <p:nvPr/>
        </p:nvSpPr>
        <p:spPr>
          <a:xfrm>
            <a:off x="2983321" y="2286000"/>
            <a:ext cx="1721449" cy="411480"/>
          </a:xfrm>
          <a:prstGeom prst="rect">
            <a:avLst/>
          </a:prstGeom>
          <a:noFill/>
          <a:ln/>
        </p:spPr>
        <p:txBody>
          <a:bodyPr wrap="square" lIns="0" tIns="0" rIns="0" bIns="0" rtlCol="0" anchor="t"/>
          <a:lstStyle/>
          <a:p>
            <a:pPr indent="0" marL="0">
              <a:buNone/>
            </a:pPr>
            <a:r>
              <a:rPr lang="en-US" sz="1700" b="1" dirty="0">
                <a:solidFill>
                  <a:schemeClr val="accent6"/>
                </a:solidFill>
                <a:latin typeface="Courier New" pitchFamily="34" charset="0"/>
                <a:ea typeface="Courier New" pitchFamily="34" charset="-122"/>
                <a:cs typeface="Courier New" pitchFamily="34" charset="-120"/>
              </a:rPr>
              <a:t>REDACT</a:t>
            </a:r>
            <a:endParaRPr lang="en-US" sz="1700" dirty="0"/>
          </a:p>
        </p:txBody>
      </p:sp>
      <p:sp>
        <p:nvSpPr>
          <p:cNvPr id="13" name="Text 8"/>
          <p:cNvSpPr txBox="1"/>
          <p:nvPr/>
        </p:nvSpPr>
        <p:spPr>
          <a:xfrm>
            <a:off x="2983321" y="2788920"/>
            <a:ext cx="1812889" cy="27432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05 Mensaje de soporte con contexto compartido</a:t>
            </a:r>
            <a:endParaRPr lang="en-US" sz="1400" dirty="0"/>
          </a:p>
          <a:p>
            <a:pPr marL="177800" indent="-177800">
              <a:spcAft>
                <a:spcPts val="700"/>
              </a:spcAft>
              <a:buSzPct val="100000"/>
              <a:buChar char="•"/>
            </a:pPr>
            <a:r>
              <a:rPr lang="en-US" sz="1400" dirty="0">
                <a:solidFill>
                  <a:schemeClr val="tx1"/>
                </a:solidFill>
              </a:rPr>
              <a:t>11 Log de entrega de email</a:t>
            </a:r>
            <a:endParaRPr lang="en-US" sz="1400" dirty="0"/>
          </a:p>
          <a:p>
            <a:pPr marL="177800" indent="-177800">
              <a:spcAft>
                <a:spcPts val="700"/>
              </a:spcAft>
              <a:buSzPct val="100000"/>
              <a:buChar char="•"/>
            </a:pPr>
            <a:r>
              <a:rPr lang="en-US" sz="1400" dirty="0">
                <a:solidFill>
                  <a:schemeClr val="tx1"/>
                </a:solidFill>
              </a:rPr>
              <a:t>15 Tombstone: queda solo el user_id</a:t>
            </a:r>
            <a:endParaRPr lang="en-US" sz="1400" dirty="0"/>
          </a:p>
        </p:txBody>
      </p:sp>
      <p:sp>
        <p:nvSpPr>
          <p:cNvPr id="14" name="Shape 9"/>
          <p:cNvSpPr/>
          <p:nvPr/>
        </p:nvSpPr>
        <p:spPr>
          <a:xfrm>
            <a:off x="5052243" y="1325880"/>
            <a:ext cx="2087209" cy="4297680"/>
          </a:xfrm>
          <a:prstGeom prst="roundRect">
            <a:avLst>
              <a:gd name="adj" fmla="val 4381"/>
            </a:avLst>
          </a:prstGeom>
          <a:solidFill>
            <a:schemeClr val="bg2"/>
          </a:solidFill>
          <a:ln w="9525">
            <a:solidFill>
              <a:schemeClr val="bg2"/>
            </a:solidFill>
            <a:prstDash val="solid"/>
          </a:ln>
        </p:spPr>
      </p:sp>
      <p:sp>
        <p:nvSpPr>
          <p:cNvPr id="15" name="Shape 10"/>
          <p:cNvSpPr/>
          <p:nvPr/>
        </p:nvSpPr>
        <p:spPr>
          <a:xfrm>
            <a:off x="5235123" y="1508760"/>
            <a:ext cx="640080" cy="640080"/>
          </a:xfrm>
          <a:prstGeom prst="ellipse">
            <a:avLst/>
          </a:prstGeom>
          <a:solidFill>
            <a:schemeClr val="accent3"/>
          </a:solidFill>
          <a:ln w="12700">
            <a:solidFill>
              <a:schemeClr val="accent3"/>
            </a:solidFill>
            <a:prstDash val="solid"/>
          </a:ln>
        </p:spPr>
      </p:sp>
      <p:pic>
        <p:nvPicPr>
          <p:cNvPr id="16" name="Image 2" descr="preencoded.png">    </p:cNvPr>
          <p:cNvPicPr>
            <a:picLocks noChangeAspect="1"/>
          </p:cNvPicPr>
          <p:nvPr/>
        </p:nvPicPr>
        <p:blipFill>
          <a:blip r:embed="rId3"/>
          <a:stretch>
            <a:fillRect/>
          </a:stretch>
        </p:blipFill>
        <p:spPr>
          <a:xfrm>
            <a:off x="5375940" y="1649578"/>
            <a:ext cx="358445" cy="358445"/>
          </a:xfrm>
          <a:prstGeom prst="rect">
            <a:avLst/>
          </a:prstGeom>
        </p:spPr>
      </p:pic>
      <p:sp>
        <p:nvSpPr>
          <p:cNvPr id="17" name="Text 11"/>
          <p:cNvSpPr txBox="1"/>
          <p:nvPr/>
        </p:nvSpPr>
        <p:spPr>
          <a:xfrm>
            <a:off x="5235123" y="2286000"/>
            <a:ext cx="1721449" cy="411480"/>
          </a:xfrm>
          <a:prstGeom prst="rect">
            <a:avLst/>
          </a:prstGeom>
          <a:noFill/>
          <a:ln/>
        </p:spPr>
        <p:txBody>
          <a:bodyPr wrap="square" lIns="0" tIns="0" rIns="0" bIns="0" rtlCol="0" anchor="t"/>
          <a:lstStyle/>
          <a:p>
            <a:pPr indent="0" marL="0">
              <a:buNone/>
            </a:pPr>
            <a:r>
              <a:rPr lang="en-US" sz="1700" b="1" dirty="0">
                <a:solidFill>
                  <a:schemeClr val="tx1"/>
                </a:solidFill>
                <a:latin typeface="Courier New" pitchFamily="34" charset="0"/>
                <a:ea typeface="Courier New" pitchFamily="34" charset="-122"/>
                <a:cs typeface="Courier New" pitchFamily="34" charset="-120"/>
              </a:rPr>
              <a:t>ANONYMIZE</a:t>
            </a:r>
            <a:endParaRPr lang="en-US" sz="1700" dirty="0"/>
          </a:p>
        </p:txBody>
      </p:sp>
      <p:sp>
        <p:nvSpPr>
          <p:cNvPr id="18" name="Text 12"/>
          <p:cNvSpPr txBox="1"/>
          <p:nvPr/>
        </p:nvSpPr>
        <p:spPr>
          <a:xfrm>
            <a:off x="5235123" y="2788920"/>
            <a:ext cx="1812889" cy="27432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07 Perfil de analítica atribuible</a:t>
            </a:r>
            <a:endParaRPr lang="en-US" sz="1400" dirty="0"/>
          </a:p>
          <a:p>
            <a:pPr marL="177800" indent="-177800">
              <a:spcAft>
                <a:spcPts val="700"/>
              </a:spcAft>
              <a:buSzPct val="100000"/>
              <a:buChar char="•"/>
            </a:pPr>
            <a:r>
              <a:rPr lang="en-US" sz="1400" dirty="0">
                <a:solidFill>
                  <a:schemeClr val="tx1"/>
                </a:solidFill>
              </a:rPr>
              <a:t>08 Telemetría de producto atribuible</a:t>
            </a:r>
            <a:endParaRPr lang="en-US" sz="1400" dirty="0"/>
          </a:p>
        </p:txBody>
      </p:sp>
      <p:sp>
        <p:nvSpPr>
          <p:cNvPr id="19" name="Shape 13"/>
          <p:cNvSpPr/>
          <p:nvPr/>
        </p:nvSpPr>
        <p:spPr>
          <a:xfrm>
            <a:off x="7304044" y="1325880"/>
            <a:ext cx="2087209" cy="4297680"/>
          </a:xfrm>
          <a:prstGeom prst="roundRect">
            <a:avLst>
              <a:gd name="adj" fmla="val 4381"/>
            </a:avLst>
          </a:prstGeom>
          <a:solidFill>
            <a:schemeClr val="bg2"/>
          </a:solidFill>
          <a:ln w="9525">
            <a:solidFill>
              <a:schemeClr val="bg2"/>
            </a:solidFill>
            <a:prstDash val="solid"/>
          </a:ln>
        </p:spPr>
      </p:sp>
      <p:sp>
        <p:nvSpPr>
          <p:cNvPr id="20" name="Shape 14"/>
          <p:cNvSpPr/>
          <p:nvPr/>
        </p:nvSpPr>
        <p:spPr>
          <a:xfrm>
            <a:off x="7486924" y="1508760"/>
            <a:ext cx="640080" cy="64008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7627742" y="1649578"/>
            <a:ext cx="358445" cy="358445"/>
          </a:xfrm>
          <a:prstGeom prst="rect">
            <a:avLst/>
          </a:prstGeom>
        </p:spPr>
      </p:pic>
      <p:sp>
        <p:nvSpPr>
          <p:cNvPr id="22" name="Text 15"/>
          <p:cNvSpPr txBox="1"/>
          <p:nvPr/>
        </p:nvSpPr>
        <p:spPr>
          <a:xfrm>
            <a:off x="7486924" y="2286000"/>
            <a:ext cx="1721449" cy="411480"/>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RETAIN</a:t>
            </a:r>
            <a:endParaRPr lang="en-US" sz="1700" dirty="0"/>
          </a:p>
        </p:txBody>
      </p:sp>
      <p:sp>
        <p:nvSpPr>
          <p:cNvPr id="23" name="Text 16"/>
          <p:cNvSpPr txBox="1"/>
          <p:nvPr/>
        </p:nvSpPr>
        <p:spPr>
          <a:xfrm>
            <a:off x="7486924" y="2788920"/>
            <a:ext cx="1812889" cy="27432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12 Log de auditoría de seguridad</a:t>
            </a:r>
            <a:endParaRPr lang="en-US" sz="1400" dirty="0"/>
          </a:p>
          <a:p>
            <a:pPr marL="177800" indent="-177800">
              <a:spcAft>
                <a:spcPts val="700"/>
              </a:spcAft>
              <a:buSzPct val="100000"/>
              <a:buChar char="•"/>
            </a:pPr>
            <a:r>
              <a:rPr lang="en-US" sz="1400" dirty="0">
                <a:solidFill>
                  <a:schemeClr val="tx1"/>
                </a:solidFill>
              </a:rPr>
              <a:t>13 Retención legal activa</a:t>
            </a:r>
            <a:endParaRPr lang="en-US" sz="1400" dirty="0"/>
          </a:p>
          <a:p>
            <a:pPr marL="177800" indent="-177800">
              <a:spcAft>
                <a:spcPts val="700"/>
              </a:spcAft>
              <a:buSzPct val="100000"/>
              <a:buChar char="•"/>
            </a:pPr>
            <a:r>
              <a:rPr lang="en-US" sz="1400" dirty="0">
                <a:solidFill>
                  <a:schemeClr val="tx1"/>
                </a:solidFill>
              </a:rPr>
              <a:t>14 Backup: se conserva y se bloquea la restauración</a:t>
            </a:r>
            <a:endParaRPr lang="en-US" sz="1400" dirty="0"/>
          </a:p>
        </p:txBody>
      </p:sp>
      <p:sp>
        <p:nvSpPr>
          <p:cNvPr id="24" name="Shape 17"/>
          <p:cNvSpPr/>
          <p:nvPr/>
        </p:nvSpPr>
        <p:spPr>
          <a:xfrm>
            <a:off x="9555846" y="1325880"/>
            <a:ext cx="2087209" cy="4297680"/>
          </a:xfrm>
          <a:prstGeom prst="roundRect">
            <a:avLst>
              <a:gd name="adj" fmla="val 4381"/>
            </a:avLst>
          </a:prstGeom>
          <a:solidFill>
            <a:schemeClr val="bg2"/>
          </a:solidFill>
          <a:ln w="9525">
            <a:solidFill>
              <a:schemeClr val="bg2"/>
            </a:solidFill>
            <a:prstDash val="solid"/>
          </a:ln>
        </p:spPr>
      </p:sp>
      <p:sp>
        <p:nvSpPr>
          <p:cNvPr id="25" name="Shape 18"/>
          <p:cNvSpPr/>
          <p:nvPr/>
        </p:nvSpPr>
        <p:spPr>
          <a:xfrm>
            <a:off x="9738726" y="1508760"/>
            <a:ext cx="640080" cy="640080"/>
          </a:xfrm>
          <a:prstGeom prst="ellipse">
            <a:avLst/>
          </a:prstGeom>
          <a:solidFill>
            <a:schemeClr val="tx2"/>
          </a:solidFill>
          <a:ln w="12700">
            <a:solidFill>
              <a:schemeClr val="tx2"/>
            </a:solidFill>
            <a:prstDash val="solid"/>
          </a:ln>
        </p:spPr>
      </p:sp>
      <p:pic>
        <p:nvPicPr>
          <p:cNvPr id="26" name="Image 4" descr="preencoded.png">    </p:cNvPr>
          <p:cNvPicPr>
            <a:picLocks noChangeAspect="1"/>
          </p:cNvPicPr>
          <p:nvPr/>
        </p:nvPicPr>
        <p:blipFill>
          <a:blip r:embed="rId5"/>
          <a:stretch>
            <a:fillRect/>
          </a:stretch>
        </p:blipFill>
        <p:spPr>
          <a:xfrm>
            <a:off x="9879543" y="1649578"/>
            <a:ext cx="358445" cy="358445"/>
          </a:xfrm>
          <a:prstGeom prst="rect">
            <a:avLst/>
          </a:prstGeom>
        </p:spPr>
      </p:pic>
      <p:sp>
        <p:nvSpPr>
          <p:cNvPr id="27" name="Text 19"/>
          <p:cNvSpPr txBox="1"/>
          <p:nvPr/>
        </p:nvSpPr>
        <p:spPr>
          <a:xfrm>
            <a:off x="9738726" y="2286000"/>
            <a:ext cx="1721449" cy="411480"/>
          </a:xfrm>
          <a:prstGeom prst="rect">
            <a:avLst/>
          </a:prstGeom>
          <a:noFill/>
          <a:ln/>
        </p:spPr>
        <p:txBody>
          <a:bodyPr wrap="square" lIns="0" tIns="0" rIns="0" bIns="0" rtlCol="0" anchor="t"/>
          <a:lstStyle/>
          <a:p>
            <a:pPr indent="0" marL="0">
              <a:buNone/>
            </a:pPr>
            <a:r>
              <a:rPr lang="en-US" sz="1700" b="1" dirty="0">
                <a:solidFill>
                  <a:schemeClr val="tx2"/>
                </a:solidFill>
                <a:latin typeface="Courier New" pitchFamily="34" charset="0"/>
                <a:ea typeface="Courier New" pitchFamily="34" charset="-122"/>
                <a:cs typeface="Courier New" pitchFamily="34" charset="-120"/>
              </a:rPr>
              <a:t>DISABLE</a:t>
            </a:r>
            <a:endParaRPr lang="en-US" sz="1700" dirty="0"/>
          </a:p>
        </p:txBody>
      </p:sp>
      <p:sp>
        <p:nvSpPr>
          <p:cNvPr id="28" name="Text 20"/>
          <p:cNvSpPr txBox="1"/>
          <p:nvPr/>
        </p:nvSpPr>
        <p:spPr>
          <a:xfrm>
            <a:off x="9738726" y="2788920"/>
            <a:ext cx="1812889" cy="27432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Flujos de datos activos (conectores y syncs). No es una regla: lo exige el contrato.</a:t>
            </a:r>
            <a:endParaRPr lang="en-US" sz="1400" dirty="0"/>
          </a:p>
        </p:txBody>
      </p:sp>
      <p:sp>
        <p:nvSpPr>
          <p:cNvPr id="29" name="Text 21"/>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400" b="1" dirty="0">
                <a:solidFill>
                  <a:schemeClr val="tx2"/>
                </a:solidFill>
              </a:rPr>
              <a:t>En el código: </a:t>
            </a:r>
            <a:pPr indent="0" marL="0">
              <a:buNone/>
            </a:pPr>
            <a:r>
              <a:rPr lang="en-US" sz="1400" dirty="0">
                <a:solidFill>
                  <a:schemeClr val="tx2"/>
                </a:solidFill>
                <a:latin typeface="Courier New" pitchFamily="34" charset="0"/>
                <a:ea typeface="Courier New" pitchFamily="34" charset="-122"/>
                <a:cs typeface="Courier New" pitchFamily="34" charset="-120"/>
              </a:rPr>
              <a:t>Policy.action(categoría)</a:t>
            </a:r>
            <a:pPr indent="0" marL="0">
              <a:buNone/>
            </a:pPr>
            <a:r>
              <a:rPr lang="en-US" sz="1400" dirty="0">
                <a:solidFill>
                  <a:schemeClr val="tx2"/>
                </a:solidFill>
              </a:rPr>
              <a:t> devuelve la acción. Una categoría desconocida se trata como DELETE, la opción más segura para la privacidad.</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actividad global: afirmaciones, no pruebas</a:t>
            </a:r>
            <a:endParaRPr lang="en-US" sz="3200" dirty="0"/>
          </a:p>
        </p:txBody>
      </p:sp>
      <p:graphicFrame>
        <p:nvGraphicFramePr>
          <p:cNvPr id="4" name="Chart 0" descr=""/>
          <p:cNvGraphicFramePr/>
          <p:nvPr/>
        </p:nvGraphicFramePr>
        <p:xfrm>
          <a:off x="548640" y="1280160"/>
          <a:ext cx="6675120" cy="49834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498080" y="1371600"/>
            <a:ext cx="4142232" cy="1463040"/>
          </a:xfrm>
          <a:prstGeom prst="roundRect">
            <a:avLst>
              <a:gd name="adj" fmla="val 6250"/>
            </a:avLst>
          </a:prstGeom>
          <a:solidFill>
            <a:schemeClr val="bg2"/>
          </a:solidFill>
          <a:ln w="9525">
            <a:solidFill>
              <a:schemeClr val="bg2"/>
            </a:solidFill>
            <a:prstDash val="solid"/>
          </a:ln>
        </p:spPr>
      </p:sp>
      <p:sp>
        <p:nvSpPr>
          <p:cNvPr id="6" name="Shape 2"/>
          <p:cNvSpPr/>
          <p:nvPr/>
        </p:nvSpPr>
        <p:spPr>
          <a:xfrm>
            <a:off x="7680960" y="1554480"/>
            <a:ext cx="548640" cy="548640"/>
          </a:xfrm>
          <a:prstGeom prst="ellipse">
            <a:avLst/>
          </a:prstGeom>
          <a:solidFill>
            <a:schemeClr val="accent4"/>
          </a:solidFill>
          <a:ln w="12700">
            <a:solidFill>
              <a:schemeClr val="accent4"/>
            </a:solidFill>
            <a:prstDash val="solid"/>
          </a:ln>
        </p:spPr>
      </p:sp>
      <p:pic>
        <p:nvPicPr>
          <p:cNvPr id="7" name="Image 0" descr="preencoded.png">    </p:cNvPr>
          <p:cNvPicPr>
            <a:picLocks noChangeAspect="1"/>
          </p:cNvPicPr>
          <p:nvPr/>
        </p:nvPicPr>
        <p:blipFill>
          <a:blip r:embed="rId2"/>
          <a:stretch>
            <a:fillRect/>
          </a:stretch>
        </p:blipFill>
        <p:spPr>
          <a:xfrm>
            <a:off x="7801661" y="1675181"/>
            <a:ext cx="307238" cy="307238"/>
          </a:xfrm>
          <a:prstGeom prst="rect">
            <a:avLst/>
          </a:prstGeom>
        </p:spPr>
      </p:pic>
      <p:sp>
        <p:nvSpPr>
          <p:cNvPr id="8" name="Text 3"/>
          <p:cNvSpPr txBox="1"/>
          <p:nvPr/>
        </p:nvSpPr>
        <p:spPr>
          <a:xfrm>
            <a:off x="8412480" y="1536192"/>
            <a:ext cx="3108960" cy="548640"/>
          </a:xfrm>
          <a:prstGeom prst="rect">
            <a:avLst/>
          </a:prstGeom>
          <a:noFill/>
          <a:ln/>
        </p:spPr>
        <p:txBody>
          <a:bodyPr wrap="square" lIns="0" tIns="0" rIns="0" bIns="0" rtlCol="0" anchor="ctr"/>
          <a:lstStyle/>
          <a:p>
            <a:pPr indent="0" marL="0">
              <a:buNone/>
            </a:pPr>
            <a:r>
              <a:rPr lang="en-US" sz="1500" b="1" dirty="0">
                <a:solidFill>
                  <a:schemeClr val="tx1"/>
                </a:solidFill>
              </a:rPr>
              <a:t>1.466 eventos del deletion_worker</a:t>
            </a:r>
            <a:endParaRPr lang="en-US" sz="1500" dirty="0"/>
          </a:p>
        </p:txBody>
      </p:sp>
      <p:sp>
        <p:nvSpPr>
          <p:cNvPr id="9" name="Text 4"/>
          <p:cNvSpPr txBox="1"/>
          <p:nvPr/>
        </p:nvSpPr>
        <p:spPr>
          <a:xfrm>
            <a:off x="7680960" y="2148840"/>
            <a:ext cx="3794760" cy="640080"/>
          </a:xfrm>
          <a:prstGeom prst="rect">
            <a:avLst/>
          </a:prstGeom>
          <a:noFill/>
          <a:ln/>
        </p:spPr>
        <p:txBody>
          <a:bodyPr wrap="square" lIns="0" tIns="0" rIns="0" bIns="0" rtlCol="0" anchor="t"/>
          <a:lstStyle/>
          <a:p>
            <a:pPr indent="0" marL="0">
              <a:buNone/>
            </a:pPr>
            <a:r>
              <a:rPr lang="en-US" sz="1250" dirty="0">
                <a:solidFill>
                  <a:schemeClr val="tx2"/>
                </a:solidFill>
              </a:rPr>
              <a:t>«SUCCESS» solo dice que la orden se envió. No prueba que el dato desapareciera.</a:t>
            </a:r>
            <a:endParaRPr lang="en-US" sz="1250" dirty="0"/>
          </a:p>
        </p:txBody>
      </p:sp>
      <p:sp>
        <p:nvSpPr>
          <p:cNvPr id="10" name="Shape 5"/>
          <p:cNvSpPr/>
          <p:nvPr/>
        </p:nvSpPr>
        <p:spPr>
          <a:xfrm>
            <a:off x="7498080" y="3017520"/>
            <a:ext cx="4142232" cy="1463040"/>
          </a:xfrm>
          <a:prstGeom prst="roundRect">
            <a:avLst>
              <a:gd name="adj" fmla="val 6250"/>
            </a:avLst>
          </a:prstGeom>
          <a:solidFill>
            <a:schemeClr val="bg2"/>
          </a:solidFill>
          <a:ln w="9525">
            <a:solidFill>
              <a:schemeClr val="bg2"/>
            </a:solidFill>
            <a:prstDash val="solid"/>
          </a:ln>
        </p:spPr>
      </p:sp>
      <p:sp>
        <p:nvSpPr>
          <p:cNvPr id="11" name="Shape 6"/>
          <p:cNvSpPr/>
          <p:nvPr/>
        </p:nvSpPr>
        <p:spPr>
          <a:xfrm>
            <a:off x="7680960" y="3200400"/>
            <a:ext cx="548640" cy="54864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3"/>
          <a:stretch>
            <a:fillRect/>
          </a:stretch>
        </p:blipFill>
        <p:spPr>
          <a:xfrm>
            <a:off x="7801661" y="3321101"/>
            <a:ext cx="307238" cy="307238"/>
          </a:xfrm>
          <a:prstGeom prst="rect">
            <a:avLst/>
          </a:prstGeom>
        </p:spPr>
      </p:pic>
      <p:sp>
        <p:nvSpPr>
          <p:cNvPr id="13" name="Text 7"/>
          <p:cNvSpPr txBox="1"/>
          <p:nvPr/>
        </p:nvSpPr>
        <p:spPr>
          <a:xfrm>
            <a:off x="8412480" y="3182112"/>
            <a:ext cx="3108960" cy="548640"/>
          </a:xfrm>
          <a:prstGeom prst="rect">
            <a:avLst/>
          </a:prstGeom>
          <a:noFill/>
          <a:ln/>
        </p:spPr>
        <p:txBody>
          <a:bodyPr wrap="square" lIns="0" tIns="0" rIns="0" bIns="0" rtlCol="0" anchor="ctr"/>
          <a:lstStyle/>
          <a:p>
            <a:pPr indent="0" marL="0">
              <a:buNone/>
            </a:pPr>
            <a:r>
              <a:rPr lang="en-US" sz="1500" b="1" dirty="0">
                <a:solidFill>
                  <a:schemeClr val="tx1"/>
                </a:solidFill>
              </a:rPr>
              <a:t>12 enlaces del catálogo</a:t>
            </a:r>
            <a:endParaRPr lang="en-US" sz="1500" dirty="0"/>
          </a:p>
        </p:txBody>
      </p:sp>
      <p:sp>
        <p:nvSpPr>
          <p:cNvPr id="14" name="Text 8"/>
          <p:cNvSpPr txBox="1"/>
          <p:nvPr/>
        </p:nvSpPr>
        <p:spPr>
          <a:xfrm>
            <a:off x="7680960" y="3794760"/>
            <a:ext cx="3794760" cy="640080"/>
          </a:xfrm>
          <a:prstGeom prst="rect">
            <a:avLst/>
          </a:prstGeom>
          <a:noFill/>
          <a:ln/>
        </p:spPr>
        <p:txBody>
          <a:bodyPr wrap="square" lIns="0" tIns="0" rIns="0" bIns="0" rtlCol="0" anchor="t"/>
          <a:lstStyle/>
          <a:p>
            <a:pPr indent="0" marL="0">
              <a:buNone/>
            </a:pPr>
            <a:r>
              <a:rPr lang="en-US" sz="1250" dirty="0">
                <a:solidFill>
                  <a:schemeClr val="tx2"/>
                </a:solidFill>
              </a:rPr>
              <a:t>LINK_RESOURCE_IDENTITY une recurso, referencia, email y user_id: así se conectan capturas y PDFs.</a:t>
            </a:r>
            <a:endParaRPr lang="en-US" sz="1250" dirty="0"/>
          </a:p>
        </p:txBody>
      </p:sp>
      <p:sp>
        <p:nvSpPr>
          <p:cNvPr id="15" name="Shape 9"/>
          <p:cNvSpPr/>
          <p:nvPr/>
        </p:nvSpPr>
        <p:spPr>
          <a:xfrm>
            <a:off x="7498080" y="4663440"/>
            <a:ext cx="4142232" cy="1463040"/>
          </a:xfrm>
          <a:prstGeom prst="roundRect">
            <a:avLst>
              <a:gd name="adj" fmla="val 6250"/>
            </a:avLst>
          </a:prstGeom>
          <a:solidFill>
            <a:schemeClr val="bg2"/>
          </a:solidFill>
          <a:ln w="9525">
            <a:solidFill>
              <a:schemeClr val="bg2"/>
            </a:solidFill>
            <a:prstDash val="solid"/>
          </a:ln>
        </p:spPr>
      </p:sp>
      <p:sp>
        <p:nvSpPr>
          <p:cNvPr id="16" name="Shape 10"/>
          <p:cNvSpPr/>
          <p:nvPr/>
        </p:nvSpPr>
        <p:spPr>
          <a:xfrm>
            <a:off x="7680960" y="4846320"/>
            <a:ext cx="548640" cy="548640"/>
          </a:xfrm>
          <a:prstGeom prst="ellipse">
            <a:avLst/>
          </a:prstGeom>
          <a:solidFill>
            <a:schemeClr val="tx2"/>
          </a:solidFill>
          <a:ln w="12700">
            <a:solidFill>
              <a:schemeClr val="tx2"/>
            </a:solidFill>
            <a:prstDash val="solid"/>
          </a:ln>
        </p:spPr>
      </p:sp>
      <p:pic>
        <p:nvPicPr>
          <p:cNvPr id="17" name="Image 2" descr="preencoded.png">    </p:cNvPr>
          <p:cNvPicPr>
            <a:picLocks noChangeAspect="1"/>
          </p:cNvPicPr>
          <p:nvPr/>
        </p:nvPicPr>
        <p:blipFill>
          <a:blip r:embed="rId4"/>
          <a:stretch>
            <a:fillRect/>
          </a:stretch>
        </p:blipFill>
        <p:spPr>
          <a:xfrm>
            <a:off x="7801661" y="4967021"/>
            <a:ext cx="307238" cy="307238"/>
          </a:xfrm>
          <a:prstGeom prst="rect">
            <a:avLst/>
          </a:prstGeom>
        </p:spPr>
      </p:pic>
      <p:sp>
        <p:nvSpPr>
          <p:cNvPr id="18" name="Text 11"/>
          <p:cNvSpPr txBox="1"/>
          <p:nvPr/>
        </p:nvSpPr>
        <p:spPr>
          <a:xfrm>
            <a:off x="8412480" y="4828032"/>
            <a:ext cx="3108960" cy="548640"/>
          </a:xfrm>
          <a:prstGeom prst="rect">
            <a:avLst/>
          </a:prstGeom>
          <a:noFill/>
          <a:ln/>
        </p:spPr>
        <p:txBody>
          <a:bodyPr wrap="square" lIns="0" tIns="0" rIns="0" bIns="0" rtlCol="0" anchor="ctr"/>
          <a:lstStyle/>
          <a:p>
            <a:pPr indent="0" marL="0">
              <a:buNone/>
            </a:pPr>
            <a:r>
              <a:rPr lang="en-US" sz="1500" b="1" dirty="0">
                <a:solidFill>
                  <a:schemeClr val="tx1"/>
                </a:solidFill>
              </a:rPr>
              <a:t>Uso en el agente</a:t>
            </a:r>
            <a:endParaRPr lang="en-US" sz="1500" dirty="0"/>
          </a:p>
        </p:txBody>
      </p:sp>
      <p:sp>
        <p:nvSpPr>
          <p:cNvPr id="19" name="Text 12"/>
          <p:cNvSpPr txBox="1"/>
          <p:nvPr/>
        </p:nvSpPr>
        <p:spPr>
          <a:xfrm>
            <a:off x="7680960" y="5440680"/>
            <a:ext cx="3794760" cy="640080"/>
          </a:xfrm>
          <a:prstGeom prst="rect">
            <a:avLst/>
          </a:prstGeom>
          <a:noFill/>
          <a:ln/>
        </p:spPr>
        <p:txBody>
          <a:bodyPr wrap="square" lIns="0" tIns="0" rIns="0" bIns="0" rtlCol="0" anchor="t"/>
          <a:lstStyle/>
          <a:p>
            <a:pPr indent="0" marL="0">
              <a:buNone/>
            </a:pPr>
            <a:r>
              <a:rPr lang="en-US" sz="1250" dirty="0">
                <a:solidFill>
                  <a:schemeClr val="tx2"/>
                </a:solidFill>
              </a:rPr>
              <a:t>Atribuir recursos sin identificadores a su solicitud. Nunca para decidir un estado.</a:t>
            </a:r>
            <a:endParaRPr lang="en-US" sz="12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03</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Arquitectura y flujo de datos</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Ocho etapas en línea, los objetos que pasan de una a otra, la ventana temporal de cada caso y cómo se opera el sistema.</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Arquitectura: un pipeline neuro-simbólico</a:t>
            </a:r>
            <a:endParaRPr lang="en-US" sz="3200" dirty="0"/>
          </a:p>
        </p:txBody>
      </p:sp>
      <p:sp>
        <p:nvSpPr>
          <p:cNvPr id="4" name="Shape 1"/>
          <p:cNvSpPr/>
          <p:nvPr/>
        </p:nvSpPr>
        <p:spPr>
          <a:xfrm>
            <a:off x="548640" y="1371600"/>
            <a:ext cx="2377440" cy="1554480"/>
          </a:xfrm>
          <a:prstGeom prst="roundRect">
            <a:avLst>
              <a:gd name="adj" fmla="val 5882"/>
            </a:avLst>
          </a:prstGeom>
          <a:solidFill>
            <a:schemeClr val="tx2"/>
          </a:solidFill>
          <a:ln w="9525">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731520" y="1536192"/>
            <a:ext cx="411480" cy="411480"/>
          </a:xfrm>
          <a:prstGeom prst="rect">
            <a:avLst/>
          </a:prstGeom>
        </p:spPr>
      </p:pic>
      <p:sp>
        <p:nvSpPr>
          <p:cNvPr id="6" name="Text 2"/>
          <p:cNvSpPr txBox="1"/>
          <p:nvPr/>
        </p:nvSpPr>
        <p:spPr>
          <a:xfrm>
            <a:off x="1261872" y="150876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Solicitud</a:t>
            </a:r>
            <a:endParaRPr lang="en-US" sz="1700" dirty="0"/>
          </a:p>
        </p:txBody>
      </p:sp>
      <p:sp>
        <p:nvSpPr>
          <p:cNvPr id="7" name="Text 3"/>
          <p:cNvSpPr txBox="1"/>
          <p:nvPr/>
        </p:nvSpPr>
        <p:spPr>
          <a:xfrm>
            <a:off x="731520" y="2057400"/>
            <a:ext cx="2057400" cy="822960"/>
          </a:xfrm>
          <a:prstGeom prst="rect">
            <a:avLst/>
          </a:prstGeom>
          <a:noFill/>
          <a:ln/>
        </p:spPr>
        <p:txBody>
          <a:bodyPr wrap="square" lIns="0" tIns="0" rIns="0" bIns="0" rtlCol="0" anchor="t"/>
          <a:lstStyle/>
          <a:p>
            <a:pPr indent="0" marL="0">
              <a:buNone/>
            </a:pPr>
            <a:r>
              <a:rPr lang="en-US" sz="1200" dirty="0">
                <a:solidFill>
                  <a:schemeClr val="bg1"/>
                </a:solidFill>
              </a:rPr>
              <a:t>una fila de deletion_requests.csv</a:t>
            </a:r>
            <a:endParaRPr lang="en-US" sz="1200" dirty="0"/>
          </a:p>
        </p:txBody>
      </p:sp>
      <p:sp>
        <p:nvSpPr>
          <p:cNvPr id="8" name="Shape 4"/>
          <p:cNvSpPr/>
          <p:nvPr/>
        </p:nvSpPr>
        <p:spPr>
          <a:xfrm>
            <a:off x="3454298" y="1371600"/>
            <a:ext cx="2377440" cy="1554480"/>
          </a:xfrm>
          <a:prstGeom prst="roundRect">
            <a:avLst>
              <a:gd name="adj" fmla="val 5882"/>
            </a:avLst>
          </a:prstGeom>
          <a:solidFill>
            <a:schemeClr val="accent3"/>
          </a:solidFill>
          <a:ln w="9525">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3637178" y="1536192"/>
            <a:ext cx="411480" cy="411480"/>
          </a:xfrm>
          <a:prstGeom prst="rect">
            <a:avLst/>
          </a:prstGeom>
        </p:spPr>
      </p:pic>
      <p:sp>
        <p:nvSpPr>
          <p:cNvPr id="10" name="Text 5"/>
          <p:cNvSpPr txBox="1"/>
          <p:nvPr/>
        </p:nvSpPr>
        <p:spPr>
          <a:xfrm>
            <a:off x="4167530" y="1508760"/>
            <a:ext cx="1554480" cy="457200"/>
          </a:xfrm>
          <a:prstGeom prst="rect">
            <a:avLst/>
          </a:prstGeom>
          <a:noFill/>
          <a:ln/>
        </p:spPr>
        <p:txBody>
          <a:bodyPr wrap="square" lIns="0" tIns="0" rIns="0" bIns="0" rtlCol="0" anchor="ctr"/>
          <a:lstStyle/>
          <a:p>
            <a:pPr indent="0" marL="0">
              <a:buNone/>
            </a:pPr>
            <a:r>
              <a:rPr lang="en-US" sz="1700" b="1" dirty="0">
                <a:solidFill>
                  <a:schemeClr val="tx1"/>
                </a:solidFill>
              </a:rPr>
              <a:t>Intención</a:t>
            </a:r>
            <a:endParaRPr lang="en-US" sz="1700" dirty="0"/>
          </a:p>
        </p:txBody>
      </p:sp>
      <p:sp>
        <p:nvSpPr>
          <p:cNvPr id="11" name="Text 6"/>
          <p:cNvSpPr txBox="1"/>
          <p:nvPr/>
        </p:nvSpPr>
        <p:spPr>
          <a:xfrm>
            <a:off x="3637178" y="2057400"/>
            <a:ext cx="2057400" cy="822960"/>
          </a:xfrm>
          <a:prstGeom prst="rect">
            <a:avLst/>
          </a:prstGeom>
          <a:noFill/>
          <a:ln/>
        </p:spPr>
        <p:txBody>
          <a:bodyPr wrap="square" lIns="0" tIns="0" rIns="0" bIns="0" rtlCol="0" anchor="t"/>
          <a:lstStyle/>
          <a:p>
            <a:pPr indent="0" marL="0">
              <a:buNone/>
            </a:pPr>
            <a:r>
              <a:rPr lang="en-US" sz="1200" dirty="0">
                <a:solidFill>
                  <a:schemeClr val="tx1"/>
                </a:solidFill>
              </a:rPr>
              <a:t>Claude Haiku + palabras clave · intent.py</a:t>
            </a:r>
            <a:endParaRPr lang="en-US" sz="1200" dirty="0"/>
          </a:p>
        </p:txBody>
      </p:sp>
      <p:sp>
        <p:nvSpPr>
          <p:cNvPr id="12" name="Shape 7"/>
          <p:cNvSpPr/>
          <p:nvPr/>
        </p:nvSpPr>
        <p:spPr>
          <a:xfrm>
            <a:off x="6359957" y="1371600"/>
            <a:ext cx="2377440" cy="1554480"/>
          </a:xfrm>
          <a:prstGeom prst="roundRect">
            <a:avLst>
              <a:gd name="adj" fmla="val 5882"/>
            </a:avLst>
          </a:prstGeom>
          <a:solidFill>
            <a:schemeClr val="accent1"/>
          </a:solidFill>
          <a:ln w="9525">
            <a:solidFill>
              <a:schemeClr val="accent1"/>
            </a:solidFill>
            <a:prstDash val="solid"/>
          </a:ln>
        </p:spPr>
      </p:sp>
      <p:pic>
        <p:nvPicPr>
          <p:cNvPr id="13" name="Image 2" descr="preencoded.png">    </p:cNvPr>
          <p:cNvPicPr>
            <a:picLocks noChangeAspect="1"/>
          </p:cNvPicPr>
          <p:nvPr/>
        </p:nvPicPr>
        <p:blipFill>
          <a:blip r:embed="rId3"/>
          <a:stretch>
            <a:fillRect/>
          </a:stretch>
        </p:blipFill>
        <p:spPr>
          <a:xfrm>
            <a:off x="6542837" y="1536192"/>
            <a:ext cx="411480" cy="411480"/>
          </a:xfrm>
          <a:prstGeom prst="rect">
            <a:avLst/>
          </a:prstGeom>
        </p:spPr>
      </p:pic>
      <p:sp>
        <p:nvSpPr>
          <p:cNvPr id="14" name="Text 8"/>
          <p:cNvSpPr txBox="1"/>
          <p:nvPr/>
        </p:nvSpPr>
        <p:spPr>
          <a:xfrm>
            <a:off x="7073189" y="150876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Identidad</a:t>
            </a:r>
            <a:endParaRPr lang="en-US" sz="1700" dirty="0"/>
          </a:p>
        </p:txBody>
      </p:sp>
      <p:sp>
        <p:nvSpPr>
          <p:cNvPr id="15" name="Text 9"/>
          <p:cNvSpPr txBox="1"/>
          <p:nvPr/>
        </p:nvSpPr>
        <p:spPr>
          <a:xfrm>
            <a:off x="6542837" y="2057400"/>
            <a:ext cx="2057400" cy="822960"/>
          </a:xfrm>
          <a:prstGeom prst="rect">
            <a:avLst/>
          </a:prstGeom>
          <a:noFill/>
          <a:ln/>
        </p:spPr>
        <p:txBody>
          <a:bodyPr wrap="square" lIns="0" tIns="0" rIns="0" bIns="0" rtlCol="0" anchor="t"/>
          <a:lstStyle/>
          <a:p>
            <a:pPr indent="0" marL="0">
              <a:buNone/>
            </a:pPr>
            <a:r>
              <a:rPr lang="en-US" sz="1200" dirty="0">
                <a:solidFill>
                  <a:schemeClr val="bg1"/>
                </a:solidFill>
              </a:rPr>
              <a:t>emails, teléfonos y hashes, actuales e históricos · identity.py</a:t>
            </a:r>
            <a:endParaRPr lang="en-US" sz="1200" dirty="0"/>
          </a:p>
        </p:txBody>
      </p:sp>
      <p:sp>
        <p:nvSpPr>
          <p:cNvPr id="16" name="Shape 10"/>
          <p:cNvSpPr/>
          <p:nvPr/>
        </p:nvSpPr>
        <p:spPr>
          <a:xfrm>
            <a:off x="9265615" y="1371600"/>
            <a:ext cx="2377440" cy="1554480"/>
          </a:xfrm>
          <a:prstGeom prst="roundRect">
            <a:avLst>
              <a:gd name="adj" fmla="val 5882"/>
            </a:avLst>
          </a:prstGeom>
          <a:solidFill>
            <a:schemeClr val="accent1"/>
          </a:solidFill>
          <a:ln w="9525">
            <a:solidFill>
              <a:schemeClr val="accent1"/>
            </a:solidFill>
            <a:prstDash val="solid"/>
          </a:ln>
        </p:spPr>
      </p:sp>
      <p:pic>
        <p:nvPicPr>
          <p:cNvPr id="17" name="Image 3" descr="preencoded.png">    </p:cNvPr>
          <p:cNvPicPr>
            <a:picLocks noChangeAspect="1"/>
          </p:cNvPicPr>
          <p:nvPr/>
        </p:nvPicPr>
        <p:blipFill>
          <a:blip r:embed="rId4"/>
          <a:stretch>
            <a:fillRect/>
          </a:stretch>
        </p:blipFill>
        <p:spPr>
          <a:xfrm>
            <a:off x="9448495" y="1536192"/>
            <a:ext cx="411480" cy="411480"/>
          </a:xfrm>
          <a:prstGeom prst="rect">
            <a:avLst/>
          </a:prstGeom>
        </p:spPr>
      </p:pic>
      <p:sp>
        <p:nvSpPr>
          <p:cNvPr id="18" name="Text 11"/>
          <p:cNvSpPr txBox="1"/>
          <p:nvPr/>
        </p:nvSpPr>
        <p:spPr>
          <a:xfrm>
            <a:off x="9978847" y="150876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Evidencia</a:t>
            </a:r>
            <a:endParaRPr lang="en-US" sz="1700" dirty="0"/>
          </a:p>
        </p:txBody>
      </p:sp>
      <p:sp>
        <p:nvSpPr>
          <p:cNvPr id="19" name="Text 12"/>
          <p:cNvSpPr txBox="1"/>
          <p:nvPr/>
        </p:nvSpPr>
        <p:spPr>
          <a:xfrm>
            <a:off x="9448495" y="2057400"/>
            <a:ext cx="2057400" cy="822960"/>
          </a:xfrm>
          <a:prstGeom prst="rect">
            <a:avLst/>
          </a:prstGeom>
          <a:noFill/>
          <a:ln/>
        </p:spPr>
        <p:txBody>
          <a:bodyPr wrap="square" lIns="0" tIns="0" rIns="0" bIns="0" rtlCol="0" anchor="t"/>
          <a:lstStyle/>
          <a:p>
            <a:pPr indent="0" marL="0">
              <a:buNone/>
            </a:pPr>
            <a:r>
              <a:rPr lang="en-US" sz="1200" dirty="0">
                <a:solidFill>
                  <a:schemeClr val="bg1"/>
                </a:solidFill>
              </a:rPr>
              <a:t>logs, SQL, JSON, TXT, PDF y capturas · observations.py, media.py</a:t>
            </a:r>
            <a:endParaRPr lang="en-US" sz="1200" dirty="0"/>
          </a:p>
        </p:txBody>
      </p:sp>
      <p:sp>
        <p:nvSpPr>
          <p:cNvPr id="20" name="Text 13"/>
          <p:cNvSpPr/>
          <p:nvPr/>
        </p:nvSpPr>
        <p:spPr>
          <a:xfrm>
            <a:off x="10317175" y="1188720"/>
            <a:ext cx="1234440" cy="329184"/>
          </a:xfrm>
          <a:prstGeom prst="roundRect">
            <a:avLst>
              <a:gd name="adj" fmla="val 22222"/>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tx1"/>
                </a:solidFill>
              </a:rPr>
              <a:t>+ visión Claude</a:t>
            </a:r>
            <a:endParaRPr lang="en-US" sz="1100" dirty="0"/>
          </a:p>
        </p:txBody>
      </p:sp>
      <p:sp>
        <p:nvSpPr>
          <p:cNvPr id="21" name="Shape 14"/>
          <p:cNvSpPr/>
          <p:nvPr/>
        </p:nvSpPr>
        <p:spPr>
          <a:xfrm>
            <a:off x="9265615" y="3383280"/>
            <a:ext cx="2377440" cy="1554480"/>
          </a:xfrm>
          <a:prstGeom prst="roundRect">
            <a:avLst>
              <a:gd name="adj" fmla="val 5882"/>
            </a:avLst>
          </a:prstGeom>
          <a:solidFill>
            <a:schemeClr val="accent1"/>
          </a:solidFill>
          <a:ln w="9525">
            <a:solidFill>
              <a:schemeClr val="accent1"/>
            </a:solidFill>
            <a:prstDash val="solid"/>
          </a:ln>
        </p:spPr>
      </p:sp>
      <p:pic>
        <p:nvPicPr>
          <p:cNvPr id="22" name="Image 4" descr="preencoded.png">    </p:cNvPr>
          <p:cNvPicPr>
            <a:picLocks noChangeAspect="1"/>
          </p:cNvPicPr>
          <p:nvPr/>
        </p:nvPicPr>
        <p:blipFill>
          <a:blip r:embed="rId5"/>
          <a:stretch>
            <a:fillRect/>
          </a:stretch>
        </p:blipFill>
        <p:spPr>
          <a:xfrm>
            <a:off x="9448495" y="3547872"/>
            <a:ext cx="411480" cy="411480"/>
          </a:xfrm>
          <a:prstGeom prst="rect">
            <a:avLst/>
          </a:prstGeom>
        </p:spPr>
      </p:pic>
      <p:sp>
        <p:nvSpPr>
          <p:cNvPr id="23" name="Text 15"/>
          <p:cNvSpPr txBox="1"/>
          <p:nvPr/>
        </p:nvSpPr>
        <p:spPr>
          <a:xfrm>
            <a:off x="9978847" y="352044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Investigador</a:t>
            </a:r>
            <a:endParaRPr lang="en-US" sz="1700" dirty="0"/>
          </a:p>
        </p:txBody>
      </p:sp>
      <p:sp>
        <p:nvSpPr>
          <p:cNvPr id="24" name="Text 16"/>
          <p:cNvSpPr txBox="1"/>
          <p:nvPr/>
        </p:nvSpPr>
        <p:spPr>
          <a:xfrm>
            <a:off x="9448495" y="4069080"/>
            <a:ext cx="2057400" cy="822960"/>
          </a:xfrm>
          <a:prstGeom prst="rect">
            <a:avLst/>
          </a:prstGeom>
          <a:noFill/>
          <a:ln/>
        </p:spPr>
        <p:txBody>
          <a:bodyPr wrap="square" lIns="0" tIns="0" rIns="0" bIns="0" rtlCol="0" anchor="t"/>
          <a:lstStyle/>
          <a:p>
            <a:pPr indent="0" marL="0">
              <a:buNone/>
            </a:pPr>
            <a:r>
              <a:rPr lang="en-US" sz="1200" dirty="0">
                <a:solidFill>
                  <a:schemeClr val="bg1"/>
                </a:solidFill>
              </a:rPr>
              <a:t>recursos de la persona y su estado en audit_at · investigate.py</a:t>
            </a:r>
            <a:endParaRPr lang="en-US" sz="1200" dirty="0"/>
          </a:p>
        </p:txBody>
      </p:sp>
      <p:sp>
        <p:nvSpPr>
          <p:cNvPr id="25" name="Shape 17"/>
          <p:cNvSpPr/>
          <p:nvPr/>
        </p:nvSpPr>
        <p:spPr>
          <a:xfrm>
            <a:off x="6359957" y="3383280"/>
            <a:ext cx="2377440" cy="1554480"/>
          </a:xfrm>
          <a:prstGeom prst="roundRect">
            <a:avLst>
              <a:gd name="adj" fmla="val 5882"/>
            </a:avLst>
          </a:prstGeom>
          <a:solidFill>
            <a:schemeClr val="accent1"/>
          </a:solidFill>
          <a:ln w="9525">
            <a:solidFill>
              <a:schemeClr val="accent1"/>
            </a:solidFill>
            <a:prstDash val="solid"/>
          </a:ln>
        </p:spPr>
      </p:sp>
      <p:pic>
        <p:nvPicPr>
          <p:cNvPr id="26" name="Image 5" descr="preencoded.png">    </p:cNvPr>
          <p:cNvPicPr>
            <a:picLocks noChangeAspect="1"/>
          </p:cNvPicPr>
          <p:nvPr/>
        </p:nvPicPr>
        <p:blipFill>
          <a:blip r:embed="rId6"/>
          <a:stretch>
            <a:fillRect/>
          </a:stretch>
        </p:blipFill>
        <p:spPr>
          <a:xfrm>
            <a:off x="6542837" y="3547872"/>
            <a:ext cx="411480" cy="411480"/>
          </a:xfrm>
          <a:prstGeom prst="rect">
            <a:avLst/>
          </a:prstGeom>
        </p:spPr>
      </p:pic>
      <p:sp>
        <p:nvSpPr>
          <p:cNvPr id="27" name="Text 18"/>
          <p:cNvSpPr txBox="1"/>
          <p:nvPr/>
        </p:nvSpPr>
        <p:spPr>
          <a:xfrm>
            <a:off x="7073189" y="352044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Política</a:t>
            </a:r>
            <a:endParaRPr lang="en-US" sz="1700" dirty="0"/>
          </a:p>
        </p:txBody>
      </p:sp>
      <p:sp>
        <p:nvSpPr>
          <p:cNvPr id="28" name="Text 19"/>
          <p:cNvSpPr txBox="1"/>
          <p:nvPr/>
        </p:nvSpPr>
        <p:spPr>
          <a:xfrm>
            <a:off x="6542837" y="4069080"/>
            <a:ext cx="2057400" cy="822960"/>
          </a:xfrm>
          <a:prstGeom prst="rect">
            <a:avLst/>
          </a:prstGeom>
          <a:noFill/>
          <a:ln/>
        </p:spPr>
        <p:txBody>
          <a:bodyPr wrap="square" lIns="0" tIns="0" rIns="0" bIns="0" rtlCol="0" anchor="t"/>
          <a:lstStyle/>
          <a:p>
            <a:pPr indent="0" marL="0">
              <a:buNone/>
            </a:pPr>
            <a:r>
              <a:rPr lang="en-US" sz="1200" dirty="0">
                <a:solidFill>
                  <a:schemeClr val="bg1"/>
                </a:solidFill>
              </a:rPr>
              <a:t>15 reglas → hallazgo, remediación, verificación · policy.py</a:t>
            </a:r>
            <a:endParaRPr lang="en-US" sz="1200" dirty="0"/>
          </a:p>
        </p:txBody>
      </p:sp>
      <p:sp>
        <p:nvSpPr>
          <p:cNvPr id="29" name="Shape 20"/>
          <p:cNvSpPr/>
          <p:nvPr/>
        </p:nvSpPr>
        <p:spPr>
          <a:xfrm>
            <a:off x="3454298" y="3383280"/>
            <a:ext cx="2377440" cy="1554480"/>
          </a:xfrm>
          <a:prstGeom prst="roundRect">
            <a:avLst>
              <a:gd name="adj" fmla="val 5882"/>
            </a:avLst>
          </a:prstGeom>
          <a:solidFill>
            <a:schemeClr val="accent1"/>
          </a:solidFill>
          <a:ln w="9525">
            <a:solidFill>
              <a:schemeClr val="accent1"/>
            </a:solidFill>
            <a:prstDash val="solid"/>
          </a:ln>
        </p:spPr>
      </p:sp>
      <p:pic>
        <p:nvPicPr>
          <p:cNvPr id="30" name="Image 6" descr="preencoded.png">    </p:cNvPr>
          <p:cNvPicPr>
            <a:picLocks noChangeAspect="1"/>
          </p:cNvPicPr>
          <p:nvPr/>
        </p:nvPicPr>
        <p:blipFill>
          <a:blip r:embed="rId7"/>
          <a:stretch>
            <a:fillRect/>
          </a:stretch>
        </p:blipFill>
        <p:spPr>
          <a:xfrm>
            <a:off x="3637178" y="3547872"/>
            <a:ext cx="411480" cy="411480"/>
          </a:xfrm>
          <a:prstGeom prst="rect">
            <a:avLst/>
          </a:prstGeom>
        </p:spPr>
      </p:pic>
      <p:sp>
        <p:nvSpPr>
          <p:cNvPr id="31" name="Text 21"/>
          <p:cNvSpPr txBox="1"/>
          <p:nvPr/>
        </p:nvSpPr>
        <p:spPr>
          <a:xfrm>
            <a:off x="4167530" y="352044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Validador</a:t>
            </a:r>
            <a:endParaRPr lang="en-US" sz="1700" dirty="0"/>
          </a:p>
        </p:txBody>
      </p:sp>
      <p:sp>
        <p:nvSpPr>
          <p:cNvPr id="32" name="Text 22"/>
          <p:cNvSpPr txBox="1"/>
          <p:nvPr/>
        </p:nvSpPr>
        <p:spPr>
          <a:xfrm>
            <a:off x="3637178" y="4069080"/>
            <a:ext cx="2057400" cy="822960"/>
          </a:xfrm>
          <a:prstGeom prst="rect">
            <a:avLst/>
          </a:prstGeom>
          <a:noFill/>
          <a:ln/>
        </p:spPr>
        <p:txBody>
          <a:bodyPr wrap="square" lIns="0" tIns="0" rIns="0" bIns="0" rtlCol="0" anchor="t"/>
          <a:lstStyle/>
          <a:p>
            <a:pPr indent="0" marL="0">
              <a:buNone/>
            </a:pPr>
            <a:r>
              <a:rPr lang="en-US" sz="1200" dirty="0">
                <a:solidFill>
                  <a:schemeClr val="bg1"/>
                </a:solidFill>
              </a:rPr>
              <a:t>contrato de salida · validate.py</a:t>
            </a:r>
            <a:endParaRPr lang="en-US" sz="1200" dirty="0"/>
          </a:p>
        </p:txBody>
      </p:sp>
      <p:sp>
        <p:nvSpPr>
          <p:cNvPr id="33" name="Shape 23"/>
          <p:cNvSpPr/>
          <p:nvPr/>
        </p:nvSpPr>
        <p:spPr>
          <a:xfrm>
            <a:off x="548640" y="3383280"/>
            <a:ext cx="2377440" cy="1554480"/>
          </a:xfrm>
          <a:prstGeom prst="roundRect">
            <a:avLst>
              <a:gd name="adj" fmla="val 5882"/>
            </a:avLst>
          </a:prstGeom>
          <a:solidFill>
            <a:schemeClr val="tx2"/>
          </a:solidFill>
          <a:ln w="9525">
            <a:solidFill>
              <a:schemeClr val="tx2"/>
            </a:solidFill>
            <a:prstDash val="solid"/>
          </a:ln>
        </p:spPr>
      </p:sp>
      <p:pic>
        <p:nvPicPr>
          <p:cNvPr id="34" name="Image 7" descr="preencoded.png">    </p:cNvPr>
          <p:cNvPicPr>
            <a:picLocks noChangeAspect="1"/>
          </p:cNvPicPr>
          <p:nvPr/>
        </p:nvPicPr>
        <p:blipFill>
          <a:blip r:embed="rId8"/>
          <a:stretch>
            <a:fillRect/>
          </a:stretch>
        </p:blipFill>
        <p:spPr>
          <a:xfrm>
            <a:off x="731520" y="3547872"/>
            <a:ext cx="411480" cy="411480"/>
          </a:xfrm>
          <a:prstGeom prst="rect">
            <a:avLst/>
          </a:prstGeom>
        </p:spPr>
      </p:pic>
      <p:sp>
        <p:nvSpPr>
          <p:cNvPr id="35" name="Text 24"/>
          <p:cNvSpPr txBox="1"/>
          <p:nvPr/>
        </p:nvSpPr>
        <p:spPr>
          <a:xfrm>
            <a:off x="1261872" y="3520440"/>
            <a:ext cx="1554480" cy="457200"/>
          </a:xfrm>
          <a:prstGeom prst="rect">
            <a:avLst/>
          </a:prstGeom>
          <a:noFill/>
          <a:ln/>
        </p:spPr>
        <p:txBody>
          <a:bodyPr wrap="square" lIns="0" tIns="0" rIns="0" bIns="0" rtlCol="0" anchor="ctr"/>
          <a:lstStyle/>
          <a:p>
            <a:pPr indent="0" marL="0">
              <a:buNone/>
            </a:pPr>
            <a:r>
              <a:rPr lang="en-US" sz="1700" b="1" dirty="0">
                <a:solidFill>
                  <a:schemeClr val="bg1"/>
                </a:solidFill>
              </a:rPr>
              <a:t>output.csv</a:t>
            </a:r>
            <a:endParaRPr lang="en-US" sz="1700" dirty="0"/>
          </a:p>
        </p:txBody>
      </p:sp>
      <p:sp>
        <p:nvSpPr>
          <p:cNvPr id="36" name="Text 25"/>
          <p:cNvSpPr txBox="1"/>
          <p:nvPr/>
        </p:nvSpPr>
        <p:spPr>
          <a:xfrm>
            <a:off x="731520" y="4069080"/>
            <a:ext cx="2057400" cy="822960"/>
          </a:xfrm>
          <a:prstGeom prst="rect">
            <a:avLst/>
          </a:prstGeom>
          <a:noFill/>
          <a:ln/>
        </p:spPr>
        <p:txBody>
          <a:bodyPr wrap="square" lIns="0" tIns="0" rIns="0" bIns="0" rtlCol="0" anchor="t"/>
          <a:lstStyle/>
          <a:p>
            <a:pPr indent="0" marL="0">
              <a:buNone/>
            </a:pPr>
            <a:r>
              <a:rPr lang="en-US" sz="1200" dirty="0">
                <a:solidFill>
                  <a:schemeClr val="bg1"/>
                </a:solidFill>
              </a:rPr>
              <a:t>+ trace.jsonl + usage.json · pipeline.py</a:t>
            </a:r>
            <a:endParaRPr lang="en-US" sz="1200" dirty="0"/>
          </a:p>
        </p:txBody>
      </p:sp>
      <p:sp>
        <p:nvSpPr>
          <p:cNvPr id="37" name="Shape 26"/>
          <p:cNvSpPr/>
          <p:nvPr/>
        </p:nvSpPr>
        <p:spPr>
          <a:xfrm>
            <a:off x="2980944" y="2148840"/>
            <a:ext cx="418490" cy="0"/>
          </a:xfrm>
          <a:prstGeom prst="line">
            <a:avLst/>
          </a:prstGeom>
          <a:noFill/>
          <a:ln w="31750">
            <a:solidFill>
              <a:schemeClr val="accent4"/>
            </a:solidFill>
            <a:prstDash val="solid"/>
            <a:tailEnd type="triangle"/>
          </a:ln>
        </p:spPr>
      </p:sp>
      <p:sp>
        <p:nvSpPr>
          <p:cNvPr id="38" name="Shape 27"/>
          <p:cNvSpPr/>
          <p:nvPr/>
        </p:nvSpPr>
        <p:spPr>
          <a:xfrm>
            <a:off x="5886602" y="2148840"/>
            <a:ext cx="418490" cy="0"/>
          </a:xfrm>
          <a:prstGeom prst="line">
            <a:avLst/>
          </a:prstGeom>
          <a:noFill/>
          <a:ln w="31750">
            <a:solidFill>
              <a:schemeClr val="accent4"/>
            </a:solidFill>
            <a:prstDash val="solid"/>
            <a:tailEnd type="triangle"/>
          </a:ln>
        </p:spPr>
      </p:sp>
      <p:sp>
        <p:nvSpPr>
          <p:cNvPr id="39" name="Shape 28"/>
          <p:cNvSpPr/>
          <p:nvPr/>
        </p:nvSpPr>
        <p:spPr>
          <a:xfrm>
            <a:off x="8792261" y="2148840"/>
            <a:ext cx="418490" cy="0"/>
          </a:xfrm>
          <a:prstGeom prst="line">
            <a:avLst/>
          </a:prstGeom>
          <a:noFill/>
          <a:ln w="31750">
            <a:solidFill>
              <a:schemeClr val="accent4"/>
            </a:solidFill>
            <a:prstDash val="solid"/>
            <a:tailEnd type="triangle"/>
          </a:ln>
        </p:spPr>
      </p:sp>
      <p:sp>
        <p:nvSpPr>
          <p:cNvPr id="40" name="Shape 29"/>
          <p:cNvSpPr/>
          <p:nvPr/>
        </p:nvSpPr>
        <p:spPr>
          <a:xfrm>
            <a:off x="10454335" y="2980944"/>
            <a:ext cx="0" cy="347472"/>
          </a:xfrm>
          <a:prstGeom prst="line">
            <a:avLst/>
          </a:prstGeom>
          <a:noFill/>
          <a:ln w="31750">
            <a:solidFill>
              <a:schemeClr val="accent4"/>
            </a:solidFill>
            <a:prstDash val="solid"/>
            <a:tailEnd type="triangle"/>
          </a:ln>
        </p:spPr>
      </p:sp>
      <p:sp>
        <p:nvSpPr>
          <p:cNvPr id="41" name="Shape 30"/>
          <p:cNvSpPr/>
          <p:nvPr/>
        </p:nvSpPr>
        <p:spPr>
          <a:xfrm flipH="1">
            <a:off x="8792261" y="4160520"/>
            <a:ext cx="418490" cy="0"/>
          </a:xfrm>
          <a:prstGeom prst="line">
            <a:avLst/>
          </a:prstGeom>
          <a:noFill/>
          <a:ln w="31750">
            <a:solidFill>
              <a:schemeClr val="accent4"/>
            </a:solidFill>
            <a:prstDash val="solid"/>
            <a:tailEnd type="triangle"/>
          </a:ln>
        </p:spPr>
      </p:sp>
      <p:sp>
        <p:nvSpPr>
          <p:cNvPr id="42" name="Shape 31"/>
          <p:cNvSpPr/>
          <p:nvPr/>
        </p:nvSpPr>
        <p:spPr>
          <a:xfrm flipH="1">
            <a:off x="5886602" y="4160520"/>
            <a:ext cx="418490" cy="0"/>
          </a:xfrm>
          <a:prstGeom prst="line">
            <a:avLst/>
          </a:prstGeom>
          <a:noFill/>
          <a:ln w="31750">
            <a:solidFill>
              <a:schemeClr val="accent4"/>
            </a:solidFill>
            <a:prstDash val="solid"/>
            <a:tailEnd type="triangle"/>
          </a:ln>
        </p:spPr>
      </p:sp>
      <p:sp>
        <p:nvSpPr>
          <p:cNvPr id="43" name="Shape 32"/>
          <p:cNvSpPr/>
          <p:nvPr/>
        </p:nvSpPr>
        <p:spPr>
          <a:xfrm flipH="1">
            <a:off x="2980944" y="4160520"/>
            <a:ext cx="418490" cy="0"/>
          </a:xfrm>
          <a:prstGeom prst="line">
            <a:avLst/>
          </a:prstGeom>
          <a:noFill/>
          <a:ln w="31750">
            <a:solidFill>
              <a:schemeClr val="accent4"/>
            </a:solidFill>
            <a:prstDash val="solid"/>
            <a:tailEnd type="triangle"/>
          </a:ln>
        </p:spPr>
      </p:sp>
      <p:sp>
        <p:nvSpPr>
          <p:cNvPr id="44" name="Shape 33"/>
          <p:cNvSpPr/>
          <p:nvPr/>
        </p:nvSpPr>
        <p:spPr>
          <a:xfrm>
            <a:off x="548640" y="5440680"/>
            <a:ext cx="548640" cy="548640"/>
          </a:xfrm>
          <a:prstGeom prst="ellipse">
            <a:avLst/>
          </a:prstGeom>
          <a:solidFill>
            <a:schemeClr val="accent1"/>
          </a:solidFill>
          <a:ln w="12700">
            <a:solidFill>
              <a:schemeClr val="accent1"/>
            </a:solidFill>
            <a:prstDash val="solid"/>
          </a:ln>
        </p:spPr>
      </p:sp>
      <p:pic>
        <p:nvPicPr>
          <p:cNvPr id="45" name="Image 8" descr="preencoded.png">    </p:cNvPr>
          <p:cNvPicPr>
            <a:picLocks noChangeAspect="1"/>
          </p:cNvPicPr>
          <p:nvPr/>
        </p:nvPicPr>
        <p:blipFill>
          <a:blip r:embed="rId9"/>
          <a:stretch>
            <a:fillRect/>
          </a:stretch>
        </p:blipFill>
        <p:spPr>
          <a:xfrm>
            <a:off x="669341" y="5561381"/>
            <a:ext cx="307238" cy="307238"/>
          </a:xfrm>
          <a:prstGeom prst="rect">
            <a:avLst/>
          </a:prstGeom>
        </p:spPr>
      </p:pic>
      <p:sp>
        <p:nvSpPr>
          <p:cNvPr id="46" name="Text 34"/>
          <p:cNvSpPr txBox="1"/>
          <p:nvPr/>
        </p:nvSpPr>
        <p:spPr>
          <a:xfrm>
            <a:off x="1234440" y="5349240"/>
            <a:ext cx="2814218" cy="868680"/>
          </a:xfrm>
          <a:prstGeom prst="rect">
            <a:avLst/>
          </a:prstGeom>
          <a:noFill/>
          <a:ln/>
        </p:spPr>
        <p:txBody>
          <a:bodyPr wrap="square" lIns="0" tIns="0" rIns="0" bIns="0" rtlCol="0" anchor="ctr"/>
          <a:lstStyle/>
          <a:p>
            <a:pPr indent="0" marL="0">
              <a:buNone/>
            </a:pPr>
            <a:r>
              <a:rPr lang="en-US" sz="1300" b="1" dirty="0">
                <a:solidFill>
                  <a:schemeClr val="tx1"/>
                </a:solidFill>
              </a:rPr>
              <a:t>Determinista. </a:t>
            </a:r>
            <a:pPr indent="0" marL="0">
              <a:buNone/>
            </a:pPr>
            <a:r>
              <a:rPr lang="en-US" sz="1300" dirty="0">
                <a:solidFill>
                  <a:schemeClr val="tx2"/>
                </a:solidFill>
              </a:rPr>
              <a:t>Identidad, estado, política, orden y validación: reglas explícitas y reproducibles.</a:t>
            </a:r>
            <a:endParaRPr lang="en-US" sz="1300" dirty="0"/>
          </a:p>
        </p:txBody>
      </p:sp>
      <p:sp>
        <p:nvSpPr>
          <p:cNvPr id="47" name="Shape 35"/>
          <p:cNvSpPr/>
          <p:nvPr/>
        </p:nvSpPr>
        <p:spPr>
          <a:xfrm>
            <a:off x="4322978" y="5440680"/>
            <a:ext cx="548640" cy="548640"/>
          </a:xfrm>
          <a:prstGeom prst="ellipse">
            <a:avLst/>
          </a:prstGeom>
          <a:solidFill>
            <a:schemeClr val="accent3"/>
          </a:solidFill>
          <a:ln w="12700">
            <a:solidFill>
              <a:schemeClr val="accent3"/>
            </a:solidFill>
            <a:prstDash val="solid"/>
          </a:ln>
        </p:spPr>
      </p:sp>
      <p:pic>
        <p:nvPicPr>
          <p:cNvPr id="48" name="Image 9" descr="preencoded.png">    </p:cNvPr>
          <p:cNvPicPr>
            <a:picLocks noChangeAspect="1"/>
          </p:cNvPicPr>
          <p:nvPr/>
        </p:nvPicPr>
        <p:blipFill>
          <a:blip r:embed="rId10"/>
          <a:stretch>
            <a:fillRect/>
          </a:stretch>
        </p:blipFill>
        <p:spPr>
          <a:xfrm>
            <a:off x="4443679" y="5561381"/>
            <a:ext cx="307238" cy="307238"/>
          </a:xfrm>
          <a:prstGeom prst="rect">
            <a:avLst/>
          </a:prstGeom>
        </p:spPr>
      </p:pic>
      <p:sp>
        <p:nvSpPr>
          <p:cNvPr id="49" name="Text 36"/>
          <p:cNvSpPr txBox="1"/>
          <p:nvPr/>
        </p:nvSpPr>
        <p:spPr>
          <a:xfrm>
            <a:off x="5008778" y="5349240"/>
            <a:ext cx="2814218" cy="868680"/>
          </a:xfrm>
          <a:prstGeom prst="rect">
            <a:avLst/>
          </a:prstGeom>
          <a:noFill/>
          <a:ln/>
        </p:spPr>
        <p:txBody>
          <a:bodyPr wrap="square" lIns="0" tIns="0" rIns="0" bIns="0" rtlCol="0" anchor="ctr"/>
          <a:lstStyle/>
          <a:p>
            <a:pPr indent="0" marL="0">
              <a:buNone/>
            </a:pPr>
            <a:r>
              <a:rPr lang="en-US" sz="1300" b="1" dirty="0">
                <a:solidFill>
                  <a:schemeClr val="tx1"/>
                </a:solidFill>
              </a:rPr>
              <a:t>Claude. </a:t>
            </a:r>
            <a:pPr indent="0" marL="0">
              <a:buNone/>
            </a:pPr>
            <a:r>
              <a:rPr lang="en-US" sz="1300" dirty="0">
                <a:solidFill>
                  <a:schemeClr val="tx2"/>
                </a:solidFill>
              </a:rPr>
              <a:t>Solo intención del texto y lectura de 11 capturas. Sus respuestas se validan.</a:t>
            </a:r>
            <a:endParaRPr lang="en-US" sz="1300" dirty="0"/>
          </a:p>
        </p:txBody>
      </p:sp>
      <p:sp>
        <p:nvSpPr>
          <p:cNvPr id="50" name="Shape 37"/>
          <p:cNvSpPr/>
          <p:nvPr/>
        </p:nvSpPr>
        <p:spPr>
          <a:xfrm>
            <a:off x="8097317" y="5440680"/>
            <a:ext cx="548640" cy="548640"/>
          </a:xfrm>
          <a:prstGeom prst="ellipse">
            <a:avLst/>
          </a:prstGeom>
          <a:solidFill>
            <a:schemeClr val="tx2"/>
          </a:solidFill>
          <a:ln w="12700">
            <a:solidFill>
              <a:schemeClr val="tx2"/>
            </a:solidFill>
            <a:prstDash val="solid"/>
          </a:ln>
        </p:spPr>
      </p:sp>
      <p:pic>
        <p:nvPicPr>
          <p:cNvPr id="51" name="Image 10" descr="preencoded.png">    </p:cNvPr>
          <p:cNvPicPr>
            <a:picLocks noChangeAspect="1"/>
          </p:cNvPicPr>
          <p:nvPr/>
        </p:nvPicPr>
        <p:blipFill>
          <a:blip r:embed="rId11"/>
          <a:stretch>
            <a:fillRect/>
          </a:stretch>
        </p:blipFill>
        <p:spPr>
          <a:xfrm>
            <a:off x="8218018" y="5561381"/>
            <a:ext cx="307238" cy="307238"/>
          </a:xfrm>
          <a:prstGeom prst="rect">
            <a:avLst/>
          </a:prstGeom>
        </p:spPr>
      </p:pic>
      <p:sp>
        <p:nvSpPr>
          <p:cNvPr id="52" name="Text 38"/>
          <p:cNvSpPr txBox="1"/>
          <p:nvPr/>
        </p:nvSpPr>
        <p:spPr>
          <a:xfrm>
            <a:off x="8783117" y="5349240"/>
            <a:ext cx="2814218" cy="868680"/>
          </a:xfrm>
          <a:prstGeom prst="rect">
            <a:avLst/>
          </a:prstGeom>
          <a:noFill/>
          <a:ln/>
        </p:spPr>
        <p:txBody>
          <a:bodyPr wrap="square" lIns="0" tIns="0" rIns="0" bIns="0" rtlCol="0" anchor="ctr"/>
          <a:lstStyle/>
          <a:p>
            <a:pPr indent="0" marL="0">
              <a:buNone/>
            </a:pPr>
            <a:r>
              <a:rPr lang="en-US" sz="1300" b="1" dirty="0">
                <a:solidFill>
                  <a:schemeClr val="tx1"/>
                </a:solidFill>
              </a:rPr>
              <a:t>Caché. </a:t>
            </a:r>
            <a:pPr indent="0" marL="0">
              <a:buNone/>
            </a:pPr>
            <a:r>
              <a:rPr lang="en-US" sz="1300" dirty="0">
                <a:solidFill>
                  <a:schemeClr val="tx2"/>
                </a:solidFill>
              </a:rPr>
              <a:t>Cada respuesta se guarda: sin clave, la salida es idéntica byte a byte.</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Flujo de datos: qué viaja entre etapas</a:t>
            </a:r>
            <a:endParaRPr lang="en-US" sz="3200" dirty="0"/>
          </a:p>
        </p:txBody>
      </p:sp>
      <p:sp>
        <p:nvSpPr>
          <p:cNvPr id="4" name="Shape 1"/>
          <p:cNvSpPr/>
          <p:nvPr/>
        </p:nvSpPr>
        <p:spPr>
          <a:xfrm>
            <a:off x="548640" y="1325880"/>
            <a:ext cx="3429000" cy="2194560"/>
          </a:xfrm>
          <a:prstGeom prst="roundRect">
            <a:avLst>
              <a:gd name="adj" fmla="val 4167"/>
            </a:avLst>
          </a:prstGeom>
          <a:solidFill>
            <a:schemeClr val="bg2"/>
          </a:solidFill>
          <a:ln w="9525">
            <a:solidFill>
              <a:schemeClr val="bg2"/>
            </a:solidFill>
            <a:prstDash val="solid"/>
          </a:ln>
        </p:spPr>
      </p:sp>
      <p:sp>
        <p:nvSpPr>
          <p:cNvPr id="5" name="Shape 2"/>
          <p:cNvSpPr/>
          <p:nvPr/>
        </p:nvSpPr>
        <p:spPr>
          <a:xfrm>
            <a:off x="731520" y="1508760"/>
            <a:ext cx="502920" cy="50292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842162" y="1619402"/>
            <a:ext cx="281635" cy="281635"/>
          </a:xfrm>
          <a:prstGeom prst="rect">
            <a:avLst/>
          </a:prstGeom>
        </p:spPr>
      </p:pic>
      <p:sp>
        <p:nvSpPr>
          <p:cNvPr id="7" name="Text 3"/>
          <p:cNvSpPr txBox="1"/>
          <p:nvPr/>
        </p:nvSpPr>
        <p:spPr>
          <a:xfrm>
            <a:off x="1371600" y="1463040"/>
            <a:ext cx="2514600" cy="640080"/>
          </a:xfrm>
          <a:prstGeom prst="rect">
            <a:avLst/>
          </a:prstGeom>
          <a:noFill/>
          <a:ln/>
        </p:spPr>
        <p:txBody>
          <a:bodyPr wrap="square" lIns="0" tIns="0" rIns="0" bIns="0" rtlCol="0" anchor="t"/>
          <a:lstStyle/>
          <a:p>
            <a:pPr indent="0" marL="0">
              <a:buNone/>
            </a:pPr>
            <a:r>
              <a:rPr lang="en-US" sz="1600" b="1" dirty="0">
                <a:solidFill>
                  <a:schemeClr val="tx1"/>
                </a:solidFill>
              </a:rPr>
              <a:t>Solicitud</a:t>
            </a:r>
            <a:endParaRPr lang="en-US" sz="1400" dirty="0"/>
          </a:p>
          <a:p>
            <a:pPr indent="0" marL="0">
              <a:buNone/>
            </a:pPr>
            <a:r>
              <a:rPr lang="en-US" sz="1150" dirty="0">
                <a:solidFill>
                  <a:schemeClr val="accent4"/>
                </a:solidFill>
                <a:latin typeface="Courier New" pitchFamily="34" charset="0"/>
                <a:ea typeface="Courier New" pitchFamily="34" charset="-122"/>
                <a:cs typeface="Courier New" pitchFamily="34" charset="-120"/>
              </a:rPr>
              <a:t>fila CSV</a:t>
            </a:r>
            <a:endParaRPr lang="en-US" sz="1400" dirty="0"/>
          </a:p>
        </p:txBody>
      </p:sp>
      <p:sp>
        <p:nvSpPr>
          <p:cNvPr id="8" name="Text 4"/>
          <p:cNvSpPr txBox="1"/>
          <p:nvPr/>
        </p:nvSpPr>
        <p:spPr>
          <a:xfrm>
            <a:off x="777240" y="2194560"/>
            <a:ext cx="3063240" cy="1234440"/>
          </a:xfrm>
          <a:prstGeom prst="rect">
            <a:avLst/>
          </a:prstGeom>
          <a:noFill/>
          <a:ln/>
        </p:spPr>
        <p:txBody>
          <a:bodyPr wrap="square" lIns="0" tIns="0" rIns="0" bIns="0" rtlCol="0" anchor="t"/>
          <a:lstStyle/>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case_id, email</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requested_at, audit_at</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reported_status</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request_text</a:t>
            </a:r>
            <a:endParaRPr lang="en-US" sz="1200" dirty="0"/>
          </a:p>
        </p:txBody>
      </p:sp>
      <p:sp>
        <p:nvSpPr>
          <p:cNvPr id="9" name="Shape 5"/>
          <p:cNvSpPr/>
          <p:nvPr/>
        </p:nvSpPr>
        <p:spPr>
          <a:xfrm>
            <a:off x="4381348" y="1325880"/>
            <a:ext cx="3429000" cy="2194560"/>
          </a:xfrm>
          <a:prstGeom prst="roundRect">
            <a:avLst>
              <a:gd name="adj" fmla="val 4167"/>
            </a:avLst>
          </a:prstGeom>
          <a:solidFill>
            <a:schemeClr val="bg2"/>
          </a:solidFill>
          <a:ln w="9525">
            <a:solidFill>
              <a:schemeClr val="bg2"/>
            </a:solidFill>
            <a:prstDash val="solid"/>
          </a:ln>
        </p:spPr>
      </p:sp>
      <p:sp>
        <p:nvSpPr>
          <p:cNvPr id="10" name="Shape 6"/>
          <p:cNvSpPr/>
          <p:nvPr/>
        </p:nvSpPr>
        <p:spPr>
          <a:xfrm>
            <a:off x="4564228" y="1508760"/>
            <a:ext cx="502920" cy="50292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4674870" y="1619402"/>
            <a:ext cx="281635" cy="281635"/>
          </a:xfrm>
          <a:prstGeom prst="rect">
            <a:avLst/>
          </a:prstGeom>
        </p:spPr>
      </p:pic>
      <p:sp>
        <p:nvSpPr>
          <p:cNvPr id="12" name="Text 7"/>
          <p:cNvSpPr txBox="1"/>
          <p:nvPr/>
        </p:nvSpPr>
        <p:spPr>
          <a:xfrm>
            <a:off x="5204308" y="1463040"/>
            <a:ext cx="2514600" cy="640080"/>
          </a:xfrm>
          <a:prstGeom prst="rect">
            <a:avLst/>
          </a:prstGeom>
          <a:noFill/>
          <a:ln/>
        </p:spPr>
        <p:txBody>
          <a:bodyPr wrap="square" lIns="0" tIns="0" rIns="0" bIns="0" rtlCol="0" anchor="t"/>
          <a:lstStyle/>
          <a:p>
            <a:pPr indent="0" marL="0">
              <a:buNone/>
            </a:pPr>
            <a:r>
              <a:rPr lang="en-US" sz="1600" b="1" dirty="0">
                <a:solidFill>
                  <a:schemeClr val="tx1"/>
                </a:solidFill>
              </a:rPr>
              <a:t>Intención</a:t>
            </a:r>
            <a:endParaRPr lang="en-US" sz="1400" dirty="0"/>
          </a:p>
          <a:p>
            <a:pPr indent="0" marL="0">
              <a:buNone/>
            </a:pPr>
            <a:r>
              <a:rPr lang="en-US" sz="1150" dirty="0">
                <a:solidFill>
                  <a:schemeClr val="accent4"/>
                </a:solidFill>
                <a:latin typeface="Courier New" pitchFamily="34" charset="0"/>
                <a:ea typeface="Courier New" pitchFamily="34" charset="-122"/>
                <a:cs typeface="Courier New" pitchFamily="34" charset="-120"/>
              </a:rPr>
              <a:t>intent.py</a:t>
            </a:r>
            <a:endParaRPr lang="en-US" sz="1400" dirty="0"/>
          </a:p>
        </p:txBody>
      </p:sp>
      <p:sp>
        <p:nvSpPr>
          <p:cNvPr id="13" name="Text 8"/>
          <p:cNvSpPr txBox="1"/>
          <p:nvPr/>
        </p:nvSpPr>
        <p:spPr>
          <a:xfrm>
            <a:off x="4609948" y="2194560"/>
            <a:ext cx="3063240" cy="1234440"/>
          </a:xfrm>
          <a:prstGeom prst="rect">
            <a:avLst/>
          </a:prstGeom>
          <a:noFill/>
          <a:ln/>
        </p:spPr>
        <p:txBody>
          <a:bodyPr wrap="square" lIns="0" tIns="0" rIns="0" bIns="0" rtlCol="0" anchor="t"/>
          <a:lstStyle/>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authorizes_deletion</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request_type, language</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rationale</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source: llm | keywords</a:t>
            </a:r>
            <a:endParaRPr lang="en-US" sz="1200" dirty="0"/>
          </a:p>
        </p:txBody>
      </p:sp>
      <p:sp>
        <p:nvSpPr>
          <p:cNvPr id="14" name="Shape 9"/>
          <p:cNvSpPr/>
          <p:nvPr/>
        </p:nvSpPr>
        <p:spPr>
          <a:xfrm>
            <a:off x="8214055" y="1325880"/>
            <a:ext cx="3429000" cy="2194560"/>
          </a:xfrm>
          <a:prstGeom prst="roundRect">
            <a:avLst>
              <a:gd name="adj" fmla="val 4167"/>
            </a:avLst>
          </a:prstGeom>
          <a:solidFill>
            <a:schemeClr val="bg2"/>
          </a:solidFill>
          <a:ln w="9525">
            <a:solidFill>
              <a:schemeClr val="bg2"/>
            </a:solidFill>
            <a:prstDash val="solid"/>
          </a:ln>
        </p:spPr>
      </p:sp>
      <p:sp>
        <p:nvSpPr>
          <p:cNvPr id="15" name="Shape 10"/>
          <p:cNvSpPr/>
          <p:nvPr/>
        </p:nvSpPr>
        <p:spPr>
          <a:xfrm>
            <a:off x="8396935" y="1508760"/>
            <a:ext cx="502920" cy="50292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507578" y="1619402"/>
            <a:ext cx="281635" cy="281635"/>
          </a:xfrm>
          <a:prstGeom prst="rect">
            <a:avLst/>
          </a:prstGeom>
        </p:spPr>
      </p:pic>
      <p:sp>
        <p:nvSpPr>
          <p:cNvPr id="17" name="Text 11"/>
          <p:cNvSpPr txBox="1"/>
          <p:nvPr/>
        </p:nvSpPr>
        <p:spPr>
          <a:xfrm>
            <a:off x="9037015" y="1463040"/>
            <a:ext cx="2514600" cy="640080"/>
          </a:xfrm>
          <a:prstGeom prst="rect">
            <a:avLst/>
          </a:prstGeom>
          <a:noFill/>
          <a:ln/>
        </p:spPr>
        <p:txBody>
          <a:bodyPr wrap="square" lIns="0" tIns="0" rIns="0" bIns="0" rtlCol="0" anchor="t"/>
          <a:lstStyle/>
          <a:p>
            <a:pPr indent="0" marL="0">
              <a:buNone/>
            </a:pPr>
            <a:r>
              <a:rPr lang="en-US" sz="1600" b="1" dirty="0">
                <a:solidFill>
                  <a:schemeClr val="tx1"/>
                </a:solidFill>
              </a:rPr>
              <a:t>Subject</a:t>
            </a:r>
            <a:endParaRPr lang="en-US" sz="1400" dirty="0"/>
          </a:p>
          <a:p>
            <a:pPr indent="0" marL="0">
              <a:buNone/>
            </a:pPr>
            <a:r>
              <a:rPr lang="en-US" sz="1150" dirty="0">
                <a:solidFill>
                  <a:schemeClr val="accent4"/>
                </a:solidFill>
                <a:latin typeface="Courier New" pitchFamily="34" charset="0"/>
                <a:ea typeface="Courier New" pitchFamily="34" charset="-122"/>
                <a:cs typeface="Courier New" pitchFamily="34" charset="-120"/>
              </a:rPr>
              <a:t>identity.py</a:t>
            </a:r>
            <a:endParaRPr lang="en-US" sz="1400" dirty="0"/>
          </a:p>
        </p:txBody>
      </p:sp>
      <p:sp>
        <p:nvSpPr>
          <p:cNvPr id="18" name="Text 12"/>
          <p:cNvSpPr txBox="1"/>
          <p:nvPr/>
        </p:nvSpPr>
        <p:spPr>
          <a:xfrm>
            <a:off x="8442655" y="2194560"/>
            <a:ext cx="3063240" cy="1234440"/>
          </a:xfrm>
          <a:prstGeom prst="rect">
            <a:avLst/>
          </a:prstGeom>
          <a:noFill/>
          <a:ln/>
        </p:spPr>
        <p:txBody>
          <a:bodyPr wrap="square" lIns="0" tIns="0" rIns="0" bIns="0" rtlCol="0" anchor="t"/>
          <a:lstStyle/>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user_id, name</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emails{} phones{} hashes{}</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matched_via, audit_ids[]</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 link_keys</a:t>
            </a:r>
            <a:endParaRPr lang="en-US" sz="1200" dirty="0"/>
          </a:p>
        </p:txBody>
      </p:sp>
      <p:sp>
        <p:nvSpPr>
          <p:cNvPr id="19" name="Shape 13"/>
          <p:cNvSpPr/>
          <p:nvPr/>
        </p:nvSpPr>
        <p:spPr>
          <a:xfrm>
            <a:off x="8214055" y="3840480"/>
            <a:ext cx="3429000" cy="2194560"/>
          </a:xfrm>
          <a:prstGeom prst="roundRect">
            <a:avLst>
              <a:gd name="adj" fmla="val 4167"/>
            </a:avLst>
          </a:prstGeom>
          <a:solidFill>
            <a:schemeClr val="bg2"/>
          </a:solidFill>
          <a:ln w="9525">
            <a:solidFill>
              <a:schemeClr val="bg2"/>
            </a:solidFill>
            <a:prstDash val="solid"/>
          </a:ln>
        </p:spPr>
      </p:sp>
      <p:sp>
        <p:nvSpPr>
          <p:cNvPr id="20" name="Shape 14"/>
          <p:cNvSpPr/>
          <p:nvPr/>
        </p:nvSpPr>
        <p:spPr>
          <a:xfrm>
            <a:off x="8396935" y="4023360"/>
            <a:ext cx="502920" cy="50292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8507578" y="4134002"/>
            <a:ext cx="281635" cy="281635"/>
          </a:xfrm>
          <a:prstGeom prst="rect">
            <a:avLst/>
          </a:prstGeom>
        </p:spPr>
      </p:pic>
      <p:sp>
        <p:nvSpPr>
          <p:cNvPr id="22" name="Text 15"/>
          <p:cNvSpPr txBox="1"/>
          <p:nvPr/>
        </p:nvSpPr>
        <p:spPr>
          <a:xfrm>
            <a:off x="9037015" y="3977640"/>
            <a:ext cx="2514600" cy="640080"/>
          </a:xfrm>
          <a:prstGeom prst="rect">
            <a:avLst/>
          </a:prstGeom>
          <a:noFill/>
          <a:ln/>
        </p:spPr>
        <p:txBody>
          <a:bodyPr wrap="square" lIns="0" tIns="0" rIns="0" bIns="0" rtlCol="0" anchor="t"/>
          <a:lstStyle/>
          <a:p>
            <a:pPr indent="0" marL="0">
              <a:buNone/>
            </a:pPr>
            <a:r>
              <a:rPr lang="en-US" sz="1600" b="1" dirty="0">
                <a:solidFill>
                  <a:schemeClr val="tx1"/>
                </a:solidFill>
              </a:rPr>
              <a:t>Observation</a:t>
            </a:r>
            <a:endParaRPr lang="en-US" sz="1400" dirty="0"/>
          </a:p>
          <a:p>
            <a:pPr indent="0" marL="0">
              <a:buNone/>
            </a:pPr>
            <a:r>
              <a:rPr lang="en-US" sz="1150" dirty="0">
                <a:solidFill>
                  <a:schemeClr val="accent4"/>
                </a:solidFill>
                <a:latin typeface="Courier New" pitchFamily="34" charset="0"/>
                <a:ea typeface="Courier New" pitchFamily="34" charset="-122"/>
                <a:cs typeface="Courier New" pitchFamily="34" charset="-120"/>
              </a:rPr>
              <a:t>observations.py</a:t>
            </a:r>
            <a:endParaRPr lang="en-US" sz="1400" dirty="0"/>
          </a:p>
        </p:txBody>
      </p:sp>
      <p:sp>
        <p:nvSpPr>
          <p:cNvPr id="23" name="Text 16"/>
          <p:cNvSpPr txBox="1"/>
          <p:nvPr/>
        </p:nvSpPr>
        <p:spPr>
          <a:xfrm>
            <a:off x="8442655" y="4709160"/>
            <a:ext cx="3063240" cy="1234440"/>
          </a:xfrm>
          <a:prstGeom prst="rect">
            <a:avLst/>
          </a:prstGeom>
          <a:noFill/>
          <a:ln/>
        </p:spPr>
        <p:txBody>
          <a:bodyPr wrap="square" lIns="0" tIns="0" rIns="0" bIns="0" rtlCol="0" anchor="t"/>
          <a:lstStyle/>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file_id, captured_at, ts</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system, resource_id, category</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present / exposed / active</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links{}, kind</a:t>
            </a:r>
            <a:endParaRPr lang="en-US" sz="1200" dirty="0"/>
          </a:p>
        </p:txBody>
      </p:sp>
      <p:sp>
        <p:nvSpPr>
          <p:cNvPr id="24" name="Shape 17"/>
          <p:cNvSpPr/>
          <p:nvPr/>
        </p:nvSpPr>
        <p:spPr>
          <a:xfrm>
            <a:off x="4381348" y="3840480"/>
            <a:ext cx="3429000" cy="2194560"/>
          </a:xfrm>
          <a:prstGeom prst="roundRect">
            <a:avLst>
              <a:gd name="adj" fmla="val 4167"/>
            </a:avLst>
          </a:prstGeom>
          <a:solidFill>
            <a:schemeClr val="bg2"/>
          </a:solidFill>
          <a:ln w="9525">
            <a:solidFill>
              <a:schemeClr val="bg2"/>
            </a:solidFill>
            <a:prstDash val="solid"/>
          </a:ln>
        </p:spPr>
      </p:sp>
      <p:sp>
        <p:nvSpPr>
          <p:cNvPr id="25" name="Shape 18"/>
          <p:cNvSpPr/>
          <p:nvPr/>
        </p:nvSpPr>
        <p:spPr>
          <a:xfrm>
            <a:off x="4564228" y="4023360"/>
            <a:ext cx="502920" cy="50292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4674870" y="4134002"/>
            <a:ext cx="281635" cy="281635"/>
          </a:xfrm>
          <a:prstGeom prst="rect">
            <a:avLst/>
          </a:prstGeom>
        </p:spPr>
      </p:pic>
      <p:sp>
        <p:nvSpPr>
          <p:cNvPr id="27" name="Text 19"/>
          <p:cNvSpPr txBox="1"/>
          <p:nvPr/>
        </p:nvSpPr>
        <p:spPr>
          <a:xfrm>
            <a:off x="5204308" y="3977640"/>
            <a:ext cx="2514600" cy="640080"/>
          </a:xfrm>
          <a:prstGeom prst="rect">
            <a:avLst/>
          </a:prstGeom>
          <a:noFill/>
          <a:ln/>
        </p:spPr>
        <p:txBody>
          <a:bodyPr wrap="square" lIns="0" tIns="0" rIns="0" bIns="0" rtlCol="0" anchor="t"/>
          <a:lstStyle/>
          <a:p>
            <a:pPr indent="0" marL="0">
              <a:buNone/>
            </a:pPr>
            <a:r>
              <a:rPr lang="en-US" sz="1600" b="1" dirty="0">
                <a:solidFill>
                  <a:schemeClr val="tx1"/>
                </a:solidFill>
              </a:rPr>
              <a:t>ResourceState</a:t>
            </a:r>
            <a:endParaRPr lang="en-US" sz="1400" dirty="0"/>
          </a:p>
          <a:p>
            <a:pPr indent="0" marL="0">
              <a:buNone/>
            </a:pPr>
            <a:r>
              <a:rPr lang="en-US" sz="1150" dirty="0">
                <a:solidFill>
                  <a:schemeClr val="accent4"/>
                </a:solidFill>
                <a:latin typeface="Courier New" pitchFamily="34" charset="0"/>
                <a:ea typeface="Courier New" pitchFamily="34" charset="-122"/>
                <a:cs typeface="Courier New" pitchFamily="34" charset="-120"/>
              </a:rPr>
              <a:t>investigate.py</a:t>
            </a:r>
            <a:endParaRPr lang="en-US" sz="1400" dirty="0"/>
          </a:p>
        </p:txBody>
      </p:sp>
      <p:sp>
        <p:nvSpPr>
          <p:cNvPr id="28" name="Text 20"/>
          <p:cNvSpPr txBox="1"/>
          <p:nvPr/>
        </p:nvSpPr>
        <p:spPr>
          <a:xfrm>
            <a:off x="4609948" y="4709160"/>
            <a:ext cx="3063240" cy="1234440"/>
          </a:xfrm>
          <a:prstGeom prst="rect">
            <a:avLst/>
          </a:prstGeom>
          <a:noFill/>
          <a:ln/>
        </p:spPr>
        <p:txBody>
          <a:bodyPr wrap="square" lIns="0" tIns="0" rIns="0" bIns="0" rtlCol="0" anchor="t"/>
          <a:lstStyle/>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system, resource_id, category</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present / exposed / active</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evidence_id, observed_at</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reasons[]</a:t>
            </a:r>
            <a:endParaRPr lang="en-US" sz="1200" dirty="0"/>
          </a:p>
        </p:txBody>
      </p:sp>
      <p:sp>
        <p:nvSpPr>
          <p:cNvPr id="29" name="Shape 21"/>
          <p:cNvSpPr/>
          <p:nvPr/>
        </p:nvSpPr>
        <p:spPr>
          <a:xfrm>
            <a:off x="548640" y="3840480"/>
            <a:ext cx="3429000" cy="2194560"/>
          </a:xfrm>
          <a:prstGeom prst="roundRect">
            <a:avLst>
              <a:gd name="adj" fmla="val 4167"/>
            </a:avLst>
          </a:prstGeom>
          <a:solidFill>
            <a:schemeClr val="bg2"/>
          </a:solidFill>
          <a:ln w="9525">
            <a:solidFill>
              <a:schemeClr val="bg2"/>
            </a:solidFill>
            <a:prstDash val="solid"/>
          </a:ln>
        </p:spPr>
      </p:sp>
      <p:sp>
        <p:nvSpPr>
          <p:cNvPr id="30" name="Shape 22"/>
          <p:cNvSpPr/>
          <p:nvPr/>
        </p:nvSpPr>
        <p:spPr>
          <a:xfrm>
            <a:off x="731520" y="4023360"/>
            <a:ext cx="502920" cy="502920"/>
          </a:xfrm>
          <a:prstGeom prst="ellipse">
            <a:avLst/>
          </a:prstGeom>
          <a:solidFill>
            <a:schemeClr val="tx2"/>
          </a:solidFill>
          <a:ln w="12700">
            <a:solidFill>
              <a:schemeClr val="tx2"/>
            </a:solidFill>
            <a:prstDash val="solid"/>
          </a:ln>
        </p:spPr>
      </p:sp>
      <p:pic>
        <p:nvPicPr>
          <p:cNvPr id="31" name="Image 5" descr="preencoded.png">    </p:cNvPr>
          <p:cNvPicPr>
            <a:picLocks noChangeAspect="1"/>
          </p:cNvPicPr>
          <p:nvPr/>
        </p:nvPicPr>
        <p:blipFill>
          <a:blip r:embed="rId6"/>
          <a:stretch>
            <a:fillRect/>
          </a:stretch>
        </p:blipFill>
        <p:spPr>
          <a:xfrm>
            <a:off x="842162" y="4134002"/>
            <a:ext cx="281635" cy="281635"/>
          </a:xfrm>
          <a:prstGeom prst="rect">
            <a:avLst/>
          </a:prstGeom>
        </p:spPr>
      </p:pic>
      <p:sp>
        <p:nvSpPr>
          <p:cNvPr id="32" name="Text 23"/>
          <p:cNvSpPr txBox="1"/>
          <p:nvPr/>
        </p:nvSpPr>
        <p:spPr>
          <a:xfrm>
            <a:off x="1371600" y="3977640"/>
            <a:ext cx="2514600" cy="640080"/>
          </a:xfrm>
          <a:prstGeom prst="rect">
            <a:avLst/>
          </a:prstGeom>
          <a:noFill/>
          <a:ln/>
        </p:spPr>
        <p:txBody>
          <a:bodyPr wrap="square" lIns="0" tIns="0" rIns="0" bIns="0" rtlCol="0" anchor="t"/>
          <a:lstStyle/>
          <a:p>
            <a:pPr indent="0" marL="0">
              <a:buNone/>
            </a:pPr>
            <a:r>
              <a:rPr lang="en-US" sz="1600" b="1" dirty="0">
                <a:solidFill>
                  <a:schemeClr val="tx1"/>
                </a:solidFill>
              </a:rPr>
              <a:t>Paso y fila</a:t>
            </a:r>
            <a:endParaRPr lang="en-US" sz="1400" dirty="0"/>
          </a:p>
          <a:p>
            <a:pPr indent="0" marL="0">
              <a:buNone/>
            </a:pPr>
            <a:r>
              <a:rPr lang="en-US" sz="1150" dirty="0">
                <a:solidFill>
                  <a:schemeClr val="accent4"/>
                </a:solidFill>
                <a:latin typeface="Courier New" pitchFamily="34" charset="0"/>
                <a:ea typeface="Courier New" pitchFamily="34" charset="-122"/>
                <a:cs typeface="Courier New" pitchFamily="34" charset="-120"/>
              </a:rPr>
              <a:t>policy.py · validate.py</a:t>
            </a:r>
            <a:endParaRPr lang="en-US" sz="1400" dirty="0"/>
          </a:p>
        </p:txBody>
      </p:sp>
      <p:sp>
        <p:nvSpPr>
          <p:cNvPr id="33" name="Text 24"/>
          <p:cNvSpPr txBox="1"/>
          <p:nvPr/>
        </p:nvSpPr>
        <p:spPr>
          <a:xfrm>
            <a:off x="777240" y="4709160"/>
            <a:ext cx="3063240" cy="1234440"/>
          </a:xfrm>
          <a:prstGeom prst="rect">
            <a:avLst/>
          </a:prstGeom>
          <a:noFill/>
          <a:ln/>
        </p:spPr>
        <p:txBody>
          <a:bodyPr wrap="square" lIns="0" tIns="0" rIns="0" bIns="0" rtlCol="0" anchor="t"/>
          <a:lstStyle/>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step_no, phase, operation</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system_id, resource_id</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state, evidence_id</a:t>
            </a:r>
            <a:endParaRPr lang="en-US" sz="1200" dirty="0"/>
          </a:p>
          <a:p>
            <a:pPr indent="0" marL="0">
              <a:spcAft>
                <a:spcPts val="300"/>
              </a:spcAft>
              <a:buNone/>
            </a:pPr>
            <a:r>
              <a:rPr lang="en-US" sz="1200" dirty="0">
                <a:solidFill>
                  <a:schemeClr val="tx2"/>
                </a:solidFill>
                <a:latin typeface="Courier New" pitchFamily="34" charset="0"/>
                <a:ea typeface="Courier New" pitchFamily="34" charset="-122"/>
                <a:cs typeface="Courier New" pitchFamily="34" charset="-120"/>
              </a:rPr>
              <a:t>→ output.csv + trace.jsonl</a:t>
            </a:r>
            <a:endParaRPr lang="en-US" sz="1200" dirty="0"/>
          </a:p>
        </p:txBody>
      </p:sp>
      <p:sp>
        <p:nvSpPr>
          <p:cNvPr id="34" name="Shape 25"/>
          <p:cNvSpPr/>
          <p:nvPr/>
        </p:nvSpPr>
        <p:spPr>
          <a:xfrm>
            <a:off x="4023360" y="2423160"/>
            <a:ext cx="312268" cy="0"/>
          </a:xfrm>
          <a:prstGeom prst="line">
            <a:avLst/>
          </a:prstGeom>
          <a:noFill/>
          <a:ln w="31750">
            <a:solidFill>
              <a:schemeClr val="accent4"/>
            </a:solidFill>
            <a:prstDash val="solid"/>
            <a:tailEnd type="triangle"/>
          </a:ln>
        </p:spPr>
      </p:sp>
      <p:sp>
        <p:nvSpPr>
          <p:cNvPr id="35" name="Shape 26"/>
          <p:cNvSpPr/>
          <p:nvPr/>
        </p:nvSpPr>
        <p:spPr>
          <a:xfrm>
            <a:off x="7856068" y="2423160"/>
            <a:ext cx="312268" cy="0"/>
          </a:xfrm>
          <a:prstGeom prst="line">
            <a:avLst/>
          </a:prstGeom>
          <a:noFill/>
          <a:ln w="31750">
            <a:solidFill>
              <a:schemeClr val="accent4"/>
            </a:solidFill>
            <a:prstDash val="solid"/>
            <a:tailEnd type="triangle"/>
          </a:ln>
        </p:spPr>
      </p:sp>
      <p:sp>
        <p:nvSpPr>
          <p:cNvPr id="36" name="Shape 27"/>
          <p:cNvSpPr/>
          <p:nvPr/>
        </p:nvSpPr>
        <p:spPr>
          <a:xfrm>
            <a:off x="9928555" y="3566160"/>
            <a:ext cx="0" cy="228600"/>
          </a:xfrm>
          <a:prstGeom prst="line">
            <a:avLst/>
          </a:prstGeom>
          <a:noFill/>
          <a:ln w="31750">
            <a:solidFill>
              <a:schemeClr val="accent4"/>
            </a:solidFill>
            <a:prstDash val="solid"/>
            <a:tailEnd type="triangle"/>
          </a:ln>
        </p:spPr>
      </p:sp>
      <p:sp>
        <p:nvSpPr>
          <p:cNvPr id="37" name="Shape 28"/>
          <p:cNvSpPr/>
          <p:nvPr/>
        </p:nvSpPr>
        <p:spPr>
          <a:xfrm flipH="1">
            <a:off x="7856068" y="4937760"/>
            <a:ext cx="312268" cy="0"/>
          </a:xfrm>
          <a:prstGeom prst="line">
            <a:avLst/>
          </a:prstGeom>
          <a:noFill/>
          <a:ln w="31750">
            <a:solidFill>
              <a:schemeClr val="accent4"/>
            </a:solidFill>
            <a:prstDash val="solid"/>
            <a:tailEnd type="triangle"/>
          </a:ln>
        </p:spPr>
      </p:sp>
      <p:sp>
        <p:nvSpPr>
          <p:cNvPr id="38" name="Shape 29"/>
          <p:cNvSpPr/>
          <p:nvPr/>
        </p:nvSpPr>
        <p:spPr>
          <a:xfrm flipH="1">
            <a:off x="4023360" y="4937760"/>
            <a:ext cx="312268" cy="0"/>
          </a:xfrm>
          <a:prstGeom prst="line">
            <a:avLst/>
          </a:prstGeom>
          <a:noFill/>
          <a:ln w="31750">
            <a:solidFill>
              <a:schemeClr val="accent4"/>
            </a:solidFill>
            <a:prstDash val="solid"/>
            <a:tailEnd type="triangle"/>
          </a:ln>
        </p:spPr>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 ventana temporal de cada caso</a:t>
            </a:r>
            <a:endParaRPr lang="en-US" sz="3200" dirty="0"/>
          </a:p>
        </p:txBody>
      </p:sp>
      <p:sp>
        <p:nvSpPr>
          <p:cNvPr id="4" name="Shape 1"/>
          <p:cNvSpPr/>
          <p:nvPr/>
        </p:nvSpPr>
        <p:spPr>
          <a:xfrm>
            <a:off x="2377440" y="1783080"/>
            <a:ext cx="6949440" cy="2011680"/>
          </a:xfrm>
          <a:prstGeom prst="rect">
            <a:avLst/>
          </a:prstGeom>
          <a:solidFill>
            <a:schemeClr val="bg2"/>
          </a:solidFill>
          <a:ln w="12700">
            <a:solidFill>
              <a:schemeClr val="bg2"/>
            </a:solidFill>
            <a:prstDash val="solid"/>
          </a:ln>
        </p:spPr>
      </p:sp>
      <p:sp>
        <p:nvSpPr>
          <p:cNvPr id="5" name="Text 2"/>
          <p:cNvSpPr txBox="1"/>
          <p:nvPr/>
        </p:nvSpPr>
        <p:spPr>
          <a:xfrm>
            <a:off x="2514600" y="1828800"/>
            <a:ext cx="3657600" cy="320040"/>
          </a:xfrm>
          <a:prstGeom prst="rect">
            <a:avLst/>
          </a:prstGeom>
          <a:noFill/>
          <a:ln/>
        </p:spPr>
        <p:txBody>
          <a:bodyPr wrap="square" lIns="0" tIns="0" rIns="0" bIns="0" rtlCol="0" anchor="t"/>
          <a:lstStyle/>
          <a:p>
            <a:pPr indent="0" marL="0">
              <a:buNone/>
            </a:pPr>
            <a:r>
              <a:rPr lang="en-US" sz="1200" b="1" dirty="0">
                <a:solidFill>
                  <a:schemeClr val="accent1"/>
                </a:solidFill>
              </a:rPr>
              <a:t>ventana de evidencia válida</a:t>
            </a:r>
            <a:endParaRPr lang="en-US" sz="1200" dirty="0"/>
          </a:p>
        </p:txBody>
      </p:sp>
      <p:sp>
        <p:nvSpPr>
          <p:cNvPr id="6" name="Shape 3"/>
          <p:cNvSpPr/>
          <p:nvPr/>
        </p:nvSpPr>
        <p:spPr>
          <a:xfrm>
            <a:off x="822960" y="2788920"/>
            <a:ext cx="10515600" cy="0"/>
          </a:xfrm>
          <a:prstGeom prst="line">
            <a:avLst/>
          </a:prstGeom>
          <a:noFill/>
          <a:ln w="31750">
            <a:solidFill>
              <a:schemeClr val="tx2"/>
            </a:solidFill>
            <a:prstDash val="solid"/>
            <a:tailEnd type="triangle"/>
          </a:ln>
        </p:spPr>
      </p:sp>
      <p:sp>
        <p:nvSpPr>
          <p:cNvPr id="7" name="Shape 4"/>
          <p:cNvSpPr/>
          <p:nvPr/>
        </p:nvSpPr>
        <p:spPr>
          <a:xfrm>
            <a:off x="2350008" y="2331720"/>
            <a:ext cx="54864" cy="914400"/>
          </a:xfrm>
          <a:prstGeom prst="rect">
            <a:avLst/>
          </a:prstGeom>
          <a:solidFill>
            <a:schemeClr val="tx2"/>
          </a:solidFill>
          <a:ln w="12700">
            <a:solidFill>
              <a:schemeClr val="tx2"/>
            </a:solidFill>
            <a:prstDash val="solid"/>
          </a:ln>
        </p:spPr>
      </p:sp>
      <p:sp>
        <p:nvSpPr>
          <p:cNvPr id="8" name="Text 5"/>
          <p:cNvSpPr txBox="1"/>
          <p:nvPr/>
        </p:nvSpPr>
        <p:spPr>
          <a:xfrm>
            <a:off x="1280160" y="3337560"/>
            <a:ext cx="2194560" cy="320040"/>
          </a:xfrm>
          <a:prstGeom prst="rect">
            <a:avLst/>
          </a:prstGeom>
          <a:noFill/>
          <a:ln/>
        </p:spPr>
        <p:txBody>
          <a:bodyPr wrap="square" lIns="0" tIns="0" rIns="0" bIns="0" rtlCol="0" anchor="t"/>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requested_at</a:t>
            </a:r>
            <a:endParaRPr lang="en-US" sz="1400" dirty="0"/>
          </a:p>
        </p:txBody>
      </p:sp>
      <p:sp>
        <p:nvSpPr>
          <p:cNvPr id="9" name="Text 6"/>
          <p:cNvSpPr txBox="1"/>
          <p:nvPr/>
        </p:nvSpPr>
        <p:spPr>
          <a:xfrm>
            <a:off x="1280160" y="3639312"/>
            <a:ext cx="2194560" cy="320040"/>
          </a:xfrm>
          <a:prstGeom prst="rect">
            <a:avLst/>
          </a:prstGeom>
          <a:noFill/>
          <a:ln/>
        </p:spPr>
        <p:txBody>
          <a:bodyPr wrap="square" lIns="0" tIns="0" rIns="0" bIns="0" rtlCol="0" anchor="t"/>
          <a:lstStyle/>
          <a:p>
            <a:pPr algn="ctr" indent="0" marL="0">
              <a:buNone/>
            </a:pPr>
            <a:r>
              <a:rPr lang="en-US" sz="1200" dirty="0">
                <a:solidFill>
                  <a:schemeClr val="accent4"/>
                </a:solidFill>
              </a:rPr>
              <a:t>se pide el borrado</a:t>
            </a:r>
            <a:endParaRPr lang="en-US" sz="1200" dirty="0"/>
          </a:p>
        </p:txBody>
      </p:sp>
      <p:sp>
        <p:nvSpPr>
          <p:cNvPr id="10" name="Shape 7"/>
          <p:cNvSpPr/>
          <p:nvPr/>
        </p:nvSpPr>
        <p:spPr>
          <a:xfrm>
            <a:off x="5641848" y="2331720"/>
            <a:ext cx="54864" cy="914400"/>
          </a:xfrm>
          <a:prstGeom prst="rect">
            <a:avLst/>
          </a:prstGeom>
          <a:solidFill>
            <a:schemeClr val="accent4"/>
          </a:solidFill>
          <a:ln w="12700">
            <a:solidFill>
              <a:schemeClr val="accent4"/>
            </a:solidFill>
            <a:prstDash val="solid"/>
          </a:ln>
        </p:spPr>
      </p:sp>
      <p:sp>
        <p:nvSpPr>
          <p:cNvPr id="11" name="Text 8"/>
          <p:cNvSpPr txBox="1"/>
          <p:nvPr/>
        </p:nvSpPr>
        <p:spPr>
          <a:xfrm>
            <a:off x="4572000" y="3337560"/>
            <a:ext cx="2194560" cy="320040"/>
          </a:xfrm>
          <a:prstGeom prst="rect">
            <a:avLst/>
          </a:prstGeom>
          <a:noFill/>
          <a:ln/>
        </p:spPr>
        <p:txBody>
          <a:bodyPr wrap="square" lIns="0" tIns="0" rIns="0" bIns="0" rtlCol="0" anchor="t"/>
          <a:lstStyle/>
          <a:p>
            <a:pPr algn="ctr" indent="0" marL="0">
              <a:buNone/>
            </a:pPr>
            <a:r>
              <a:rPr lang="en-US" sz="1400" b="1" dirty="0">
                <a:solidFill>
                  <a:schemeClr val="accent4"/>
                </a:solidFill>
                <a:latin typeface="Courier New" pitchFamily="34" charset="0"/>
                <a:ea typeface="Courier New" pitchFamily="34" charset="-122"/>
                <a:cs typeface="Courier New" pitchFamily="34" charset="-120"/>
              </a:rPr>
              <a:t>reported_at</a:t>
            </a:r>
            <a:endParaRPr lang="en-US" sz="1400" dirty="0"/>
          </a:p>
        </p:txBody>
      </p:sp>
      <p:sp>
        <p:nvSpPr>
          <p:cNvPr id="12" name="Text 9"/>
          <p:cNvSpPr txBox="1"/>
          <p:nvPr/>
        </p:nvSpPr>
        <p:spPr>
          <a:xfrm>
            <a:off x="4572000" y="3639312"/>
            <a:ext cx="2194560" cy="320040"/>
          </a:xfrm>
          <a:prstGeom prst="rect">
            <a:avLst/>
          </a:prstGeom>
          <a:noFill/>
          <a:ln/>
        </p:spPr>
        <p:txBody>
          <a:bodyPr wrap="square" lIns="0" tIns="0" rIns="0" bIns="0" rtlCol="0" anchor="t"/>
          <a:lstStyle/>
          <a:p>
            <a:pPr algn="ctr" indent="0" marL="0">
              <a:buNone/>
            </a:pPr>
            <a:r>
              <a:rPr lang="en-US" sz="1200" dirty="0">
                <a:solidFill>
                  <a:schemeClr val="accent4"/>
                </a:solidFill>
              </a:rPr>
              <a:t>el workflow afirma un estado</a:t>
            </a:r>
            <a:endParaRPr lang="en-US" sz="1200" dirty="0"/>
          </a:p>
        </p:txBody>
      </p:sp>
      <p:sp>
        <p:nvSpPr>
          <p:cNvPr id="13" name="Shape 10"/>
          <p:cNvSpPr/>
          <p:nvPr/>
        </p:nvSpPr>
        <p:spPr>
          <a:xfrm>
            <a:off x="9299448" y="2331720"/>
            <a:ext cx="54864" cy="914400"/>
          </a:xfrm>
          <a:prstGeom prst="rect">
            <a:avLst/>
          </a:prstGeom>
          <a:solidFill>
            <a:schemeClr val="accent2"/>
          </a:solidFill>
          <a:ln w="12700">
            <a:solidFill>
              <a:schemeClr val="accent2"/>
            </a:solidFill>
            <a:prstDash val="solid"/>
          </a:ln>
        </p:spPr>
      </p:sp>
      <p:sp>
        <p:nvSpPr>
          <p:cNvPr id="14" name="Text 11"/>
          <p:cNvSpPr txBox="1"/>
          <p:nvPr/>
        </p:nvSpPr>
        <p:spPr>
          <a:xfrm>
            <a:off x="8229600" y="3337560"/>
            <a:ext cx="2194560" cy="320040"/>
          </a:xfrm>
          <a:prstGeom prst="rect">
            <a:avLst/>
          </a:prstGeom>
          <a:noFill/>
          <a:ln/>
        </p:spPr>
        <p:txBody>
          <a:bodyPr wrap="square" lIns="0" tIns="0" rIns="0" bIns="0" rtlCol="0" anchor="t"/>
          <a:lstStyle/>
          <a:p>
            <a:pPr algn="ctr" indent="0" marL="0">
              <a:buNone/>
            </a:pPr>
            <a:r>
              <a:rPr lang="en-US" sz="1400" b="1" dirty="0">
                <a:solidFill>
                  <a:schemeClr val="accent2"/>
                </a:solidFill>
                <a:latin typeface="Courier New" pitchFamily="34" charset="0"/>
                <a:ea typeface="Courier New" pitchFamily="34" charset="-122"/>
                <a:cs typeface="Courier New" pitchFamily="34" charset="-120"/>
              </a:rPr>
              <a:t>audit_at</a:t>
            </a:r>
            <a:endParaRPr lang="en-US" sz="1400" dirty="0"/>
          </a:p>
        </p:txBody>
      </p:sp>
      <p:sp>
        <p:nvSpPr>
          <p:cNvPr id="15" name="Text 12"/>
          <p:cNvSpPr txBox="1"/>
          <p:nvPr/>
        </p:nvSpPr>
        <p:spPr>
          <a:xfrm>
            <a:off x="8229600" y="3639312"/>
            <a:ext cx="2194560" cy="320040"/>
          </a:xfrm>
          <a:prstGeom prst="rect">
            <a:avLst/>
          </a:prstGeom>
          <a:noFill/>
          <a:ln/>
        </p:spPr>
        <p:txBody>
          <a:bodyPr wrap="square" lIns="0" tIns="0" rIns="0" bIns="0" rtlCol="0" anchor="t"/>
          <a:lstStyle/>
          <a:p>
            <a:pPr algn="ctr" indent="0" marL="0">
              <a:buNone/>
            </a:pPr>
            <a:r>
              <a:rPr lang="en-US" sz="1200" dirty="0">
                <a:solidFill>
                  <a:schemeClr val="accent4"/>
                </a:solidFill>
              </a:rPr>
              <a:t>hora de corte</a:t>
            </a:r>
            <a:endParaRPr lang="en-US" sz="1200" dirty="0"/>
          </a:p>
        </p:txBody>
      </p:sp>
      <p:sp>
        <p:nvSpPr>
          <p:cNvPr id="16" name="Shape 13"/>
          <p:cNvSpPr/>
          <p:nvPr/>
        </p:nvSpPr>
        <p:spPr>
          <a:xfrm>
            <a:off x="1261872" y="2633472"/>
            <a:ext cx="310896" cy="310896"/>
          </a:xfrm>
          <a:prstGeom prst="ellipse">
            <a:avLst/>
          </a:prstGeom>
          <a:solidFill>
            <a:schemeClr val="accent4"/>
          </a:solidFill>
          <a:ln w="19050">
            <a:solidFill>
              <a:schemeClr val="bg1"/>
            </a:solidFill>
            <a:prstDash val="solid"/>
          </a:ln>
        </p:spPr>
      </p:sp>
      <p:sp>
        <p:nvSpPr>
          <p:cNvPr id="17" name="Text 14"/>
          <p:cNvSpPr txBox="1"/>
          <p:nvPr/>
        </p:nvSpPr>
        <p:spPr>
          <a:xfrm>
            <a:off x="502920" y="2240280"/>
            <a:ext cx="1828800" cy="320040"/>
          </a:xfrm>
          <a:prstGeom prst="rect">
            <a:avLst/>
          </a:prstGeom>
          <a:noFill/>
          <a:ln/>
        </p:spPr>
        <p:txBody>
          <a:bodyPr wrap="square" lIns="0" tIns="0" rIns="0" bIns="0" rtlCol="0" anchor="t"/>
          <a:lstStyle/>
          <a:p>
            <a:pPr algn="ctr" indent="0" marL="0">
              <a:buNone/>
            </a:pPr>
            <a:r>
              <a:rPr lang="en-US" sz="1200" b="1" dirty="0">
                <a:solidFill>
                  <a:schemeClr val="accent4"/>
                </a:solidFill>
              </a:rPr>
              <a:t>antes: no cuenta</a:t>
            </a:r>
            <a:endParaRPr lang="en-US" sz="1200" dirty="0"/>
          </a:p>
        </p:txBody>
      </p:sp>
      <p:sp>
        <p:nvSpPr>
          <p:cNvPr id="18" name="Shape 15"/>
          <p:cNvSpPr/>
          <p:nvPr/>
        </p:nvSpPr>
        <p:spPr>
          <a:xfrm>
            <a:off x="3776472" y="2633472"/>
            <a:ext cx="310896" cy="310896"/>
          </a:xfrm>
          <a:prstGeom prst="ellipse">
            <a:avLst/>
          </a:prstGeom>
          <a:solidFill>
            <a:schemeClr val="accent1"/>
          </a:solidFill>
          <a:ln w="19050">
            <a:solidFill>
              <a:schemeClr val="bg1"/>
            </a:solidFill>
            <a:prstDash val="solid"/>
          </a:ln>
        </p:spPr>
      </p:sp>
      <p:sp>
        <p:nvSpPr>
          <p:cNvPr id="19" name="Text 16"/>
          <p:cNvSpPr txBox="1"/>
          <p:nvPr/>
        </p:nvSpPr>
        <p:spPr>
          <a:xfrm>
            <a:off x="3017520" y="2240280"/>
            <a:ext cx="1828800" cy="320040"/>
          </a:xfrm>
          <a:prstGeom prst="rect">
            <a:avLst/>
          </a:prstGeom>
          <a:noFill/>
          <a:ln/>
        </p:spPr>
        <p:txBody>
          <a:bodyPr wrap="square" lIns="0" tIns="0" rIns="0" bIns="0" rtlCol="0" anchor="t"/>
          <a:lstStyle/>
          <a:p>
            <a:pPr algn="ctr" indent="0" marL="0">
              <a:buNone/>
            </a:pPr>
            <a:r>
              <a:rPr lang="en-US" sz="1200" b="1" dirty="0">
                <a:solidFill>
                  <a:schemeClr val="accent1"/>
                </a:solidFill>
              </a:rPr>
              <a:t>cuenta</a:t>
            </a:r>
            <a:endParaRPr lang="en-US" sz="1200" dirty="0"/>
          </a:p>
        </p:txBody>
      </p:sp>
      <p:sp>
        <p:nvSpPr>
          <p:cNvPr id="20" name="Shape 17"/>
          <p:cNvSpPr/>
          <p:nvPr/>
        </p:nvSpPr>
        <p:spPr>
          <a:xfrm>
            <a:off x="7708392" y="2633472"/>
            <a:ext cx="310896" cy="310896"/>
          </a:xfrm>
          <a:prstGeom prst="ellipse">
            <a:avLst/>
          </a:prstGeom>
          <a:solidFill>
            <a:schemeClr val="accent1"/>
          </a:solidFill>
          <a:ln w="19050">
            <a:solidFill>
              <a:schemeClr val="bg1"/>
            </a:solidFill>
            <a:prstDash val="solid"/>
          </a:ln>
        </p:spPr>
      </p:sp>
      <p:sp>
        <p:nvSpPr>
          <p:cNvPr id="21" name="Text 18"/>
          <p:cNvSpPr txBox="1"/>
          <p:nvPr/>
        </p:nvSpPr>
        <p:spPr>
          <a:xfrm>
            <a:off x="6949440" y="2240280"/>
            <a:ext cx="1828800" cy="320040"/>
          </a:xfrm>
          <a:prstGeom prst="rect">
            <a:avLst/>
          </a:prstGeom>
          <a:noFill/>
          <a:ln/>
        </p:spPr>
        <p:txBody>
          <a:bodyPr wrap="square" lIns="0" tIns="0" rIns="0" bIns="0" rtlCol="0" anchor="t"/>
          <a:lstStyle/>
          <a:p>
            <a:pPr algn="ctr" indent="0" marL="0">
              <a:buNone/>
            </a:pPr>
            <a:r>
              <a:rPr lang="en-US" sz="1200" b="1" dirty="0">
                <a:solidFill>
                  <a:schemeClr val="accent1"/>
                </a:solidFill>
              </a:rPr>
              <a:t>la más reciente gana</a:t>
            </a:r>
            <a:endParaRPr lang="en-US" sz="1200" dirty="0"/>
          </a:p>
        </p:txBody>
      </p:sp>
      <p:sp>
        <p:nvSpPr>
          <p:cNvPr id="22" name="Shape 19"/>
          <p:cNvSpPr/>
          <p:nvPr/>
        </p:nvSpPr>
        <p:spPr>
          <a:xfrm>
            <a:off x="10268712" y="2633472"/>
            <a:ext cx="310896" cy="310896"/>
          </a:xfrm>
          <a:prstGeom prst="ellipse">
            <a:avLst/>
          </a:prstGeom>
          <a:solidFill>
            <a:schemeClr val="accent2"/>
          </a:solidFill>
          <a:ln w="19050">
            <a:solidFill>
              <a:schemeClr val="bg1"/>
            </a:solidFill>
            <a:prstDash val="solid"/>
          </a:ln>
        </p:spPr>
      </p:sp>
      <p:sp>
        <p:nvSpPr>
          <p:cNvPr id="23" name="Text 20"/>
          <p:cNvSpPr txBox="1"/>
          <p:nvPr/>
        </p:nvSpPr>
        <p:spPr>
          <a:xfrm>
            <a:off x="9509760" y="2240280"/>
            <a:ext cx="1828800" cy="320040"/>
          </a:xfrm>
          <a:prstGeom prst="rect">
            <a:avLst/>
          </a:prstGeom>
          <a:noFill/>
          <a:ln/>
        </p:spPr>
        <p:txBody>
          <a:bodyPr wrap="square" lIns="0" tIns="0" rIns="0" bIns="0" rtlCol="0" anchor="t"/>
          <a:lstStyle/>
          <a:p>
            <a:pPr algn="ctr" indent="0" marL="0">
              <a:buNone/>
            </a:pPr>
            <a:r>
              <a:rPr lang="en-US" sz="1200" b="1" dirty="0">
                <a:solidFill>
                  <a:schemeClr val="accent2"/>
                </a:solidFill>
              </a:rPr>
              <a:t>después: no se cita</a:t>
            </a:r>
            <a:endParaRPr lang="en-US" sz="1200" dirty="0"/>
          </a:p>
        </p:txBody>
      </p:sp>
      <p:sp>
        <p:nvSpPr>
          <p:cNvPr id="24" name="Shape 21"/>
          <p:cNvSpPr/>
          <p:nvPr/>
        </p:nvSpPr>
        <p:spPr>
          <a:xfrm>
            <a:off x="548640" y="4251960"/>
            <a:ext cx="3545738" cy="1965960"/>
          </a:xfrm>
          <a:prstGeom prst="roundRect">
            <a:avLst>
              <a:gd name="adj" fmla="val 4651"/>
            </a:avLst>
          </a:prstGeom>
          <a:solidFill>
            <a:schemeClr val="bg1"/>
          </a:solidFill>
          <a:ln w="12700">
            <a:solidFill>
              <a:srgbClr val="D3DCE1"/>
            </a:solidFill>
            <a:prstDash val="solid"/>
          </a:ln>
        </p:spPr>
      </p:sp>
      <p:sp>
        <p:nvSpPr>
          <p:cNvPr id="25" name="Shape 22"/>
          <p:cNvSpPr/>
          <p:nvPr/>
        </p:nvSpPr>
        <p:spPr>
          <a:xfrm>
            <a:off x="731520" y="4434840"/>
            <a:ext cx="502920" cy="502920"/>
          </a:xfrm>
          <a:prstGeom prst="ellipse">
            <a:avLst/>
          </a:prstGeom>
          <a:solidFill>
            <a:schemeClr val="accent1"/>
          </a:solidFill>
          <a:ln w="12700">
            <a:solidFill>
              <a:schemeClr val="accent1"/>
            </a:solidFill>
            <a:prstDash val="solid"/>
          </a:ln>
        </p:spPr>
      </p:sp>
      <p:pic>
        <p:nvPicPr>
          <p:cNvPr id="26" name="Image 0" descr="preencoded.png">    </p:cNvPr>
          <p:cNvPicPr>
            <a:picLocks noChangeAspect="1"/>
          </p:cNvPicPr>
          <p:nvPr/>
        </p:nvPicPr>
        <p:blipFill>
          <a:blip r:embed="rId1"/>
          <a:stretch>
            <a:fillRect/>
          </a:stretch>
        </p:blipFill>
        <p:spPr>
          <a:xfrm>
            <a:off x="842162" y="4545482"/>
            <a:ext cx="281635" cy="281635"/>
          </a:xfrm>
          <a:prstGeom prst="rect">
            <a:avLst/>
          </a:prstGeom>
        </p:spPr>
      </p:pic>
      <p:sp>
        <p:nvSpPr>
          <p:cNvPr id="27" name="Text 23"/>
          <p:cNvSpPr txBox="1"/>
          <p:nvPr/>
        </p:nvSpPr>
        <p:spPr>
          <a:xfrm>
            <a:off x="1371600" y="4434840"/>
            <a:ext cx="2631338" cy="502920"/>
          </a:xfrm>
          <a:prstGeom prst="rect">
            <a:avLst/>
          </a:prstGeom>
          <a:noFill/>
          <a:ln/>
        </p:spPr>
        <p:txBody>
          <a:bodyPr wrap="square" lIns="0" tIns="0" rIns="0" bIns="0" rtlCol="0" anchor="ctr"/>
          <a:lstStyle/>
          <a:p>
            <a:pPr indent="0" marL="0">
              <a:buNone/>
            </a:pPr>
            <a:r>
              <a:rPr lang="en-US" sz="1600" b="1" dirty="0">
                <a:solidFill>
                  <a:schemeClr val="tx1"/>
                </a:solidFill>
              </a:rPr>
              <a:t>Regla de la ventana</a:t>
            </a:r>
            <a:endParaRPr lang="en-US" sz="1600" dirty="0"/>
          </a:p>
        </p:txBody>
      </p:sp>
      <p:sp>
        <p:nvSpPr>
          <p:cNvPr id="28" name="Text 24"/>
          <p:cNvSpPr txBox="1"/>
          <p:nvPr/>
        </p:nvSpPr>
        <p:spPr>
          <a:xfrm>
            <a:off x="731520" y="5074920"/>
            <a:ext cx="3179978" cy="1097280"/>
          </a:xfrm>
          <a:prstGeom prst="rect">
            <a:avLst/>
          </a:prstGeom>
          <a:noFill/>
          <a:ln/>
        </p:spPr>
        <p:txBody>
          <a:bodyPr wrap="square" lIns="0" tIns="0" rIns="0" bIns="0" rtlCol="0" anchor="t"/>
          <a:lstStyle/>
          <a:p>
            <a:pPr indent="0" marL="0">
              <a:buNone/>
            </a:pPr>
            <a:r>
              <a:rPr lang="en-US" sz="1300" dirty="0">
                <a:solidFill>
                  <a:schemeClr val="tx2"/>
                </a:solidFill>
              </a:rPr>
              <a:t>Cuenta si el archivo se capturó entre requested_at y audit_at y el hecho no es posterior a audit_at.</a:t>
            </a:r>
            <a:endParaRPr lang="en-US" sz="1300" dirty="0"/>
          </a:p>
        </p:txBody>
      </p:sp>
      <p:sp>
        <p:nvSpPr>
          <p:cNvPr id="29" name="Shape 25"/>
          <p:cNvSpPr/>
          <p:nvPr/>
        </p:nvSpPr>
        <p:spPr>
          <a:xfrm>
            <a:off x="4322978" y="4251960"/>
            <a:ext cx="3545738" cy="1965960"/>
          </a:xfrm>
          <a:prstGeom prst="roundRect">
            <a:avLst>
              <a:gd name="adj" fmla="val 4651"/>
            </a:avLst>
          </a:prstGeom>
          <a:solidFill>
            <a:schemeClr val="bg1"/>
          </a:solidFill>
          <a:ln w="12700">
            <a:solidFill>
              <a:srgbClr val="D3DCE1"/>
            </a:solidFill>
            <a:prstDash val="solid"/>
          </a:ln>
        </p:spPr>
      </p:sp>
      <p:sp>
        <p:nvSpPr>
          <p:cNvPr id="30" name="Shape 26"/>
          <p:cNvSpPr/>
          <p:nvPr/>
        </p:nvSpPr>
        <p:spPr>
          <a:xfrm>
            <a:off x="4505858" y="4434840"/>
            <a:ext cx="502920" cy="502920"/>
          </a:xfrm>
          <a:prstGeom prst="ellipse">
            <a:avLst/>
          </a:prstGeom>
          <a:solidFill>
            <a:schemeClr val="tx2"/>
          </a:solidFill>
          <a:ln w="12700">
            <a:solidFill>
              <a:schemeClr val="tx2"/>
            </a:solidFill>
            <a:prstDash val="solid"/>
          </a:ln>
        </p:spPr>
      </p:sp>
      <p:pic>
        <p:nvPicPr>
          <p:cNvPr id="31" name="Image 1" descr="preencoded.png">    </p:cNvPr>
          <p:cNvPicPr>
            <a:picLocks noChangeAspect="1"/>
          </p:cNvPicPr>
          <p:nvPr/>
        </p:nvPicPr>
        <p:blipFill>
          <a:blip r:embed="rId2"/>
          <a:stretch>
            <a:fillRect/>
          </a:stretch>
        </p:blipFill>
        <p:spPr>
          <a:xfrm>
            <a:off x="4616501" y="4545482"/>
            <a:ext cx="281635" cy="281635"/>
          </a:xfrm>
          <a:prstGeom prst="rect">
            <a:avLst/>
          </a:prstGeom>
        </p:spPr>
      </p:pic>
      <p:sp>
        <p:nvSpPr>
          <p:cNvPr id="32" name="Text 27"/>
          <p:cNvSpPr txBox="1"/>
          <p:nvPr/>
        </p:nvSpPr>
        <p:spPr>
          <a:xfrm>
            <a:off x="5145938" y="4434840"/>
            <a:ext cx="2631338" cy="502920"/>
          </a:xfrm>
          <a:prstGeom prst="rect">
            <a:avLst/>
          </a:prstGeom>
          <a:noFill/>
          <a:ln/>
        </p:spPr>
        <p:txBody>
          <a:bodyPr wrap="square" lIns="0" tIns="0" rIns="0" bIns="0" rtlCol="0" anchor="ctr"/>
          <a:lstStyle/>
          <a:p>
            <a:pPr indent="0" marL="0">
              <a:buNone/>
            </a:pPr>
            <a:r>
              <a:rPr lang="en-US" sz="1600" b="1" dirty="0">
                <a:solidFill>
                  <a:schemeClr val="tx1"/>
                </a:solidFill>
              </a:rPr>
              <a:t>La más reciente gana</a:t>
            </a:r>
            <a:endParaRPr lang="en-US" sz="1600" dirty="0"/>
          </a:p>
        </p:txBody>
      </p:sp>
      <p:sp>
        <p:nvSpPr>
          <p:cNvPr id="33" name="Text 28"/>
          <p:cNvSpPr txBox="1"/>
          <p:nvPr/>
        </p:nvSpPr>
        <p:spPr>
          <a:xfrm>
            <a:off x="4505858" y="5074920"/>
            <a:ext cx="3179978" cy="1097280"/>
          </a:xfrm>
          <a:prstGeom prst="rect">
            <a:avLst/>
          </a:prstGeom>
          <a:noFill/>
          <a:ln/>
        </p:spPr>
        <p:txBody>
          <a:bodyPr wrap="square" lIns="0" tIns="0" rIns="0" bIns="0" rtlCol="0" anchor="t"/>
          <a:lstStyle/>
          <a:p>
            <a:pPr indent="0" marL="0">
              <a:buNone/>
            </a:pPr>
            <a:r>
              <a:rPr lang="en-US" sz="1300" dirty="0">
                <a:solidFill>
                  <a:schemeClr val="tx2"/>
                </a:solidFill>
              </a:rPr>
              <a:t>Decide la observación con el ts más alto. En empate se fusiona de forma conservadora: presente si alguna copia lo está.</a:t>
            </a:r>
            <a:endParaRPr lang="en-US" sz="1300" dirty="0"/>
          </a:p>
        </p:txBody>
      </p:sp>
      <p:sp>
        <p:nvSpPr>
          <p:cNvPr id="34" name="Shape 29"/>
          <p:cNvSpPr/>
          <p:nvPr/>
        </p:nvSpPr>
        <p:spPr>
          <a:xfrm>
            <a:off x="8097317" y="4251960"/>
            <a:ext cx="3545738" cy="1965960"/>
          </a:xfrm>
          <a:prstGeom prst="roundRect">
            <a:avLst>
              <a:gd name="adj" fmla="val 4651"/>
            </a:avLst>
          </a:prstGeom>
          <a:solidFill>
            <a:schemeClr val="bg1"/>
          </a:solidFill>
          <a:ln w="12700">
            <a:solidFill>
              <a:srgbClr val="D3DCE1"/>
            </a:solidFill>
            <a:prstDash val="solid"/>
          </a:ln>
        </p:spPr>
      </p:sp>
      <p:sp>
        <p:nvSpPr>
          <p:cNvPr id="35" name="Shape 30"/>
          <p:cNvSpPr/>
          <p:nvPr/>
        </p:nvSpPr>
        <p:spPr>
          <a:xfrm>
            <a:off x="8280197" y="4434840"/>
            <a:ext cx="502920" cy="502920"/>
          </a:xfrm>
          <a:prstGeom prst="ellipse">
            <a:avLst/>
          </a:prstGeom>
          <a:solidFill>
            <a:schemeClr val="accent2"/>
          </a:solidFill>
          <a:ln w="12700">
            <a:solidFill>
              <a:schemeClr val="accent2"/>
            </a:solidFill>
            <a:prstDash val="solid"/>
          </a:ln>
        </p:spPr>
      </p:sp>
      <p:pic>
        <p:nvPicPr>
          <p:cNvPr id="36" name="Image 2" descr="preencoded.png">    </p:cNvPr>
          <p:cNvPicPr>
            <a:picLocks noChangeAspect="1"/>
          </p:cNvPicPr>
          <p:nvPr/>
        </p:nvPicPr>
        <p:blipFill>
          <a:blip r:embed="rId3"/>
          <a:stretch>
            <a:fillRect/>
          </a:stretch>
        </p:blipFill>
        <p:spPr>
          <a:xfrm>
            <a:off x="8390839" y="4545482"/>
            <a:ext cx="281635" cy="281635"/>
          </a:xfrm>
          <a:prstGeom prst="rect">
            <a:avLst/>
          </a:prstGeom>
        </p:spPr>
      </p:pic>
      <p:sp>
        <p:nvSpPr>
          <p:cNvPr id="37" name="Text 31"/>
          <p:cNvSpPr txBox="1"/>
          <p:nvPr/>
        </p:nvSpPr>
        <p:spPr>
          <a:xfrm>
            <a:off x="8920277" y="4434840"/>
            <a:ext cx="2631338" cy="502920"/>
          </a:xfrm>
          <a:prstGeom prst="rect">
            <a:avLst/>
          </a:prstGeom>
          <a:noFill/>
          <a:ln/>
        </p:spPr>
        <p:txBody>
          <a:bodyPr wrap="square" lIns="0" tIns="0" rIns="0" bIns="0" rtlCol="0" anchor="ctr"/>
          <a:lstStyle/>
          <a:p>
            <a:pPr indent="0" marL="0">
              <a:buNone/>
            </a:pPr>
            <a:r>
              <a:rPr lang="en-US" sz="1600" b="1" dirty="0">
                <a:solidFill>
                  <a:schemeClr val="tx1"/>
                </a:solidFill>
              </a:rPr>
              <a:t>Evidencia posterior</a:t>
            </a:r>
            <a:endParaRPr lang="en-US" sz="1600" dirty="0"/>
          </a:p>
        </p:txBody>
      </p:sp>
      <p:sp>
        <p:nvSpPr>
          <p:cNvPr id="38" name="Text 32"/>
          <p:cNvSpPr txBox="1"/>
          <p:nvPr/>
        </p:nvSpPr>
        <p:spPr>
          <a:xfrm>
            <a:off x="8280197" y="5074920"/>
            <a:ext cx="3179978" cy="1097280"/>
          </a:xfrm>
          <a:prstGeom prst="rect">
            <a:avLst/>
          </a:prstGeom>
          <a:noFill/>
          <a:ln/>
        </p:spPr>
        <p:txBody>
          <a:bodyPr wrap="square" lIns="0" tIns="0" rIns="0" bIns="0" rtlCol="0" anchor="t"/>
          <a:lstStyle/>
          <a:p>
            <a:pPr indent="0" marL="0">
              <a:buNone/>
            </a:pPr>
            <a:r>
              <a:rPr lang="en-US" sz="1300" dirty="0">
                <a:solidFill>
                  <a:schemeClr val="tx2"/>
                </a:solidFill>
              </a:rPr>
              <a:t>Nunca decide ni se cita. Solo añade a las verificaciones futuras los registros retenidos que debe conservar.</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Flujo del operador: de la instalación a la entrega</a:t>
            </a:r>
            <a:endParaRPr lang="en-US" sz="3200" dirty="0"/>
          </a:p>
        </p:txBody>
      </p:sp>
      <p:sp>
        <p:nvSpPr>
          <p:cNvPr id="4" name="Text 1"/>
          <p:cNvSpPr/>
          <p:nvPr/>
        </p:nvSpPr>
        <p:spPr>
          <a:xfrm>
            <a:off x="548640" y="1399032"/>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80160" y="1325880"/>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Instalar</a:t>
            </a:r>
            <a:endParaRPr lang="en-US" sz="1600" dirty="0"/>
          </a:p>
        </p:txBody>
      </p:sp>
      <p:sp>
        <p:nvSpPr>
          <p:cNvPr id="6" name="Shape 3"/>
          <p:cNvSpPr/>
          <p:nvPr/>
        </p:nvSpPr>
        <p:spPr>
          <a:xfrm>
            <a:off x="3429000" y="1362456"/>
            <a:ext cx="4937760" cy="566928"/>
          </a:xfrm>
          <a:prstGeom prst="roundRect">
            <a:avLst>
              <a:gd name="adj" fmla="val 9677"/>
            </a:avLst>
          </a:prstGeom>
          <a:solidFill>
            <a:schemeClr val="bg2"/>
          </a:solidFill>
          <a:ln w="9525">
            <a:solidFill>
              <a:schemeClr val="bg2"/>
            </a:solidFill>
            <a:prstDash val="solid"/>
          </a:ln>
        </p:spPr>
      </p:sp>
      <p:sp>
        <p:nvSpPr>
          <p:cNvPr id="7" name="Text 4"/>
          <p:cNvSpPr txBox="1"/>
          <p:nvPr/>
        </p:nvSpPr>
        <p:spPr>
          <a:xfrm>
            <a:off x="3566160" y="1362456"/>
            <a:ext cx="4709160" cy="56692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pip install -r code/requirements.txt</a:t>
            </a:r>
            <a:endParaRPr lang="en-US" sz="1200" dirty="0"/>
          </a:p>
        </p:txBody>
      </p:sp>
      <p:sp>
        <p:nvSpPr>
          <p:cNvPr id="8" name="Text 5"/>
          <p:cNvSpPr txBox="1"/>
          <p:nvPr/>
        </p:nvSpPr>
        <p:spPr>
          <a:xfrm>
            <a:off x="8595360" y="1325880"/>
            <a:ext cx="3044952" cy="640080"/>
          </a:xfrm>
          <a:prstGeom prst="rect">
            <a:avLst/>
          </a:prstGeom>
          <a:noFill/>
          <a:ln/>
        </p:spPr>
        <p:txBody>
          <a:bodyPr wrap="square" lIns="0" tIns="0" rIns="0" bIns="0" rtlCol="0" anchor="ctr"/>
          <a:lstStyle/>
          <a:p>
            <a:pPr indent="0" marL="0">
              <a:buNone/>
            </a:pPr>
            <a:r>
              <a:rPr lang="en-US" sz="1300" dirty="0">
                <a:solidFill>
                  <a:schemeClr val="tx2"/>
                </a:solidFill>
              </a:rPr>
              <a:t>Python 3.10+, anthropic y pypdf</a:t>
            </a:r>
            <a:endParaRPr lang="en-US" sz="1300" dirty="0"/>
          </a:p>
        </p:txBody>
      </p:sp>
      <p:sp>
        <p:nvSpPr>
          <p:cNvPr id="9" name="Text 6"/>
          <p:cNvSpPr/>
          <p:nvPr/>
        </p:nvSpPr>
        <p:spPr>
          <a:xfrm>
            <a:off x="548640" y="2157984"/>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1280160" y="2084832"/>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Clave (opcional)</a:t>
            </a:r>
            <a:endParaRPr lang="en-US" sz="1600" dirty="0"/>
          </a:p>
        </p:txBody>
      </p:sp>
      <p:sp>
        <p:nvSpPr>
          <p:cNvPr id="11" name="Shape 8"/>
          <p:cNvSpPr/>
          <p:nvPr/>
        </p:nvSpPr>
        <p:spPr>
          <a:xfrm>
            <a:off x="3429000" y="2121408"/>
            <a:ext cx="4937760" cy="566928"/>
          </a:xfrm>
          <a:prstGeom prst="roundRect">
            <a:avLst>
              <a:gd name="adj" fmla="val 9677"/>
            </a:avLst>
          </a:prstGeom>
          <a:solidFill>
            <a:schemeClr val="bg2"/>
          </a:solidFill>
          <a:ln w="9525">
            <a:solidFill>
              <a:schemeClr val="bg2"/>
            </a:solidFill>
            <a:prstDash val="solid"/>
          </a:ln>
        </p:spPr>
      </p:sp>
      <p:sp>
        <p:nvSpPr>
          <p:cNvPr id="12" name="Text 9"/>
          <p:cNvSpPr txBox="1"/>
          <p:nvPr/>
        </p:nvSpPr>
        <p:spPr>
          <a:xfrm>
            <a:off x="3566160" y="2121408"/>
            <a:ext cx="4709160" cy="56692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export ORCHESTRATE_ANTHROPIC_API_KEY=…</a:t>
            </a:r>
            <a:endParaRPr lang="en-US" sz="1200" dirty="0"/>
          </a:p>
        </p:txBody>
      </p:sp>
      <p:sp>
        <p:nvSpPr>
          <p:cNvPr id="13" name="Text 10"/>
          <p:cNvSpPr txBox="1"/>
          <p:nvPr/>
        </p:nvSpPr>
        <p:spPr>
          <a:xfrm>
            <a:off x="8595360" y="2084832"/>
            <a:ext cx="3044952" cy="640080"/>
          </a:xfrm>
          <a:prstGeom prst="rect">
            <a:avLst/>
          </a:prstGeom>
          <a:noFill/>
          <a:ln/>
        </p:spPr>
        <p:txBody>
          <a:bodyPr wrap="square" lIns="0" tIns="0" rIns="0" bIns="0" rtlCol="0" anchor="ctr"/>
          <a:lstStyle/>
          <a:p>
            <a:pPr indent="0" marL="0">
              <a:buNone/>
            </a:pPr>
            <a:r>
              <a:rPr lang="en-US" sz="1300" dirty="0">
                <a:solidFill>
                  <a:schemeClr val="tx2"/>
                </a:solidFill>
              </a:rPr>
              <a:t>solo se lee del entorno; nunca se registra</a:t>
            </a:r>
            <a:endParaRPr lang="en-US" sz="1300" dirty="0"/>
          </a:p>
        </p:txBody>
      </p:sp>
      <p:sp>
        <p:nvSpPr>
          <p:cNvPr id="14" name="Text 11"/>
          <p:cNvSpPr/>
          <p:nvPr/>
        </p:nvSpPr>
        <p:spPr>
          <a:xfrm>
            <a:off x="548640" y="2916936"/>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280160" y="2843784"/>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Ejecutar</a:t>
            </a:r>
            <a:endParaRPr lang="en-US" sz="1600" dirty="0"/>
          </a:p>
        </p:txBody>
      </p:sp>
      <p:sp>
        <p:nvSpPr>
          <p:cNvPr id="16" name="Shape 13"/>
          <p:cNvSpPr/>
          <p:nvPr/>
        </p:nvSpPr>
        <p:spPr>
          <a:xfrm>
            <a:off x="3429000" y="2880360"/>
            <a:ext cx="4937760" cy="566928"/>
          </a:xfrm>
          <a:prstGeom prst="roundRect">
            <a:avLst>
              <a:gd name="adj" fmla="val 9677"/>
            </a:avLst>
          </a:prstGeom>
          <a:solidFill>
            <a:schemeClr val="bg2"/>
          </a:solidFill>
          <a:ln w="9525">
            <a:solidFill>
              <a:schemeClr val="bg2"/>
            </a:solidFill>
            <a:prstDash val="solid"/>
          </a:ln>
        </p:spPr>
      </p:sp>
      <p:sp>
        <p:nvSpPr>
          <p:cNvPr id="17" name="Text 14"/>
          <p:cNvSpPr txBox="1"/>
          <p:nvPr/>
        </p:nvSpPr>
        <p:spPr>
          <a:xfrm>
            <a:off x="3566160" y="2880360"/>
            <a:ext cx="4709160" cy="56692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python code/main.py --llm auto</a:t>
            </a:r>
            <a:endParaRPr lang="en-US" sz="1200" dirty="0"/>
          </a:p>
        </p:txBody>
      </p:sp>
      <p:sp>
        <p:nvSpPr>
          <p:cNvPr id="18" name="Text 15"/>
          <p:cNvSpPr txBox="1"/>
          <p:nvPr/>
        </p:nvSpPr>
        <p:spPr>
          <a:xfrm>
            <a:off x="8595360" y="2843784"/>
            <a:ext cx="3044952" cy="640080"/>
          </a:xfrm>
          <a:prstGeom prst="rect">
            <a:avLst/>
          </a:prstGeom>
          <a:noFill/>
          <a:ln/>
        </p:spPr>
        <p:txBody>
          <a:bodyPr wrap="square" lIns="0" tIns="0" rIns="0" bIns="0" rtlCol="0" anchor="ctr"/>
          <a:lstStyle/>
          <a:p>
            <a:pPr indent="0" marL="0">
              <a:buNone/>
            </a:pPr>
            <a:r>
              <a:rPr lang="en-US" sz="1300" dirty="0">
                <a:solidFill>
                  <a:schemeClr val="tx2"/>
                </a:solidFill>
              </a:rPr>
              <a:t>output.csv, trace.jsonl, usage.json · ~2 s con caché</a:t>
            </a:r>
            <a:endParaRPr lang="en-US" sz="1300" dirty="0"/>
          </a:p>
        </p:txBody>
      </p:sp>
      <p:sp>
        <p:nvSpPr>
          <p:cNvPr id="19" name="Text 16"/>
          <p:cNvSpPr/>
          <p:nvPr/>
        </p:nvSpPr>
        <p:spPr>
          <a:xfrm>
            <a:off x="548640" y="3675888"/>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280160" y="3602736"/>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Evaluar</a:t>
            </a:r>
            <a:endParaRPr lang="en-US" sz="1600" dirty="0"/>
          </a:p>
        </p:txBody>
      </p:sp>
      <p:sp>
        <p:nvSpPr>
          <p:cNvPr id="21" name="Shape 18"/>
          <p:cNvSpPr/>
          <p:nvPr/>
        </p:nvSpPr>
        <p:spPr>
          <a:xfrm>
            <a:off x="3429000" y="3639312"/>
            <a:ext cx="4937760" cy="566928"/>
          </a:xfrm>
          <a:prstGeom prst="roundRect">
            <a:avLst>
              <a:gd name="adj" fmla="val 9677"/>
            </a:avLst>
          </a:prstGeom>
          <a:solidFill>
            <a:schemeClr val="bg2"/>
          </a:solidFill>
          <a:ln w="9525">
            <a:solidFill>
              <a:schemeClr val="bg2"/>
            </a:solidFill>
            <a:prstDash val="solid"/>
          </a:ln>
        </p:spPr>
      </p:sp>
      <p:sp>
        <p:nvSpPr>
          <p:cNvPr id="22" name="Text 19"/>
          <p:cNvSpPr txBox="1"/>
          <p:nvPr/>
        </p:nvSpPr>
        <p:spPr>
          <a:xfrm>
            <a:off x="3566160" y="3639312"/>
            <a:ext cx="4709160" cy="56692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python code/evaluation/main.py --custom</a:t>
            </a:r>
            <a:endParaRPr lang="en-US" sz="1200" dirty="0"/>
          </a:p>
        </p:txBody>
      </p:sp>
      <p:sp>
        <p:nvSpPr>
          <p:cNvPr id="23" name="Text 20"/>
          <p:cNvSpPr txBox="1"/>
          <p:nvPr/>
        </p:nvSpPr>
        <p:spPr>
          <a:xfrm>
            <a:off x="8595360" y="3602736"/>
            <a:ext cx="3044952" cy="640080"/>
          </a:xfrm>
          <a:prstGeom prst="rect">
            <a:avLst/>
          </a:prstGeom>
          <a:noFill/>
          <a:ln/>
        </p:spPr>
        <p:txBody>
          <a:bodyPr wrap="square" lIns="0" tIns="0" rIns="0" bIns="0" rtlCol="0" anchor="ctr"/>
          <a:lstStyle/>
          <a:p>
            <a:pPr indent="0" marL="0">
              <a:buNone/>
            </a:pPr>
            <a:r>
              <a:rPr lang="en-US" sz="1300" dirty="0">
                <a:solidFill>
                  <a:schemeClr val="tx2"/>
                </a:solidFill>
              </a:rPr>
              <a:t>métricas en 32 muestras y 4 casos propios</a:t>
            </a:r>
            <a:endParaRPr lang="en-US" sz="1300" dirty="0"/>
          </a:p>
        </p:txBody>
      </p:sp>
      <p:sp>
        <p:nvSpPr>
          <p:cNvPr id="24" name="Text 21"/>
          <p:cNvSpPr/>
          <p:nvPr/>
        </p:nvSpPr>
        <p:spPr>
          <a:xfrm>
            <a:off x="548640" y="4434840"/>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Text 22"/>
          <p:cNvSpPr txBox="1"/>
          <p:nvPr/>
        </p:nvSpPr>
        <p:spPr>
          <a:xfrm>
            <a:off x="1280160" y="4361688"/>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Probar</a:t>
            </a:r>
            <a:endParaRPr lang="en-US" sz="1600" dirty="0"/>
          </a:p>
        </p:txBody>
      </p:sp>
      <p:sp>
        <p:nvSpPr>
          <p:cNvPr id="26" name="Shape 23"/>
          <p:cNvSpPr/>
          <p:nvPr/>
        </p:nvSpPr>
        <p:spPr>
          <a:xfrm>
            <a:off x="3429000" y="4398264"/>
            <a:ext cx="4937760" cy="566928"/>
          </a:xfrm>
          <a:prstGeom prst="roundRect">
            <a:avLst>
              <a:gd name="adj" fmla="val 9677"/>
            </a:avLst>
          </a:prstGeom>
          <a:solidFill>
            <a:schemeClr val="bg2"/>
          </a:solidFill>
          <a:ln w="9525">
            <a:solidFill>
              <a:schemeClr val="bg2"/>
            </a:solidFill>
            <a:prstDash val="solid"/>
          </a:ln>
        </p:spPr>
      </p:sp>
      <p:sp>
        <p:nvSpPr>
          <p:cNvPr id="27" name="Text 24"/>
          <p:cNvSpPr txBox="1"/>
          <p:nvPr/>
        </p:nvSpPr>
        <p:spPr>
          <a:xfrm>
            <a:off x="3566160" y="4398264"/>
            <a:ext cx="4709160" cy="56692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python -m unittest discover -s code/tests -t code</a:t>
            </a:r>
            <a:endParaRPr lang="en-US" sz="1200" dirty="0"/>
          </a:p>
        </p:txBody>
      </p:sp>
      <p:sp>
        <p:nvSpPr>
          <p:cNvPr id="28" name="Text 25"/>
          <p:cNvSpPr txBox="1"/>
          <p:nvPr/>
        </p:nvSpPr>
        <p:spPr>
          <a:xfrm>
            <a:off x="8595360" y="4361688"/>
            <a:ext cx="3044952" cy="640080"/>
          </a:xfrm>
          <a:prstGeom prst="rect">
            <a:avLst/>
          </a:prstGeom>
          <a:noFill/>
          <a:ln/>
        </p:spPr>
        <p:txBody>
          <a:bodyPr wrap="square" lIns="0" tIns="0" rIns="0" bIns="0" rtlCol="0" anchor="ctr"/>
          <a:lstStyle/>
          <a:p>
            <a:pPr indent="0" marL="0">
              <a:buNone/>
            </a:pPr>
            <a:r>
              <a:rPr lang="en-US" sz="1300" dirty="0">
                <a:solidFill>
                  <a:schemeClr val="tx2"/>
                </a:solidFill>
              </a:rPr>
              <a:t>39 pruebas, ~3 s, sin clave</a:t>
            </a:r>
            <a:endParaRPr lang="en-US" sz="1300" dirty="0"/>
          </a:p>
        </p:txBody>
      </p:sp>
      <p:sp>
        <p:nvSpPr>
          <p:cNvPr id="29" name="Text 26"/>
          <p:cNvSpPr/>
          <p:nvPr/>
        </p:nvSpPr>
        <p:spPr>
          <a:xfrm>
            <a:off x="548640" y="5193792"/>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0" name="Text 27"/>
          <p:cNvSpPr txBox="1"/>
          <p:nvPr/>
        </p:nvSpPr>
        <p:spPr>
          <a:xfrm>
            <a:off x="1280160" y="5120640"/>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Empaquetar</a:t>
            </a:r>
            <a:endParaRPr lang="en-US" sz="1600" dirty="0"/>
          </a:p>
        </p:txBody>
      </p:sp>
      <p:sp>
        <p:nvSpPr>
          <p:cNvPr id="31" name="Shape 28"/>
          <p:cNvSpPr/>
          <p:nvPr/>
        </p:nvSpPr>
        <p:spPr>
          <a:xfrm>
            <a:off x="3429000" y="5157216"/>
            <a:ext cx="4937760" cy="566928"/>
          </a:xfrm>
          <a:prstGeom prst="roundRect">
            <a:avLst>
              <a:gd name="adj" fmla="val 9677"/>
            </a:avLst>
          </a:prstGeom>
          <a:solidFill>
            <a:schemeClr val="bg2"/>
          </a:solidFill>
          <a:ln w="9525">
            <a:solidFill>
              <a:schemeClr val="bg2"/>
            </a:solidFill>
            <a:prstDash val="solid"/>
          </a:ln>
        </p:spPr>
      </p:sp>
      <p:sp>
        <p:nvSpPr>
          <p:cNvPr id="32" name="Text 29"/>
          <p:cNvSpPr txBox="1"/>
          <p:nvPr/>
        </p:nvSpPr>
        <p:spPr>
          <a:xfrm>
            <a:off x="3566160" y="5157216"/>
            <a:ext cx="4709160" cy="56692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zip -rD code.zip README.md code -x …</a:t>
            </a:r>
            <a:endParaRPr lang="en-US" sz="1200" dirty="0"/>
          </a:p>
        </p:txBody>
      </p:sp>
      <p:sp>
        <p:nvSpPr>
          <p:cNvPr id="33" name="Text 30"/>
          <p:cNvSpPr txBox="1"/>
          <p:nvPr/>
        </p:nvSpPr>
        <p:spPr>
          <a:xfrm>
            <a:off x="8595360" y="5120640"/>
            <a:ext cx="3044952" cy="640080"/>
          </a:xfrm>
          <a:prstGeom prst="rect">
            <a:avLst/>
          </a:prstGeom>
          <a:noFill/>
          <a:ln/>
        </p:spPr>
        <p:txBody>
          <a:bodyPr wrap="square" lIns="0" tIns="0" rIns="0" bIns="0" rtlCol="0" anchor="ctr"/>
          <a:lstStyle/>
          <a:p>
            <a:pPr indent="0" marL="0">
              <a:buNone/>
            </a:pPr>
            <a:r>
              <a:rPr lang="en-US" sz="1300" dirty="0">
                <a:solidFill>
                  <a:schemeClr val="tx2"/>
                </a:solidFill>
              </a:rPr>
              <a:t>code.zip + output.csv + log.txt a HackerRank</a:t>
            </a:r>
            <a:endParaRPr lang="en-US" sz="1300" dirty="0"/>
          </a:p>
        </p:txBody>
      </p:sp>
      <p:sp>
        <p:nvSpPr>
          <p:cNvPr id="34" name="Text 31"/>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Modos de --llm:  auto (API si hay clave, si no caché) · cache · live · off (sin modelo)</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04</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El código módulo por módulo</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Doce archivos de Python, unas 2.000 líneas. Pseudocódigo de cada pieza y un caso real recorrido de punta a punta.</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Mapa de módulos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914400"/>
        </p:xfrm>
        <a:graphic>
          <a:graphicData uri="http://schemas.openxmlformats.org/drawingml/2006/table">
            <a:tbl>
              <a:tblPr/>
              <a:tblGrid>
                <a:gridCol w="2011680"/>
                <a:gridCol w="4572000"/>
              </a:tblGrid>
              <a:tr h="379476">
                <a:tc>
                  <a:txBody>
                    <a:bodyPr/>
                    <a:lstStyle/>
                    <a:p>
                      <a:pPr indent="0" marL="0">
                        <a:buNone/>
                      </a:pPr>
                      <a:r>
                        <a:rPr lang="en-US" sz="1250" b="1" dirty="0">
                          <a:solidFill>
                            <a:schemeClr val="bg1"/>
                          </a:solidFill>
                        </a:rPr>
                        <a:t>Módulo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Qué hace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main.py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CLI: argumentos, escribe la salida e imprime el uso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pipeline.py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orquesta el recorrido completo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dataset.py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carga CSVs y manifiesto; envía cada archivo a su extractor</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observations.py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parsers de logs, SQL, JSON y texto → Observation</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media.py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PDFs con pypdf y capturas con visión Claude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identity.py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identificadores actuales e históricos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investigate.py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recursos, estado en audit_at, lotes y plan</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policy.py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reglas, vocabulario y orden de los pasos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intent.py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prompt de intención y respaldo por palabras clave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llm.py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cliente Claude: JSON estructurado, caché y costo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validate.py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comprobación del contrato de salida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79476">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util.py</a:t>
                      </a:r>
                      <a:endParaRPr lang="en-US" sz="12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tiempos, normalización, prefijo → sistema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bl>
          </a:graphicData>
        </a:graphic>
      </p:graphicFrame>
      <p:graphicFrame>
        <p:nvGraphicFramePr>
          <p:cNvPr id="5" name="Chart 0" descr=""/>
          <p:cNvGraphicFramePr/>
          <p:nvPr/>
        </p:nvGraphicFramePr>
        <p:xfrm>
          <a:off x="7360920" y="1280160"/>
          <a:ext cx="4279392" cy="49834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Pseudocódigo: el recorrido completo</a:t>
            </a:r>
            <a:endParaRPr lang="en-US" sz="3200" dirty="0"/>
          </a:p>
        </p:txBody>
      </p:sp>
      <p:sp>
        <p:nvSpPr>
          <p:cNvPr id="4" name="Shape 1"/>
          <p:cNvSpPr/>
          <p:nvPr/>
        </p:nvSpPr>
        <p:spPr>
          <a:xfrm>
            <a:off x="548640" y="1325880"/>
            <a:ext cx="11094415" cy="4937760"/>
          </a:xfrm>
          <a:prstGeom prst="roundRect">
            <a:avLst>
              <a:gd name="adj" fmla="val 1481"/>
            </a:avLst>
          </a:prstGeom>
          <a:solidFill>
            <a:schemeClr val="tx1"/>
          </a:solidFill>
          <a:ln w="9525">
            <a:solidFill>
              <a:schemeClr val="tx1"/>
            </a:solidFill>
            <a:prstDash val="solid"/>
          </a:ln>
        </p:spPr>
      </p:sp>
      <p:sp>
        <p:nvSpPr>
          <p:cNvPr id="5" name="Text 2"/>
          <p:cNvSpPr txBox="1"/>
          <p:nvPr/>
        </p:nvSpPr>
        <p:spPr>
          <a:xfrm>
            <a:off x="731520" y="1463040"/>
            <a:ext cx="10728655" cy="4663440"/>
          </a:xfrm>
          <a:prstGeom prst="rect">
            <a:avLst/>
          </a:prstGeom>
          <a:noFill/>
          <a:ln/>
        </p:spPr>
        <p:txBody>
          <a:bodyPr wrap="square" lIns="0" tIns="0" rIns="0" bIns="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función run(dataset, archivo_solicitudes, modo_llm):</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llm  ← LLM("claude-haiku-5-5", modo_llm)        </a:t>
            </a:r>
            <a:pPr indent="0" marL="0">
              <a:buNone/>
            </a:pPr>
            <a:r>
              <a:rPr lang="en-US" sz="1500" dirty="0">
                <a:solidFill>
                  <a:schemeClr val="accent5"/>
                </a:solidFill>
                <a:latin typeface="Courier New" pitchFamily="34" charset="0"/>
                <a:ea typeface="Courier New" pitchFamily="34" charset="-122"/>
                <a:cs typeface="Courier New" pitchFamily="34" charset="-120"/>
              </a:rPr>
              <a:t># nada si modo = off</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ds   ← Dataset(dataset)                         </a:t>
            </a:r>
            <a:pPr indent="0" marL="0">
              <a:buNone/>
            </a:pPr>
            <a:r>
              <a:rPr lang="en-US" sz="1500" dirty="0">
                <a:solidFill>
                  <a:schemeClr val="accent5"/>
                </a:solidFill>
                <a:latin typeface="Courier New" pitchFamily="34" charset="0"/>
                <a:ea typeface="Courier New" pitchFamily="34" charset="-122"/>
                <a:cs typeface="Courier New" pitchFamily="34" charset="-120"/>
              </a:rPr>
              <a:t># CSVs y manifiesto de 94 archivos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ds.media_reader ← MediaReader(ds, llm)          </a:t>
            </a:r>
            <a:pPr indent="0" marL="0">
              <a:buNone/>
            </a:pPr>
            <a:r>
              <a:rPr lang="en-US" sz="1500" dirty="0">
                <a:solidFill>
                  <a:schemeClr val="accent5"/>
                </a:solidFill>
                <a:latin typeface="Courier New" pitchFamily="34" charset="0"/>
                <a:ea typeface="Courier New" pitchFamily="34" charset="-122"/>
                <a:cs typeface="Courier New" pitchFamily="34" charset="-120"/>
              </a:rPr>
              <a:t># PDFs con pypdf, PNG con visión</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inv  ← Investigator(ds)                         </a:t>
            </a:r>
            <a:pPr indent="0" marL="0">
              <a:buNone/>
            </a:pPr>
            <a:r>
              <a:rPr lang="en-US" sz="1500" dirty="0">
                <a:solidFill>
                  <a:schemeClr val="accent5"/>
                </a:solidFill>
                <a:latin typeface="Courier New" pitchFamily="34" charset="0"/>
                <a:ea typeface="Courier New" pitchFamily="34" charset="-122"/>
                <a:cs typeface="Courier New" pitchFamily="34" charset="-120"/>
              </a:rPr>
              <a:t># extrae TODAS las observaciones una vez</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contexto ← muestras ∪ evaluación                </a:t>
            </a:r>
            <a:pPr indent="0" marL="0">
              <a:buNone/>
            </a:pPr>
            <a:r>
              <a:rPr lang="en-US" sz="1500" dirty="0">
                <a:solidFill>
                  <a:schemeClr val="accent5"/>
                </a:solidFill>
                <a:latin typeface="Courier New" pitchFamily="34" charset="0"/>
                <a:ea typeface="Courier New" pitchFamily="34" charset="-122"/>
                <a:cs typeface="Courier New" pitchFamily="34" charset="-120"/>
              </a:rPr>
              <a:t># el worker mezcla ambas en sus corridas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para cada texto distinto en contexto:           </a:t>
            </a:r>
            <a:pPr indent="0" marL="0">
              <a:buNone/>
            </a:pPr>
            <a:r>
              <a:rPr lang="en-US" sz="1500" dirty="0">
                <a:solidFill>
                  <a:schemeClr val="accent5"/>
                </a:solidFill>
                <a:latin typeface="Courier New" pitchFamily="34" charset="0"/>
                <a:ea typeface="Courier New" pitchFamily="34" charset="-122"/>
                <a:cs typeface="Courier New" pitchFamily="34" charset="-120"/>
              </a:rPr>
              <a:t># 398 textos, 1 llamada por texto</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intención[texto] ← clasificar(texto)        </a:t>
            </a:r>
            <a:pPr indent="0" marL="0">
              <a:buNone/>
            </a:pPr>
            <a:r>
              <a:rPr lang="en-US" sz="1500" dirty="0">
                <a:solidFill>
                  <a:schemeClr val="accent5"/>
                </a:solidFill>
                <a:latin typeface="Courier New" pitchFamily="34" charset="0"/>
                <a:ea typeface="Courier New" pitchFamily="34" charset="-122"/>
                <a:cs typeface="Courier New" pitchFamily="34" charset="-120"/>
              </a:rPr>
              <a:t># Claude + palabras clave</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inv.atribuir_lotes(contexto)                    </a:t>
            </a:r>
            <a:pPr indent="0" marL="0">
              <a:buNone/>
            </a:pPr>
            <a:r>
              <a:rPr lang="en-US" sz="1500" dirty="0">
                <a:solidFill>
                  <a:schemeClr val="accent5"/>
                </a:solidFill>
                <a:latin typeface="Courier New" pitchFamily="34" charset="0"/>
                <a:ea typeface="Courier New" pitchFamily="34" charset="-122"/>
                <a:cs typeface="Courier New" pitchFamily="34" charset="-120"/>
              </a:rPr>
              <a:t># objetivos sin identificadores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para cada solicitud r en orden de case_id:</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res ← inv.auditar(r, intención[r].autoriza_borrado)</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errores[r] ← validar_contrato(res.estado, res.pasos, r.audit_at, manifiesto)</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filas  += (r.case_id, res.estado, json(res.pasos))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trazas += (intención, identidad, recursos, motivos)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escribir output.csv, code/runs/trace.jsonl, code/runs/usage.json</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Extractores: todo archivo se vuelve Observación</a:t>
            </a:r>
            <a:endParaRPr lang="en-US" sz="3200" dirty="0"/>
          </a:p>
        </p:txBody>
      </p:sp>
      <p:sp>
        <p:nvSpPr>
          <p:cNvPr id="4" name="Shape 1"/>
          <p:cNvSpPr/>
          <p:nvPr/>
        </p:nvSpPr>
        <p:spPr>
          <a:xfrm>
            <a:off x="548640" y="1417320"/>
            <a:ext cx="502920" cy="50292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659282" y="1527962"/>
            <a:ext cx="281635" cy="281635"/>
          </a:xfrm>
          <a:prstGeom prst="rect">
            <a:avLst/>
          </a:prstGeom>
        </p:spPr>
      </p:pic>
      <p:sp>
        <p:nvSpPr>
          <p:cNvPr id="6" name="Text 2"/>
          <p:cNvSpPr txBox="1"/>
          <p:nvPr/>
        </p:nvSpPr>
        <p:spPr>
          <a:xfrm>
            <a:off x="1234440" y="1371600"/>
            <a:ext cx="5029200" cy="777240"/>
          </a:xfrm>
          <a:prstGeom prst="rect">
            <a:avLst/>
          </a:prstGeom>
          <a:noFill/>
          <a:ln/>
        </p:spPr>
        <p:txBody>
          <a:bodyPr wrap="square" lIns="0" tIns="0" rIns="0" bIns="0" rtlCol="0" anchor="t"/>
          <a:lstStyle/>
          <a:p>
            <a:pPr indent="0" marL="0">
              <a:buNone/>
            </a:pPr>
            <a:r>
              <a:rPr lang="en-US" sz="1450" b="1" dirty="0">
                <a:solidFill>
                  <a:schemeClr val="tx1"/>
                </a:solidFill>
              </a:rPr>
              <a:t>Logs · 26</a:t>
            </a:r>
            <a:endParaRPr lang="en-US" sz="1400" dirty="0"/>
          </a:p>
          <a:p>
            <a:pPr indent="0" marL="0">
              <a:buNone/>
            </a:pPr>
            <a:r>
              <a:rPr lang="en-US" sz="1250" dirty="0">
                <a:solidFill>
                  <a:schemeClr val="tx2"/>
                </a:solidFill>
              </a:rPr>
              <a:t>6 formatos (key=value, JSON, corchetes, barras, syslog, requestId). Las búsquedas se unen por trace_id.</a:t>
            </a:r>
            <a:endParaRPr lang="en-US" sz="1400" dirty="0"/>
          </a:p>
        </p:txBody>
      </p:sp>
      <p:sp>
        <p:nvSpPr>
          <p:cNvPr id="7" name="Shape 3"/>
          <p:cNvSpPr/>
          <p:nvPr/>
        </p:nvSpPr>
        <p:spPr>
          <a:xfrm>
            <a:off x="548640" y="2231136"/>
            <a:ext cx="502920" cy="502920"/>
          </a:xfrm>
          <a:prstGeom prst="ellipse">
            <a:avLst/>
          </a:prstGeom>
          <a:solidFill>
            <a:schemeClr val="tx2"/>
          </a:solidFill>
          <a:ln w="12700">
            <a:solidFill>
              <a:schemeClr val="tx2"/>
            </a:solidFill>
            <a:prstDash val="solid"/>
          </a:ln>
        </p:spPr>
      </p:sp>
      <p:pic>
        <p:nvPicPr>
          <p:cNvPr id="8" name="Image 1" descr="preencoded.png">    </p:cNvPr>
          <p:cNvPicPr>
            <a:picLocks noChangeAspect="1"/>
          </p:cNvPicPr>
          <p:nvPr/>
        </p:nvPicPr>
        <p:blipFill>
          <a:blip r:embed="rId2"/>
          <a:stretch>
            <a:fillRect/>
          </a:stretch>
        </p:blipFill>
        <p:spPr>
          <a:xfrm>
            <a:off x="659282" y="2341778"/>
            <a:ext cx="281635" cy="281635"/>
          </a:xfrm>
          <a:prstGeom prst="rect">
            <a:avLst/>
          </a:prstGeom>
        </p:spPr>
      </p:pic>
      <p:sp>
        <p:nvSpPr>
          <p:cNvPr id="9" name="Text 4"/>
          <p:cNvSpPr txBox="1"/>
          <p:nvPr/>
        </p:nvSpPr>
        <p:spPr>
          <a:xfrm>
            <a:off x="1234440" y="2185416"/>
            <a:ext cx="5029200" cy="777240"/>
          </a:xfrm>
          <a:prstGeom prst="rect">
            <a:avLst/>
          </a:prstGeom>
          <a:noFill/>
          <a:ln/>
        </p:spPr>
        <p:txBody>
          <a:bodyPr wrap="square" lIns="0" tIns="0" rIns="0" bIns="0" rtlCol="0" anchor="t"/>
          <a:lstStyle/>
          <a:p>
            <a:pPr indent="0" marL="0">
              <a:buNone/>
            </a:pPr>
            <a:r>
              <a:rPr lang="en-US" sz="1450" b="1" dirty="0">
                <a:solidFill>
                  <a:schemeClr val="tx1"/>
                </a:solidFill>
              </a:rPr>
              <a:t>SQL · 24</a:t>
            </a:r>
            <a:endParaRPr lang="en-US" sz="1400" dirty="0"/>
          </a:p>
          <a:p>
            <a:pPr indent="0" marL="0">
              <a:buNone/>
            </a:pPr>
            <a:r>
              <a:rPr lang="en-US" sz="1250" dirty="0">
                <a:solidFill>
                  <a:schemeClr val="tx2"/>
                </a:solidFill>
              </a:rPr>
              <a:t>Se ejecuta en SQLite en memoria. Primaria y réplicas; snapshot_scope marca una foto completa.</a:t>
            </a:r>
            <a:endParaRPr lang="en-US" sz="1400" dirty="0"/>
          </a:p>
        </p:txBody>
      </p:sp>
      <p:sp>
        <p:nvSpPr>
          <p:cNvPr id="10" name="Shape 5"/>
          <p:cNvSpPr/>
          <p:nvPr/>
        </p:nvSpPr>
        <p:spPr>
          <a:xfrm>
            <a:off x="548640" y="3044952"/>
            <a:ext cx="502920" cy="502920"/>
          </a:xfrm>
          <a:prstGeom prst="ellipse">
            <a:avLst/>
          </a:prstGeom>
          <a:solidFill>
            <a:schemeClr val="tx2"/>
          </a:solidFill>
          <a:ln w="12700">
            <a:solidFill>
              <a:schemeClr val="tx2"/>
            </a:solidFill>
            <a:prstDash val="solid"/>
          </a:ln>
        </p:spPr>
      </p:sp>
      <p:pic>
        <p:nvPicPr>
          <p:cNvPr id="11" name="Image 2" descr="preencoded.png">    </p:cNvPr>
          <p:cNvPicPr>
            <a:picLocks noChangeAspect="1"/>
          </p:cNvPicPr>
          <p:nvPr/>
        </p:nvPicPr>
        <p:blipFill>
          <a:blip r:embed="rId3"/>
          <a:stretch>
            <a:fillRect/>
          </a:stretch>
        </p:blipFill>
        <p:spPr>
          <a:xfrm>
            <a:off x="659282" y="3155594"/>
            <a:ext cx="281635" cy="281635"/>
          </a:xfrm>
          <a:prstGeom prst="rect">
            <a:avLst/>
          </a:prstGeom>
        </p:spPr>
      </p:pic>
      <p:sp>
        <p:nvSpPr>
          <p:cNvPr id="12" name="Text 6"/>
          <p:cNvSpPr txBox="1"/>
          <p:nvPr/>
        </p:nvSpPr>
        <p:spPr>
          <a:xfrm>
            <a:off x="1234440" y="2999232"/>
            <a:ext cx="5029200" cy="777240"/>
          </a:xfrm>
          <a:prstGeom prst="rect">
            <a:avLst/>
          </a:prstGeom>
          <a:noFill/>
          <a:ln/>
        </p:spPr>
        <p:txBody>
          <a:bodyPr wrap="square" lIns="0" tIns="0" rIns="0" bIns="0" rtlCol="0" anchor="t"/>
          <a:lstStyle/>
          <a:p>
            <a:pPr indent="0" marL="0">
              <a:buNone/>
            </a:pPr>
            <a:r>
              <a:rPr lang="en-US" sz="1450" b="1" dirty="0">
                <a:solidFill>
                  <a:schemeClr val="tx1"/>
                </a:solidFill>
              </a:rPr>
              <a:t>JSON · 28</a:t>
            </a:r>
            <a:endParaRPr lang="en-US" sz="1400" dirty="0"/>
          </a:p>
          <a:p>
            <a:pPr indent="0" marL="0">
              <a:buNone/>
            </a:pPr>
            <a:r>
              <a:rPr lang="en-US" sz="1250" dirty="0">
                <a:solidFill>
                  <a:schemeClr val="tx2"/>
                </a:solidFill>
              </a:rPr>
              <a:t>Bundles de snapshots, exportaciones de servicios, historiales de lookups, conectores.</a:t>
            </a:r>
            <a:endParaRPr lang="en-US" sz="1400" dirty="0"/>
          </a:p>
        </p:txBody>
      </p:sp>
      <p:sp>
        <p:nvSpPr>
          <p:cNvPr id="13" name="Shape 7"/>
          <p:cNvSpPr/>
          <p:nvPr/>
        </p:nvSpPr>
        <p:spPr>
          <a:xfrm>
            <a:off x="548640" y="3858768"/>
            <a:ext cx="502920" cy="502920"/>
          </a:xfrm>
          <a:prstGeom prst="ellipse">
            <a:avLst/>
          </a:prstGeom>
          <a:solidFill>
            <a:schemeClr val="tx2"/>
          </a:solidFill>
          <a:ln w="12700">
            <a:solidFill>
              <a:schemeClr val="tx2"/>
            </a:solidFill>
            <a:prstDash val="solid"/>
          </a:ln>
        </p:spPr>
      </p:sp>
      <p:pic>
        <p:nvPicPr>
          <p:cNvPr id="14" name="Image 3" descr="preencoded.png">    </p:cNvPr>
          <p:cNvPicPr>
            <a:picLocks noChangeAspect="1"/>
          </p:cNvPicPr>
          <p:nvPr/>
        </p:nvPicPr>
        <p:blipFill>
          <a:blip r:embed="rId4"/>
          <a:stretch>
            <a:fillRect/>
          </a:stretch>
        </p:blipFill>
        <p:spPr>
          <a:xfrm>
            <a:off x="659282" y="3969410"/>
            <a:ext cx="281635" cy="281635"/>
          </a:xfrm>
          <a:prstGeom prst="rect">
            <a:avLst/>
          </a:prstGeom>
        </p:spPr>
      </p:pic>
      <p:sp>
        <p:nvSpPr>
          <p:cNvPr id="15" name="Text 8"/>
          <p:cNvSpPr txBox="1"/>
          <p:nvPr/>
        </p:nvSpPr>
        <p:spPr>
          <a:xfrm>
            <a:off x="1234440" y="3813048"/>
            <a:ext cx="5029200" cy="777240"/>
          </a:xfrm>
          <a:prstGeom prst="rect">
            <a:avLst/>
          </a:prstGeom>
          <a:noFill/>
          <a:ln/>
        </p:spPr>
        <p:txBody>
          <a:bodyPr wrap="square" lIns="0" tIns="0" rIns="0" bIns="0" rtlCol="0" anchor="t"/>
          <a:lstStyle/>
          <a:p>
            <a:pPr indent="0" marL="0">
              <a:buNone/>
            </a:pPr>
            <a:r>
              <a:rPr lang="en-US" sz="1450" b="1" dirty="0">
                <a:solidFill>
                  <a:schemeClr val="tx1"/>
                </a:solidFill>
              </a:rPr>
              <a:t>Texto · 1</a:t>
            </a:r>
            <a:endParaRPr lang="en-US" sz="1400" dirty="0"/>
          </a:p>
          <a:p>
            <a:pPr indent="0" marL="0">
              <a:buNone/>
            </a:pPr>
            <a:r>
              <a:rPr lang="en-US" sz="1250" dirty="0">
                <a:solidFill>
                  <a:schemeClr val="tx2"/>
                </a:solidFill>
              </a:rPr>
              <a:t>Handover: fecha | sistema | recurso | tipo | resultado | sujeto.</a:t>
            </a:r>
            <a:endParaRPr lang="en-US" sz="1400" dirty="0"/>
          </a:p>
        </p:txBody>
      </p:sp>
      <p:sp>
        <p:nvSpPr>
          <p:cNvPr id="16" name="Shape 9"/>
          <p:cNvSpPr/>
          <p:nvPr/>
        </p:nvSpPr>
        <p:spPr>
          <a:xfrm>
            <a:off x="548640" y="4672584"/>
            <a:ext cx="502920" cy="502920"/>
          </a:xfrm>
          <a:prstGeom prst="ellipse">
            <a:avLst/>
          </a:prstGeom>
          <a:solidFill>
            <a:schemeClr val="tx2"/>
          </a:solidFill>
          <a:ln w="12700">
            <a:solidFill>
              <a:schemeClr val="tx2"/>
            </a:solidFill>
            <a:prstDash val="solid"/>
          </a:ln>
        </p:spPr>
      </p:sp>
      <p:pic>
        <p:nvPicPr>
          <p:cNvPr id="17" name="Image 4" descr="preencoded.png">    </p:cNvPr>
          <p:cNvPicPr>
            <a:picLocks noChangeAspect="1"/>
          </p:cNvPicPr>
          <p:nvPr/>
        </p:nvPicPr>
        <p:blipFill>
          <a:blip r:embed="rId5"/>
          <a:stretch>
            <a:fillRect/>
          </a:stretch>
        </p:blipFill>
        <p:spPr>
          <a:xfrm>
            <a:off x="659282" y="4783226"/>
            <a:ext cx="281635" cy="281635"/>
          </a:xfrm>
          <a:prstGeom prst="rect">
            <a:avLst/>
          </a:prstGeom>
        </p:spPr>
      </p:pic>
      <p:sp>
        <p:nvSpPr>
          <p:cNvPr id="18" name="Text 10"/>
          <p:cNvSpPr txBox="1"/>
          <p:nvPr/>
        </p:nvSpPr>
        <p:spPr>
          <a:xfrm>
            <a:off x="1234440" y="4626864"/>
            <a:ext cx="5029200" cy="777240"/>
          </a:xfrm>
          <a:prstGeom prst="rect">
            <a:avLst/>
          </a:prstGeom>
          <a:noFill/>
          <a:ln/>
        </p:spPr>
        <p:txBody>
          <a:bodyPr wrap="square" lIns="0" tIns="0" rIns="0" bIns="0" rtlCol="0" anchor="t"/>
          <a:lstStyle/>
          <a:p>
            <a:pPr indent="0" marL="0">
              <a:buNone/>
            </a:pPr>
            <a:r>
              <a:rPr lang="en-US" sz="1450" b="1" dirty="0">
                <a:solidFill>
                  <a:schemeClr val="tx1"/>
                </a:solidFill>
              </a:rPr>
              <a:t>PDF · 4</a:t>
            </a:r>
            <a:endParaRPr lang="en-US" sz="1400" dirty="0"/>
          </a:p>
          <a:p>
            <a:pPr indent="0" marL="0">
              <a:buNone/>
            </a:pPr>
            <a:r>
              <a:rPr lang="en-US" sz="1250" dirty="0">
                <a:solidFill>
                  <a:schemeClr val="tx2"/>
                </a:solidFill>
              </a:rPr>
              <a:t>pypdf extrae el texto; ids de recurso e identificadores del mismo documento.</a:t>
            </a:r>
            <a:endParaRPr lang="en-US" sz="1400" dirty="0"/>
          </a:p>
        </p:txBody>
      </p:sp>
      <p:sp>
        <p:nvSpPr>
          <p:cNvPr id="19" name="Shape 11"/>
          <p:cNvSpPr/>
          <p:nvPr/>
        </p:nvSpPr>
        <p:spPr>
          <a:xfrm>
            <a:off x="548640" y="5486400"/>
            <a:ext cx="502920" cy="502920"/>
          </a:xfrm>
          <a:prstGeom prst="ellipse">
            <a:avLst/>
          </a:prstGeom>
          <a:solidFill>
            <a:schemeClr val="accent3"/>
          </a:solidFill>
          <a:ln w="12700">
            <a:solidFill>
              <a:schemeClr val="accent3"/>
            </a:solidFill>
            <a:prstDash val="solid"/>
          </a:ln>
        </p:spPr>
      </p:sp>
      <p:pic>
        <p:nvPicPr>
          <p:cNvPr id="20" name="Image 5" descr="preencoded.png">    </p:cNvPr>
          <p:cNvPicPr>
            <a:picLocks noChangeAspect="1"/>
          </p:cNvPicPr>
          <p:nvPr/>
        </p:nvPicPr>
        <p:blipFill>
          <a:blip r:embed="rId6"/>
          <a:stretch>
            <a:fillRect/>
          </a:stretch>
        </p:blipFill>
        <p:spPr>
          <a:xfrm>
            <a:off x="659282" y="5597042"/>
            <a:ext cx="281635" cy="281635"/>
          </a:xfrm>
          <a:prstGeom prst="rect">
            <a:avLst/>
          </a:prstGeom>
        </p:spPr>
      </p:pic>
      <p:sp>
        <p:nvSpPr>
          <p:cNvPr id="21" name="Text 12"/>
          <p:cNvSpPr txBox="1"/>
          <p:nvPr/>
        </p:nvSpPr>
        <p:spPr>
          <a:xfrm>
            <a:off x="1234440" y="5440680"/>
            <a:ext cx="5029200" cy="777240"/>
          </a:xfrm>
          <a:prstGeom prst="rect">
            <a:avLst/>
          </a:prstGeom>
          <a:noFill/>
          <a:ln/>
        </p:spPr>
        <p:txBody>
          <a:bodyPr wrap="square" lIns="0" tIns="0" rIns="0" bIns="0" rtlCol="0" anchor="t"/>
          <a:lstStyle/>
          <a:p>
            <a:pPr indent="0" marL="0">
              <a:buNone/>
            </a:pPr>
            <a:r>
              <a:rPr lang="en-US" sz="1450" b="1" dirty="0">
                <a:solidFill>
                  <a:schemeClr val="tx1"/>
                </a:solidFill>
              </a:rPr>
              <a:t>PNG · 11</a:t>
            </a:r>
            <a:endParaRPr lang="en-US" sz="1400" dirty="0"/>
          </a:p>
          <a:p>
            <a:pPr indent="0" marL="0">
              <a:buNone/>
            </a:pPr>
            <a:r>
              <a:rPr lang="en-US" sz="1250" dirty="0">
                <a:solidFill>
                  <a:schemeClr val="tx2"/>
                </a:solidFill>
              </a:rPr>
              <a:t>Claude visión transcribe los registros a un JSON con esquema fijo.</a:t>
            </a:r>
            <a:endParaRPr lang="en-US" sz="1400" dirty="0"/>
          </a:p>
        </p:txBody>
      </p:sp>
      <p:sp>
        <p:nvSpPr>
          <p:cNvPr id="22" name="Text 13"/>
          <p:cNvSpPr txBox="1"/>
          <p:nvPr/>
        </p:nvSpPr>
        <p:spPr>
          <a:xfrm>
            <a:off x="6446520" y="1325880"/>
            <a:ext cx="5212080" cy="365760"/>
          </a:xfrm>
          <a:prstGeom prst="rect">
            <a:avLst/>
          </a:prstGeom>
          <a:noFill/>
          <a:ln/>
        </p:spPr>
        <p:txBody>
          <a:bodyPr wrap="square" lIns="0" tIns="0" rIns="0" bIns="0" rtlCol="0" anchor="t"/>
          <a:lstStyle/>
          <a:p>
            <a:pPr indent="0" marL="0">
              <a:buNone/>
            </a:pPr>
            <a:r>
              <a:rPr lang="en-US" sz="1400" b="1" dirty="0">
                <a:solidFill>
                  <a:schemeClr val="tx2"/>
                </a:solidFill>
              </a:rPr>
              <a:t>Ejemplo: dos líneas de evidence_01 unidas por trace_id</a:t>
            </a:r>
            <a:endParaRPr lang="en-US" sz="1400" dirty="0"/>
          </a:p>
        </p:txBody>
      </p:sp>
      <p:sp>
        <p:nvSpPr>
          <p:cNvPr id="23" name="Shape 14"/>
          <p:cNvSpPr/>
          <p:nvPr/>
        </p:nvSpPr>
        <p:spPr>
          <a:xfrm>
            <a:off x="6446520" y="1737360"/>
            <a:ext cx="5193792" cy="1783080"/>
          </a:xfrm>
          <a:prstGeom prst="roundRect">
            <a:avLst>
              <a:gd name="adj" fmla="val 4103"/>
            </a:avLst>
          </a:prstGeom>
          <a:solidFill>
            <a:schemeClr val="tx1"/>
          </a:solidFill>
          <a:ln w="9525">
            <a:solidFill>
              <a:schemeClr val="tx1"/>
            </a:solidFill>
            <a:prstDash val="solid"/>
          </a:ln>
        </p:spPr>
      </p:sp>
      <p:sp>
        <p:nvSpPr>
          <p:cNvPr id="24" name="Text 15"/>
          <p:cNvSpPr txBox="1"/>
          <p:nvPr/>
        </p:nvSpPr>
        <p:spPr>
          <a:xfrm>
            <a:off x="6629400" y="1874520"/>
            <a:ext cx="4828032" cy="150876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11:56:49Z account_service trace_id=tr-8001359</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event=profile_lookup_started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lookup_key="minjun.kim@gmail.com"</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11:56:57Z account_service trace_id=tr-8001359</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resource_id=account_9797</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event=profile_lookup_completed rows=0 http_status=404</a:t>
            </a:r>
            <a:endParaRPr lang="en-US" sz="1100" dirty="0"/>
          </a:p>
        </p:txBody>
      </p:sp>
      <p:sp>
        <p:nvSpPr>
          <p:cNvPr id="25" name="Shape 16"/>
          <p:cNvSpPr/>
          <p:nvPr/>
        </p:nvSpPr>
        <p:spPr>
          <a:xfrm>
            <a:off x="9052560" y="3584448"/>
            <a:ext cx="0" cy="365760"/>
          </a:xfrm>
          <a:prstGeom prst="line">
            <a:avLst/>
          </a:prstGeom>
          <a:noFill/>
          <a:ln w="31750">
            <a:solidFill>
              <a:schemeClr val="accent4"/>
            </a:solidFill>
            <a:prstDash val="solid"/>
            <a:tailEnd type="triangle"/>
          </a:ln>
        </p:spPr>
      </p:sp>
      <p:sp>
        <p:nvSpPr>
          <p:cNvPr id="26" name="Shape 17"/>
          <p:cNvSpPr/>
          <p:nvPr/>
        </p:nvSpPr>
        <p:spPr>
          <a:xfrm>
            <a:off x="6446520" y="4023360"/>
            <a:ext cx="5193792" cy="1874520"/>
          </a:xfrm>
          <a:prstGeom prst="roundRect">
            <a:avLst>
              <a:gd name="adj" fmla="val 3902"/>
            </a:avLst>
          </a:prstGeom>
          <a:solidFill>
            <a:schemeClr val="bg2"/>
          </a:solidFill>
          <a:ln w="9525">
            <a:solidFill>
              <a:schemeClr val="bg2"/>
            </a:solidFill>
            <a:prstDash val="solid"/>
          </a:ln>
        </p:spPr>
      </p:sp>
      <p:sp>
        <p:nvSpPr>
          <p:cNvPr id="27" name="Text 18"/>
          <p:cNvSpPr txBox="1"/>
          <p:nvPr/>
        </p:nvSpPr>
        <p:spPr>
          <a:xfrm>
            <a:off x="6629400" y="4133088"/>
            <a:ext cx="4892040" cy="169164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Observation(</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file_id  = evidence_01</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ts       = 2026-09-15T11:56:57Z</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resource = account_9797 (account_service)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present  = False</a:t>
            </a:r>
            <a:pPr indent="0" marL="0">
              <a:buNone/>
            </a:pPr>
            <a:r>
              <a:rPr lang="en-US" sz="1150" dirty="0">
                <a:solidFill>
                  <a:schemeClr val="accent1"/>
                </a:solidFill>
                <a:latin typeface="Courier New" pitchFamily="34" charset="0"/>
                <a:ea typeface="Courier New" pitchFamily="34" charset="-122"/>
                <a:cs typeface="Courier New" pitchFamily="34" charset="-120"/>
              </a:rPr>
              <a:t>   # 404 y 0 filas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links    = {minjun.kim@gmail.com}</a:t>
            </a:r>
            <a:pPr indent="0" marL="0">
              <a:buNone/>
            </a:pPr>
            <a:r>
              <a:rPr lang="en-US" sz="1150" dirty="0">
                <a:solidFill>
                  <a:schemeClr val="accent1"/>
                </a:solidFill>
                <a:latin typeface="Courier New" pitchFamily="34" charset="0"/>
                <a:ea typeface="Courier New" pitchFamily="34" charset="-122"/>
                <a:cs typeface="Courier New" pitchFamily="34" charset="-120"/>
              </a:rPr>
              <a:t> # vía trace_id</a:t>
            </a:r>
            <a:endParaRPr lang="en-US" sz="1150" dirty="0"/>
          </a:p>
          <a:p>
            <a:pPr indent="0" marL="0">
              <a:buNone/>
            </a:pPr>
            <a:r>
              <a:rPr lang="en-US" sz="1150" b="1" dirty="0">
                <a:solidFill>
                  <a:schemeClr val="tx1"/>
                </a:solidFill>
                <a:latin typeface="Courier New" pitchFamily="34" charset="0"/>
                <a:ea typeface="Courier New" pitchFamily="34" charset="-122"/>
                <a:cs typeface="Courier New" pitchFamily="34" charset="-120"/>
              </a:rPr>
              <a:t>)</a:t>
            </a:r>
            <a:endParaRPr lang="en-US" sz="11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Identidad: el email viejo sigue dejando rastro</a:t>
            </a:r>
            <a:endParaRPr lang="en-US" sz="3200" dirty="0"/>
          </a:p>
        </p:txBody>
      </p:sp>
      <p:sp>
        <p:nvSpPr>
          <p:cNvPr id="4" name="Shape 1"/>
          <p:cNvSpPr/>
          <p:nvPr/>
        </p:nvSpPr>
        <p:spPr>
          <a:xfrm>
            <a:off x="548640" y="1325880"/>
            <a:ext cx="2587752" cy="1920240"/>
          </a:xfrm>
          <a:prstGeom prst="roundRect">
            <a:avLst>
              <a:gd name="adj" fmla="val 4762"/>
            </a:avLst>
          </a:prstGeom>
          <a:solidFill>
            <a:schemeClr val="bg2"/>
          </a:solidFill>
          <a:ln w="9525">
            <a:solidFill>
              <a:schemeClr val="bg2"/>
            </a:solidFill>
            <a:prstDash val="solid"/>
          </a:ln>
        </p:spPr>
      </p:sp>
      <p:sp>
        <p:nvSpPr>
          <p:cNvPr id="5" name="Shape 2"/>
          <p:cNvSpPr/>
          <p:nvPr/>
        </p:nvSpPr>
        <p:spPr>
          <a:xfrm>
            <a:off x="731520" y="1481328"/>
            <a:ext cx="502920" cy="50292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842162" y="1591970"/>
            <a:ext cx="281635" cy="281635"/>
          </a:xfrm>
          <a:prstGeom prst="rect">
            <a:avLst/>
          </a:prstGeom>
        </p:spPr>
      </p:pic>
      <p:sp>
        <p:nvSpPr>
          <p:cNvPr id="7" name="Text 3"/>
          <p:cNvSpPr txBox="1"/>
          <p:nvPr/>
        </p:nvSpPr>
        <p:spPr>
          <a:xfrm>
            <a:off x="1325880" y="1481328"/>
            <a:ext cx="1719072" cy="502920"/>
          </a:xfrm>
          <a:prstGeom prst="rect">
            <a:avLst/>
          </a:prstGeom>
          <a:noFill/>
          <a:ln/>
        </p:spPr>
        <p:txBody>
          <a:bodyPr wrap="square" lIns="0" tIns="0" rIns="0" bIns="0" rtlCol="0" anchor="ctr"/>
          <a:lstStyle/>
          <a:p>
            <a:pPr indent="0" marL="0">
              <a:buNone/>
            </a:pPr>
            <a:r>
              <a:rPr lang="en-US" sz="1400" b="1" dirty="0">
                <a:solidFill>
                  <a:schemeClr val="tx1"/>
                </a:solidFill>
              </a:rPr>
              <a:t>Email de la solicitud</a:t>
            </a:r>
            <a:endParaRPr lang="en-US" sz="1400" dirty="0"/>
          </a:p>
        </p:txBody>
      </p:sp>
      <p:sp>
        <p:nvSpPr>
          <p:cNvPr id="8" name="Text 4"/>
          <p:cNvSpPr txBox="1"/>
          <p:nvPr/>
        </p:nvSpPr>
        <p:spPr>
          <a:xfrm>
            <a:off x="731520" y="2103120"/>
            <a:ext cx="2313432" cy="109728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latin typeface="Courier New" pitchFamily="34" charset="0"/>
                <a:ea typeface="Courier New" pitchFamily="34" charset="-122"/>
                <a:cs typeface="Courier New" pitchFamily="34" charset="-120"/>
              </a:rPr>
              <a:t>minjun.kim@gmail.com</a:t>
            </a:r>
            <a:endParaRPr lang="en-US" sz="1150" dirty="0"/>
          </a:p>
        </p:txBody>
      </p:sp>
      <p:sp>
        <p:nvSpPr>
          <p:cNvPr id="9" name="Shape 5"/>
          <p:cNvSpPr/>
          <p:nvPr/>
        </p:nvSpPr>
        <p:spPr>
          <a:xfrm>
            <a:off x="3172968" y="2286000"/>
            <a:ext cx="174650" cy="0"/>
          </a:xfrm>
          <a:prstGeom prst="line">
            <a:avLst/>
          </a:prstGeom>
          <a:noFill/>
          <a:ln w="31750">
            <a:solidFill>
              <a:schemeClr val="accent4"/>
            </a:solidFill>
            <a:prstDash val="solid"/>
            <a:tailEnd type="triangle"/>
          </a:ln>
        </p:spPr>
      </p:sp>
      <p:sp>
        <p:nvSpPr>
          <p:cNvPr id="10" name="Shape 6"/>
          <p:cNvSpPr/>
          <p:nvPr/>
        </p:nvSpPr>
        <p:spPr>
          <a:xfrm>
            <a:off x="3384194" y="1325880"/>
            <a:ext cx="2587752" cy="1920240"/>
          </a:xfrm>
          <a:prstGeom prst="roundRect">
            <a:avLst>
              <a:gd name="adj" fmla="val 4762"/>
            </a:avLst>
          </a:prstGeom>
          <a:solidFill>
            <a:schemeClr val="bg2"/>
          </a:solidFill>
          <a:ln w="9525">
            <a:solidFill>
              <a:schemeClr val="bg2"/>
            </a:solidFill>
            <a:prstDash val="solid"/>
          </a:ln>
        </p:spPr>
      </p:sp>
      <p:sp>
        <p:nvSpPr>
          <p:cNvPr id="11" name="Shape 7"/>
          <p:cNvSpPr/>
          <p:nvPr/>
        </p:nvSpPr>
        <p:spPr>
          <a:xfrm>
            <a:off x="3567074" y="1481328"/>
            <a:ext cx="502920" cy="50292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677717" y="1591970"/>
            <a:ext cx="281635" cy="281635"/>
          </a:xfrm>
          <a:prstGeom prst="rect">
            <a:avLst/>
          </a:prstGeom>
        </p:spPr>
      </p:pic>
      <p:sp>
        <p:nvSpPr>
          <p:cNvPr id="13" name="Text 8"/>
          <p:cNvSpPr txBox="1"/>
          <p:nvPr/>
        </p:nvSpPr>
        <p:spPr>
          <a:xfrm>
            <a:off x="4161434" y="1481328"/>
            <a:ext cx="1719072" cy="502920"/>
          </a:xfrm>
          <a:prstGeom prst="rect">
            <a:avLst/>
          </a:prstGeom>
          <a:noFill/>
          <a:ln/>
        </p:spPr>
        <p:txBody>
          <a:bodyPr wrap="square" lIns="0" tIns="0" rIns="0" bIns="0" rtlCol="0" anchor="ctr"/>
          <a:lstStyle/>
          <a:p>
            <a:pPr indent="0" marL="0">
              <a:buNone/>
            </a:pPr>
            <a:r>
              <a:rPr lang="en-US" sz="1400" b="1" dirty="0">
                <a:solidFill>
                  <a:schemeClr val="tx1"/>
                </a:solidFill>
              </a:rPr>
              <a:t>user_identities.csv</a:t>
            </a:r>
            <a:endParaRPr lang="en-US" sz="1400" dirty="0"/>
          </a:p>
        </p:txBody>
      </p:sp>
      <p:sp>
        <p:nvSpPr>
          <p:cNvPr id="14" name="Text 9"/>
          <p:cNvSpPr txBox="1"/>
          <p:nvPr/>
        </p:nvSpPr>
        <p:spPr>
          <a:xfrm>
            <a:off x="3567074" y="2103120"/>
            <a:ext cx="2313432" cy="1097280"/>
          </a:xfrm>
          <a:prstGeom prst="rect">
            <a:avLst/>
          </a:prstGeom>
          <a:noFill/>
          <a:ln/>
        </p:spPr>
        <p:txBody>
          <a:bodyPr wrap="square" lIns="0" tIns="0" rIns="0" bIns="0" rtlCol="0" anchor="t"/>
          <a:lstStyle/>
          <a:p>
            <a:pPr indent="0" marL="0">
              <a:spcAft>
                <a:spcPts val="500"/>
              </a:spcAft>
              <a:buNone/>
            </a:pPr>
            <a:r>
              <a:rPr lang="en-US" sz="1150" dirty="0">
                <a:solidFill>
                  <a:schemeClr val="tx1"/>
                </a:solidFill>
                <a:latin typeface="Courier New" pitchFamily="34" charset="0"/>
                <a:ea typeface="Courier New" pitchFamily="34" charset="-122"/>
                <a:cs typeface="Courier New" pitchFamily="34" charset="-120"/>
              </a:rPr>
              <a:t>user_12 · Min-jun Kim</a:t>
            </a:r>
            <a:endParaRPr lang="en-US" sz="1150" dirty="0"/>
          </a:p>
          <a:p>
            <a:pPr indent="0" marL="0">
              <a:spcAft>
                <a:spcPts val="500"/>
              </a:spcAft>
              <a:buNone/>
            </a:pPr>
            <a:r>
              <a:rPr lang="en-US" sz="1150" dirty="0">
                <a:solidFill>
                  <a:schemeClr val="tx1"/>
                </a:solidFill>
                <a:latin typeface="Courier New" pitchFamily="34" charset="0"/>
                <a:ea typeface="Courier New" pitchFamily="34" charset="-122"/>
                <a:cs typeface="Courier New" pitchFamily="34" charset="-120"/>
              </a:rPr>
              <a:t>+82 10 2466 4678</a:t>
            </a:r>
            <a:endParaRPr lang="en-US" sz="1150" dirty="0"/>
          </a:p>
          <a:p>
            <a:pPr indent="0" marL="0">
              <a:spcAft>
                <a:spcPts val="500"/>
              </a:spcAft>
              <a:buNone/>
            </a:pPr>
            <a:r>
              <a:rPr lang="en-US" sz="1150" b="1" dirty="0">
                <a:solidFill>
                  <a:schemeClr val="tx1"/>
                </a:solidFill>
                <a:latin typeface="Courier New" pitchFamily="34" charset="0"/>
                <a:ea typeface="Courier New" pitchFamily="34" charset="-122"/>
                <a:cs typeface="Courier New" pitchFamily="34" charset="-120"/>
              </a:rPr>
              <a:t>hash 6e34ae57…</a:t>
            </a:r>
            <a:endParaRPr lang="en-US" sz="1150" dirty="0"/>
          </a:p>
        </p:txBody>
      </p:sp>
      <p:sp>
        <p:nvSpPr>
          <p:cNvPr id="15" name="Shape 10"/>
          <p:cNvSpPr/>
          <p:nvPr/>
        </p:nvSpPr>
        <p:spPr>
          <a:xfrm>
            <a:off x="6008522" y="2286000"/>
            <a:ext cx="174650" cy="0"/>
          </a:xfrm>
          <a:prstGeom prst="line">
            <a:avLst/>
          </a:prstGeom>
          <a:noFill/>
          <a:ln w="31750">
            <a:solidFill>
              <a:schemeClr val="accent4"/>
            </a:solidFill>
            <a:prstDash val="solid"/>
            <a:tailEnd type="triangle"/>
          </a:ln>
        </p:spPr>
      </p:sp>
      <p:sp>
        <p:nvSpPr>
          <p:cNvPr id="16" name="Shape 11"/>
          <p:cNvSpPr/>
          <p:nvPr/>
        </p:nvSpPr>
        <p:spPr>
          <a:xfrm>
            <a:off x="6219749" y="1325880"/>
            <a:ext cx="2587752" cy="1920240"/>
          </a:xfrm>
          <a:prstGeom prst="roundRect">
            <a:avLst>
              <a:gd name="adj" fmla="val 4762"/>
            </a:avLst>
          </a:prstGeom>
          <a:solidFill>
            <a:schemeClr val="bg2"/>
          </a:solidFill>
          <a:ln w="9525">
            <a:solidFill>
              <a:schemeClr val="bg2"/>
            </a:solidFill>
            <a:prstDash val="solid"/>
          </a:ln>
        </p:spPr>
      </p:sp>
      <p:sp>
        <p:nvSpPr>
          <p:cNvPr id="17" name="Shape 12"/>
          <p:cNvSpPr/>
          <p:nvPr/>
        </p:nvSpPr>
        <p:spPr>
          <a:xfrm>
            <a:off x="6402629" y="1481328"/>
            <a:ext cx="502920" cy="502920"/>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6513271" y="1591970"/>
            <a:ext cx="281635" cy="281635"/>
          </a:xfrm>
          <a:prstGeom prst="rect">
            <a:avLst/>
          </a:prstGeom>
        </p:spPr>
      </p:pic>
      <p:sp>
        <p:nvSpPr>
          <p:cNvPr id="19" name="Text 13"/>
          <p:cNvSpPr txBox="1"/>
          <p:nvPr/>
        </p:nvSpPr>
        <p:spPr>
          <a:xfrm>
            <a:off x="6996989" y="1481328"/>
            <a:ext cx="1719072" cy="502920"/>
          </a:xfrm>
          <a:prstGeom prst="rect">
            <a:avLst/>
          </a:prstGeom>
          <a:noFill/>
          <a:ln/>
        </p:spPr>
        <p:txBody>
          <a:bodyPr wrap="square" lIns="0" tIns="0" rIns="0" bIns="0" rtlCol="0" anchor="ctr"/>
          <a:lstStyle/>
          <a:p>
            <a:pPr indent="0" marL="0">
              <a:buNone/>
            </a:pPr>
            <a:r>
              <a:rPr lang="en-US" sz="1400" b="1" dirty="0">
                <a:solidFill>
                  <a:schemeClr val="tx1"/>
                </a:solidFill>
              </a:rPr>
              <a:t>user_audit_log.csv</a:t>
            </a:r>
            <a:endParaRPr lang="en-US" sz="1400" dirty="0"/>
          </a:p>
        </p:txBody>
      </p:sp>
      <p:sp>
        <p:nvSpPr>
          <p:cNvPr id="20" name="Text 14"/>
          <p:cNvSpPr txBox="1"/>
          <p:nvPr/>
        </p:nvSpPr>
        <p:spPr>
          <a:xfrm>
            <a:off x="6402629" y="2103120"/>
            <a:ext cx="2313432" cy="1097280"/>
          </a:xfrm>
          <a:prstGeom prst="rect">
            <a:avLst/>
          </a:prstGeom>
          <a:noFill/>
          <a:ln/>
        </p:spPr>
        <p:txBody>
          <a:bodyPr wrap="square" lIns="0" tIns="0" rIns="0" bIns="0" rtlCol="0" anchor="t"/>
          <a:lstStyle/>
          <a:p>
            <a:pPr indent="0" marL="0">
              <a:spcAft>
                <a:spcPts val="500"/>
              </a:spcAft>
              <a:buNone/>
            </a:pPr>
            <a:r>
              <a:rPr lang="en-US" sz="1150" dirty="0">
                <a:solidFill>
                  <a:schemeClr val="tx1"/>
                </a:solidFill>
                <a:latin typeface="Courier New" pitchFamily="34" charset="0"/>
                <a:ea typeface="Courier New" pitchFamily="34" charset="-122"/>
                <a:cs typeface="Courier New" pitchFamily="34" charset="-120"/>
              </a:rPr>
              <a:t>audit_282: email antes</a:t>
            </a:r>
            <a:endParaRPr lang="en-US" sz="1150" dirty="0"/>
          </a:p>
          <a:p>
            <a:pPr indent="0" marL="0">
              <a:spcAft>
                <a:spcPts val="500"/>
              </a:spcAft>
              <a:buNone/>
            </a:pPr>
            <a:r>
              <a:rPr lang="en-US" sz="1150" b="1" dirty="0">
                <a:solidFill>
                  <a:schemeClr val="tx1"/>
                </a:solidFill>
                <a:latin typeface="Courier New" pitchFamily="34" charset="0"/>
                <a:ea typeface="Courier New" pitchFamily="34" charset="-122"/>
                <a:cs typeface="Courier New" pitchFamily="34" charset="-120"/>
              </a:rPr>
              <a:t>minjun.kim90@gmail.com</a:t>
            </a:r>
            <a:endParaRPr lang="en-US" sz="1150" dirty="0"/>
          </a:p>
          <a:p>
            <a:pPr indent="0" marL="0">
              <a:spcAft>
                <a:spcPts val="500"/>
              </a:spcAft>
              <a:buNone/>
            </a:pPr>
            <a:r>
              <a:rPr lang="en-US" sz="1150" b="1" dirty="0">
                <a:solidFill>
                  <a:schemeClr val="tx1"/>
                </a:solidFill>
                <a:latin typeface="Courier New" pitchFamily="34" charset="0"/>
                <a:ea typeface="Courier New" pitchFamily="34" charset="-122"/>
                <a:cs typeface="Courier New" pitchFamily="34" charset="-120"/>
              </a:rPr>
              <a:t>audit_283: hash antes 44a65154…</a:t>
            </a:r>
            <a:endParaRPr lang="en-US" sz="1150" dirty="0"/>
          </a:p>
        </p:txBody>
      </p:sp>
      <p:sp>
        <p:nvSpPr>
          <p:cNvPr id="21" name="Shape 15"/>
          <p:cNvSpPr/>
          <p:nvPr/>
        </p:nvSpPr>
        <p:spPr>
          <a:xfrm>
            <a:off x="8844077" y="2286000"/>
            <a:ext cx="174650" cy="0"/>
          </a:xfrm>
          <a:prstGeom prst="line">
            <a:avLst/>
          </a:prstGeom>
          <a:noFill/>
          <a:ln w="31750">
            <a:solidFill>
              <a:schemeClr val="accent4"/>
            </a:solidFill>
            <a:prstDash val="solid"/>
            <a:tailEnd type="triangle"/>
          </a:ln>
        </p:spPr>
      </p:sp>
      <p:sp>
        <p:nvSpPr>
          <p:cNvPr id="22" name="Shape 16"/>
          <p:cNvSpPr/>
          <p:nvPr/>
        </p:nvSpPr>
        <p:spPr>
          <a:xfrm>
            <a:off x="9055303" y="1325880"/>
            <a:ext cx="2587752" cy="1920240"/>
          </a:xfrm>
          <a:prstGeom prst="roundRect">
            <a:avLst>
              <a:gd name="adj" fmla="val 4762"/>
            </a:avLst>
          </a:prstGeom>
          <a:solidFill>
            <a:schemeClr val="bg2"/>
          </a:solidFill>
          <a:ln w="9525">
            <a:solidFill>
              <a:schemeClr val="bg2"/>
            </a:solidFill>
            <a:prstDash val="solid"/>
          </a:ln>
        </p:spPr>
      </p:sp>
      <p:sp>
        <p:nvSpPr>
          <p:cNvPr id="23" name="Shape 17"/>
          <p:cNvSpPr/>
          <p:nvPr/>
        </p:nvSpPr>
        <p:spPr>
          <a:xfrm>
            <a:off x="9238183" y="1481328"/>
            <a:ext cx="502920" cy="502920"/>
          </a:xfrm>
          <a:prstGeom prst="ellipse">
            <a:avLst/>
          </a:prstGeom>
          <a:solidFill>
            <a:schemeClr val="tx2"/>
          </a:solidFill>
          <a:ln w="12700">
            <a:solidFill>
              <a:schemeClr val="tx2"/>
            </a:solidFill>
            <a:prstDash val="solid"/>
          </a:ln>
        </p:spPr>
      </p:sp>
      <p:pic>
        <p:nvPicPr>
          <p:cNvPr id="24" name="Image 3" descr="preencoded.png">    </p:cNvPr>
          <p:cNvPicPr>
            <a:picLocks noChangeAspect="1"/>
          </p:cNvPicPr>
          <p:nvPr/>
        </p:nvPicPr>
        <p:blipFill>
          <a:blip r:embed="rId4"/>
          <a:stretch>
            <a:fillRect/>
          </a:stretch>
        </p:blipFill>
        <p:spPr>
          <a:xfrm>
            <a:off x="9348826" y="1591970"/>
            <a:ext cx="281635" cy="281635"/>
          </a:xfrm>
          <a:prstGeom prst="rect">
            <a:avLst/>
          </a:prstGeom>
        </p:spPr>
      </p:pic>
      <p:sp>
        <p:nvSpPr>
          <p:cNvPr id="25" name="Text 18"/>
          <p:cNvSpPr txBox="1"/>
          <p:nvPr/>
        </p:nvSpPr>
        <p:spPr>
          <a:xfrm>
            <a:off x="9832543" y="1481328"/>
            <a:ext cx="1719072" cy="502920"/>
          </a:xfrm>
          <a:prstGeom prst="rect">
            <a:avLst/>
          </a:prstGeom>
          <a:noFill/>
          <a:ln/>
        </p:spPr>
        <p:txBody>
          <a:bodyPr wrap="square" lIns="0" tIns="0" rIns="0" bIns="0" rtlCol="0" anchor="ctr"/>
          <a:lstStyle/>
          <a:p>
            <a:pPr indent="0" marL="0">
              <a:buNone/>
            </a:pPr>
            <a:r>
              <a:rPr lang="en-US" sz="1400" b="1" dirty="0">
                <a:solidFill>
                  <a:schemeClr val="tx1"/>
                </a:solidFill>
              </a:rPr>
              <a:t>link_keys</a:t>
            </a:r>
            <a:endParaRPr lang="en-US" sz="1400" dirty="0"/>
          </a:p>
        </p:txBody>
      </p:sp>
      <p:sp>
        <p:nvSpPr>
          <p:cNvPr id="26" name="Text 19"/>
          <p:cNvSpPr txBox="1"/>
          <p:nvPr/>
        </p:nvSpPr>
        <p:spPr>
          <a:xfrm>
            <a:off x="9238183" y="2103120"/>
            <a:ext cx="2313432" cy="1097280"/>
          </a:xfrm>
          <a:prstGeom prst="rect">
            <a:avLst/>
          </a:prstGeom>
          <a:noFill/>
          <a:ln/>
        </p:spPr>
        <p:txBody>
          <a:bodyPr wrap="square" lIns="0" tIns="0" rIns="0" bIns="0" rtlCol="0" anchor="t"/>
          <a:lstStyle/>
          <a:p>
            <a:pPr indent="0" marL="0">
              <a:spcAft>
                <a:spcPts val="500"/>
              </a:spcAft>
              <a:buNone/>
            </a:pPr>
            <a:r>
              <a:rPr lang="en-US" sz="1150" dirty="0">
                <a:solidFill>
                  <a:schemeClr val="tx1"/>
                </a:solidFill>
                <a:latin typeface="Courier New" pitchFamily="34" charset="0"/>
                <a:ea typeface="Courier New" pitchFamily="34" charset="-122"/>
                <a:cs typeface="Courier New" pitchFamily="34" charset="-120"/>
              </a:rPr>
              <a:t>2 emails, 1 teléfono</a:t>
            </a:r>
            <a:endParaRPr lang="en-US" sz="1150" dirty="0"/>
          </a:p>
          <a:p>
            <a:pPr indent="0" marL="0">
              <a:spcAft>
                <a:spcPts val="500"/>
              </a:spcAft>
              <a:buNone/>
            </a:pPr>
            <a:r>
              <a:rPr lang="en-US" sz="1150" dirty="0">
                <a:solidFill>
                  <a:schemeClr val="tx1"/>
                </a:solidFill>
                <a:latin typeface="Courier New" pitchFamily="34" charset="0"/>
                <a:ea typeface="Courier New" pitchFamily="34" charset="-122"/>
                <a:cs typeface="Courier New" pitchFamily="34" charset="-120"/>
              </a:rPr>
              <a:t>2 hashes + sha256(email)</a:t>
            </a:r>
            <a:endParaRPr lang="en-US" sz="1150" dirty="0"/>
          </a:p>
          <a:p>
            <a:pPr indent="0" marL="0">
              <a:spcAft>
                <a:spcPts val="500"/>
              </a:spcAft>
              <a:buNone/>
            </a:pPr>
            <a:r>
              <a:rPr lang="en-US" sz="1150" b="1" dirty="0">
                <a:solidFill>
                  <a:schemeClr val="tx1"/>
                </a:solidFill>
                <a:latin typeface="Courier New" pitchFamily="34" charset="0"/>
                <a:ea typeface="Courier New" pitchFamily="34" charset="-122"/>
                <a:cs typeface="Courier New" pitchFamily="34" charset="-120"/>
              </a:rPr>
              <a:t>user_12</a:t>
            </a:r>
            <a:endParaRPr lang="en-US" sz="1150" dirty="0"/>
          </a:p>
        </p:txBody>
      </p:sp>
      <p:sp>
        <p:nvSpPr>
          <p:cNvPr id="27" name="Text 20"/>
          <p:cNvSpPr txBox="1"/>
          <p:nvPr/>
        </p:nvSpPr>
        <p:spPr>
          <a:xfrm>
            <a:off x="548640" y="3474720"/>
            <a:ext cx="6949440" cy="365760"/>
          </a:xfrm>
          <a:prstGeom prst="rect">
            <a:avLst/>
          </a:prstGeom>
          <a:noFill/>
          <a:ln/>
        </p:spPr>
        <p:txBody>
          <a:bodyPr wrap="square" lIns="0" tIns="0" rIns="0" bIns="0" rtlCol="0" anchor="t"/>
          <a:lstStyle/>
          <a:p>
            <a:pPr indent="0" marL="0">
              <a:buNone/>
            </a:pPr>
            <a:r>
              <a:rPr lang="en-US" sz="1500" b="1" dirty="0">
                <a:solidFill>
                  <a:schemeClr val="accent2"/>
                </a:solidFill>
              </a:rPr>
              <a:t>En evidence_01 la copia solo aparece con el hash del email ANTIGUO</a:t>
            </a:r>
            <a:endParaRPr lang="en-US" sz="1500" dirty="0"/>
          </a:p>
        </p:txBody>
      </p:sp>
      <p:sp>
        <p:nvSpPr>
          <p:cNvPr id="28" name="Shape 21"/>
          <p:cNvSpPr/>
          <p:nvPr/>
        </p:nvSpPr>
        <p:spPr>
          <a:xfrm>
            <a:off x="548640" y="3931920"/>
            <a:ext cx="6949440" cy="1920240"/>
          </a:xfrm>
          <a:prstGeom prst="roundRect">
            <a:avLst>
              <a:gd name="adj" fmla="val 3810"/>
            </a:avLst>
          </a:prstGeom>
          <a:solidFill>
            <a:schemeClr val="tx1"/>
          </a:solidFill>
          <a:ln w="9525">
            <a:solidFill>
              <a:schemeClr val="tx1"/>
            </a:solidFill>
            <a:prstDash val="solid"/>
          </a:ln>
        </p:spPr>
      </p:sp>
      <p:sp>
        <p:nvSpPr>
          <p:cNvPr id="29" name="Text 22"/>
          <p:cNvSpPr txBox="1"/>
          <p:nvPr/>
        </p:nvSpPr>
        <p:spPr>
          <a:xfrm>
            <a:off x="731520" y="4069080"/>
            <a:ext cx="6583680" cy="164592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11:58:26Z analytics_platform trace_id=tr-9137340</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resource_id=analytics_9914</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event=contact_lookup_completed rows=1 email_opt_in=true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correlation_key="44a65154bfd8e408852578fbd76813d0…"</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accent5"/>
                </a:solidFill>
                <a:latin typeface="Courier New" pitchFamily="34" charset="0"/>
                <a:ea typeface="Courier New" pitchFamily="34" charset="-122"/>
                <a:cs typeface="Courier New" pitchFamily="34" charset="-120"/>
              </a:rPr>
              <a:t># links ∩ link_keys = {hash antiguo}  →  recurso de user_12</a:t>
            </a:r>
            <a:endParaRPr lang="en-US" sz="1300" dirty="0"/>
          </a:p>
        </p:txBody>
      </p:sp>
      <p:sp>
        <p:nvSpPr>
          <p:cNvPr id="30" name="Text 23"/>
          <p:cNvSpPr txBox="1"/>
          <p:nvPr/>
        </p:nvSpPr>
        <p:spPr>
          <a:xfrm>
            <a:off x="7772400" y="3474720"/>
            <a:ext cx="3867912" cy="365760"/>
          </a:xfrm>
          <a:prstGeom prst="rect">
            <a:avLst/>
          </a:prstGeom>
          <a:noFill/>
          <a:ln/>
        </p:spPr>
        <p:txBody>
          <a:bodyPr wrap="square" lIns="0" tIns="0" rIns="0" bIns="0" rtlCol="0" anchor="t"/>
          <a:lstStyle/>
          <a:p>
            <a:pPr indent="0" marL="0">
              <a:buNone/>
            </a:pPr>
            <a:r>
              <a:rPr lang="en-US" sz="1500" b="1" dirty="0">
                <a:solidFill>
                  <a:schemeClr val="tx2"/>
                </a:solidFill>
              </a:rPr>
              <a:t>identity.py · resolve()</a:t>
            </a:r>
            <a:endParaRPr lang="en-US" sz="1500" dirty="0"/>
          </a:p>
        </p:txBody>
      </p:sp>
      <p:sp>
        <p:nvSpPr>
          <p:cNvPr id="31" name="Shape 24"/>
          <p:cNvSpPr/>
          <p:nvPr/>
        </p:nvSpPr>
        <p:spPr>
          <a:xfrm>
            <a:off x="7772400" y="3931920"/>
            <a:ext cx="3867912" cy="1920240"/>
          </a:xfrm>
          <a:prstGeom prst="roundRect">
            <a:avLst>
              <a:gd name="adj" fmla="val 3810"/>
            </a:avLst>
          </a:prstGeom>
          <a:solidFill>
            <a:schemeClr val="tx1"/>
          </a:solidFill>
          <a:ln w="9525">
            <a:solidFill>
              <a:schemeClr val="tx1"/>
            </a:solidFill>
            <a:prstDash val="solid"/>
          </a:ln>
        </p:spPr>
      </p:sp>
      <p:sp>
        <p:nvSpPr>
          <p:cNvPr id="32" name="Text 25"/>
          <p:cNvSpPr txBox="1"/>
          <p:nvPr/>
        </p:nvSpPr>
        <p:spPr>
          <a:xfrm>
            <a:off x="7955280" y="4069080"/>
            <a:ext cx="3502152" cy="164592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uid ← actual[email]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o histórico[email]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claves ← {email}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claves += snapshot(uid)</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claves += historial(uid)</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claves += sha256(cada email)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claves += {uid}</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Investigador: recursos y estado en audit_at</a:t>
            </a:r>
            <a:endParaRPr lang="en-US" sz="3200" dirty="0"/>
          </a:p>
        </p:txBody>
      </p:sp>
      <p:sp>
        <p:nvSpPr>
          <p:cNvPr id="4" name="Shape 1"/>
          <p:cNvSpPr/>
          <p:nvPr/>
        </p:nvSpPr>
        <p:spPr>
          <a:xfrm>
            <a:off x="548640" y="1325880"/>
            <a:ext cx="11094415" cy="3977640"/>
          </a:xfrm>
          <a:prstGeom prst="roundRect">
            <a:avLst>
              <a:gd name="adj" fmla="val 1839"/>
            </a:avLst>
          </a:prstGeom>
          <a:solidFill>
            <a:schemeClr val="tx1"/>
          </a:solidFill>
          <a:ln w="9525">
            <a:solidFill>
              <a:schemeClr val="tx1"/>
            </a:solidFill>
            <a:prstDash val="solid"/>
          </a:ln>
        </p:spPr>
      </p:sp>
      <p:sp>
        <p:nvSpPr>
          <p:cNvPr id="5" name="Text 2"/>
          <p:cNvSpPr txBox="1"/>
          <p:nvPr/>
        </p:nvSpPr>
        <p:spPr>
          <a:xfrm>
            <a:off x="731520" y="1463040"/>
            <a:ext cx="10728655" cy="370332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función auditar(r, autoriza):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no autoriza: devolver NOT_APPLICABLE,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sujeto  ← resolver_identidad(r.email)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ventana ← [r.requested_at, r.audit_at]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recursos ← encontrar_recursos(sujeto, ventana)     </a:t>
            </a:r>
            <a:pPr indent="0" marL="0">
              <a:buNone/>
            </a:pPr>
            <a:r>
              <a:rPr lang="en-US" sz="1300" dirty="0">
                <a:solidFill>
                  <a:schemeClr val="accent5"/>
                </a:solidFill>
                <a:latin typeface="Courier New" pitchFamily="34" charset="0"/>
                <a:ea typeface="Courier New" pitchFamily="34" charset="-122"/>
                <a:cs typeface="Courier New" pitchFamily="34" charset="-120"/>
              </a:rPr>
              <a:t># identificadores y catálogo</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 atribución_por_lotes[r.case_id]       </a:t>
            </a:r>
            <a:pPr indent="0" marL="0">
              <a:buNone/>
            </a:pPr>
            <a:r>
              <a:rPr lang="en-US" sz="1300" dirty="0">
                <a:solidFill>
                  <a:schemeClr val="accent5"/>
                </a:solidFill>
                <a:latin typeface="Courier New" pitchFamily="34" charset="0"/>
                <a:ea typeface="Courier New" pitchFamily="34" charset="-122"/>
                <a:cs typeface="Courier New" pitchFamily="34" charset="-120"/>
              </a:rPr>
              <a:t># objetivos sin identificadores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estados ← { estado_en(rid, ventana) para cada rid en recursos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posteriores ← retenidos ligados a la persona solo por evidencia posterior</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devolver planificar(estados, ventana, posteriores)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función estado_en(rid, ventana):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obs ← observaciones de rid con captured_at en la ventana y ts ≤ audit_at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obs está vacío: devolver desconocido           </a:t>
            </a:r>
            <a:pPr indent="0" marL="0">
              <a:buNone/>
            </a:pPr>
            <a:r>
              <a:rPr lang="en-US" sz="1300" dirty="0">
                <a:solidFill>
                  <a:schemeClr val="accent5"/>
                </a:solidFill>
                <a:latin typeface="Courier New" pitchFamily="34" charset="0"/>
                <a:ea typeface="Courier New" pitchFamily="34" charset="-122"/>
                <a:cs typeface="Courier New" pitchFamily="34" charset="-120"/>
              </a:rPr>
              <a:t># un perfil sin rastro = ausente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top ← obs con el ts más alto                       </a:t>
            </a:r>
            <a:pPr indent="0" marL="0">
              <a:buNone/>
            </a:pPr>
            <a:r>
              <a:rPr lang="en-US" sz="1300" dirty="0">
                <a:solidFill>
                  <a:schemeClr val="accent5"/>
                </a:solidFill>
                <a:latin typeface="Courier New" pitchFamily="34" charset="0"/>
                <a:ea typeface="Courier New" pitchFamily="34" charset="-122"/>
                <a:cs typeface="Courier New" pitchFamily="34" charset="-120"/>
              </a:rPr>
              <a:t># la más reciente gana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present ← algún top dice presente                  </a:t>
            </a:r>
            <a:pPr indent="0" marL="0">
              <a:buNone/>
            </a:pPr>
            <a:r>
              <a:rPr lang="en-US" sz="1300" dirty="0">
                <a:solidFill>
                  <a:schemeClr val="accent5"/>
                </a:solidFill>
                <a:latin typeface="Courier New" pitchFamily="34" charset="0"/>
                <a:ea typeface="Courier New" pitchFamily="34" charset="-122"/>
                <a:cs typeface="Courier New" pitchFamily="34" charset="-120"/>
              </a:rPr>
              <a:t># fusión conservadora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exposed ← algún top expone PII;  active ← algún top está activo</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cita    ← archivo de top capturado más tarde</a:t>
            </a:r>
            <a:endParaRPr lang="en-US" sz="1300" dirty="0"/>
          </a:p>
        </p:txBody>
      </p:sp>
      <p:sp>
        <p:nvSpPr>
          <p:cNvPr id="6" name="Shape 3"/>
          <p:cNvSpPr/>
          <p:nvPr/>
        </p:nvSpPr>
        <p:spPr>
          <a:xfrm>
            <a:off x="548640" y="5486400"/>
            <a:ext cx="2602154" cy="731520"/>
          </a:xfrm>
          <a:prstGeom prst="roundRect">
            <a:avLst>
              <a:gd name="adj" fmla="val 12500"/>
            </a:avLst>
          </a:prstGeom>
          <a:solidFill>
            <a:schemeClr val="bg2"/>
          </a:solidFill>
          <a:ln w="9525">
            <a:solidFill>
              <a:schemeClr val="bg2"/>
            </a:solidFill>
            <a:prstDash val="solid"/>
          </a:ln>
        </p:spPr>
      </p:sp>
      <p:sp>
        <p:nvSpPr>
          <p:cNvPr id="7" name="Shape 4"/>
          <p:cNvSpPr/>
          <p:nvPr/>
        </p:nvSpPr>
        <p:spPr>
          <a:xfrm>
            <a:off x="685800" y="5577840"/>
            <a:ext cx="548640" cy="548640"/>
          </a:xfrm>
          <a:prstGeom prst="ellipse">
            <a:avLst/>
          </a:prstGeom>
          <a:solidFill>
            <a:schemeClr val="tx2"/>
          </a:solidFill>
          <a:ln w="12700">
            <a:solidFill>
              <a:schemeClr val="tx2"/>
            </a:solidFill>
            <a:prstDash val="solid"/>
          </a:ln>
        </p:spPr>
      </p:sp>
      <p:pic>
        <p:nvPicPr>
          <p:cNvPr id="8" name="Image 0" descr="preencoded.png">    </p:cNvPr>
          <p:cNvPicPr>
            <a:picLocks noChangeAspect="1"/>
          </p:cNvPicPr>
          <p:nvPr/>
        </p:nvPicPr>
        <p:blipFill>
          <a:blip r:embed="rId1"/>
          <a:stretch>
            <a:fillRect/>
          </a:stretch>
        </p:blipFill>
        <p:spPr>
          <a:xfrm>
            <a:off x="806501" y="5698541"/>
            <a:ext cx="307238" cy="307238"/>
          </a:xfrm>
          <a:prstGeom prst="rect">
            <a:avLst/>
          </a:prstGeom>
        </p:spPr>
      </p:pic>
      <p:sp>
        <p:nvSpPr>
          <p:cNvPr id="9" name="Text 5"/>
          <p:cNvSpPr txBox="1"/>
          <p:nvPr/>
        </p:nvSpPr>
        <p:spPr>
          <a:xfrm>
            <a:off x="1371600" y="5486400"/>
            <a:ext cx="1687754" cy="731520"/>
          </a:xfrm>
          <a:prstGeom prst="rect">
            <a:avLst/>
          </a:prstGeom>
          <a:noFill/>
          <a:ln/>
        </p:spPr>
        <p:txBody>
          <a:bodyPr wrap="square" lIns="0" tIns="0" rIns="0" bIns="0" rtlCol="0" anchor="ctr"/>
          <a:lstStyle/>
          <a:p>
            <a:pPr indent="0" marL="0">
              <a:buNone/>
            </a:pPr>
            <a:r>
              <a:rPr lang="en-US" sz="1450" b="1" dirty="0">
                <a:solidFill>
                  <a:schemeClr val="tx1"/>
                </a:solidFill>
              </a:rPr>
              <a:t>Afirmación ≠ prueba</a:t>
            </a:r>
            <a:endParaRPr lang="en-US" sz="1450" dirty="0"/>
          </a:p>
        </p:txBody>
      </p:sp>
      <p:sp>
        <p:nvSpPr>
          <p:cNvPr id="10" name="Shape 6"/>
          <p:cNvSpPr/>
          <p:nvPr/>
        </p:nvSpPr>
        <p:spPr>
          <a:xfrm>
            <a:off x="3379394" y="5486400"/>
            <a:ext cx="2602154" cy="731520"/>
          </a:xfrm>
          <a:prstGeom prst="roundRect">
            <a:avLst>
              <a:gd name="adj" fmla="val 12500"/>
            </a:avLst>
          </a:prstGeom>
          <a:solidFill>
            <a:schemeClr val="bg2"/>
          </a:solidFill>
          <a:ln w="9525">
            <a:solidFill>
              <a:schemeClr val="bg2"/>
            </a:solidFill>
            <a:prstDash val="solid"/>
          </a:ln>
        </p:spPr>
      </p:sp>
      <p:sp>
        <p:nvSpPr>
          <p:cNvPr id="11" name="Shape 7"/>
          <p:cNvSpPr/>
          <p:nvPr/>
        </p:nvSpPr>
        <p:spPr>
          <a:xfrm>
            <a:off x="3516554" y="5577840"/>
            <a:ext cx="548640" cy="54864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637255" y="5698541"/>
            <a:ext cx="307238" cy="307238"/>
          </a:xfrm>
          <a:prstGeom prst="rect">
            <a:avLst/>
          </a:prstGeom>
        </p:spPr>
      </p:pic>
      <p:sp>
        <p:nvSpPr>
          <p:cNvPr id="13" name="Text 8"/>
          <p:cNvSpPr txBox="1"/>
          <p:nvPr/>
        </p:nvSpPr>
        <p:spPr>
          <a:xfrm>
            <a:off x="4202354" y="5486400"/>
            <a:ext cx="1687754" cy="731520"/>
          </a:xfrm>
          <a:prstGeom prst="rect">
            <a:avLst/>
          </a:prstGeom>
          <a:noFill/>
          <a:ln/>
        </p:spPr>
        <p:txBody>
          <a:bodyPr wrap="square" lIns="0" tIns="0" rIns="0" bIns="0" rtlCol="0" anchor="ctr"/>
          <a:lstStyle/>
          <a:p>
            <a:pPr indent="0" marL="0">
              <a:buNone/>
            </a:pPr>
            <a:r>
              <a:rPr lang="en-US" sz="1450" b="1" dirty="0">
                <a:solidFill>
                  <a:schemeClr val="tx1"/>
                </a:solidFill>
              </a:rPr>
              <a:t>La más reciente gana</a:t>
            </a:r>
            <a:endParaRPr lang="en-US" sz="1450" dirty="0"/>
          </a:p>
        </p:txBody>
      </p:sp>
      <p:sp>
        <p:nvSpPr>
          <p:cNvPr id="14" name="Shape 9"/>
          <p:cNvSpPr/>
          <p:nvPr/>
        </p:nvSpPr>
        <p:spPr>
          <a:xfrm>
            <a:off x="6210148" y="5486400"/>
            <a:ext cx="2602154" cy="731520"/>
          </a:xfrm>
          <a:prstGeom prst="roundRect">
            <a:avLst>
              <a:gd name="adj" fmla="val 12500"/>
            </a:avLst>
          </a:prstGeom>
          <a:solidFill>
            <a:schemeClr val="bg2"/>
          </a:solidFill>
          <a:ln w="9525">
            <a:solidFill>
              <a:schemeClr val="bg2"/>
            </a:solidFill>
            <a:prstDash val="solid"/>
          </a:ln>
        </p:spPr>
      </p:sp>
      <p:sp>
        <p:nvSpPr>
          <p:cNvPr id="15" name="Shape 10"/>
          <p:cNvSpPr/>
          <p:nvPr/>
        </p:nvSpPr>
        <p:spPr>
          <a:xfrm>
            <a:off x="6347308" y="5577840"/>
            <a:ext cx="548640" cy="548640"/>
          </a:xfrm>
          <a:prstGeom prst="ellipse">
            <a:avLst/>
          </a:prstGeom>
          <a:solidFill>
            <a:schemeClr val="accent2"/>
          </a:solidFill>
          <a:ln w="12700">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6468008" y="5698541"/>
            <a:ext cx="307238" cy="307238"/>
          </a:xfrm>
          <a:prstGeom prst="rect">
            <a:avLst/>
          </a:prstGeom>
        </p:spPr>
      </p:pic>
      <p:sp>
        <p:nvSpPr>
          <p:cNvPr id="17" name="Text 11"/>
          <p:cNvSpPr txBox="1"/>
          <p:nvPr/>
        </p:nvSpPr>
        <p:spPr>
          <a:xfrm>
            <a:off x="7033108" y="5486400"/>
            <a:ext cx="1687754" cy="731520"/>
          </a:xfrm>
          <a:prstGeom prst="rect">
            <a:avLst/>
          </a:prstGeom>
          <a:noFill/>
          <a:ln/>
        </p:spPr>
        <p:txBody>
          <a:bodyPr wrap="square" lIns="0" tIns="0" rIns="0" bIns="0" rtlCol="0" anchor="ctr"/>
          <a:lstStyle/>
          <a:p>
            <a:pPr indent="0" marL="0">
              <a:buNone/>
            </a:pPr>
            <a:r>
              <a:rPr lang="en-US" sz="1450" b="1" dirty="0">
                <a:solidFill>
                  <a:schemeClr val="tx1"/>
                </a:solidFill>
              </a:rPr>
              <a:t>Empate → presente</a:t>
            </a:r>
            <a:endParaRPr lang="en-US" sz="1450" dirty="0"/>
          </a:p>
        </p:txBody>
      </p:sp>
      <p:sp>
        <p:nvSpPr>
          <p:cNvPr id="18" name="Shape 12"/>
          <p:cNvSpPr/>
          <p:nvPr/>
        </p:nvSpPr>
        <p:spPr>
          <a:xfrm>
            <a:off x="9040901" y="5486400"/>
            <a:ext cx="2602154" cy="731520"/>
          </a:xfrm>
          <a:prstGeom prst="roundRect">
            <a:avLst>
              <a:gd name="adj" fmla="val 12500"/>
            </a:avLst>
          </a:prstGeom>
          <a:solidFill>
            <a:schemeClr val="bg2"/>
          </a:solidFill>
          <a:ln w="9525">
            <a:solidFill>
              <a:schemeClr val="bg2"/>
            </a:solidFill>
            <a:prstDash val="solid"/>
          </a:ln>
        </p:spPr>
      </p:sp>
      <p:sp>
        <p:nvSpPr>
          <p:cNvPr id="19" name="Shape 13"/>
          <p:cNvSpPr/>
          <p:nvPr/>
        </p:nvSpPr>
        <p:spPr>
          <a:xfrm>
            <a:off x="9178061" y="5577840"/>
            <a:ext cx="548640" cy="548640"/>
          </a:xfrm>
          <a:prstGeom prst="ellipse">
            <a:avLst/>
          </a:prstGeom>
          <a:solidFill>
            <a:schemeClr val="accent6"/>
          </a:solidFill>
          <a:ln w="12700">
            <a:solidFill>
              <a:schemeClr val="accent6"/>
            </a:solidFill>
            <a:prstDash val="solid"/>
          </a:ln>
        </p:spPr>
      </p:sp>
      <p:pic>
        <p:nvPicPr>
          <p:cNvPr id="20" name="Image 3" descr="preencoded.png">    </p:cNvPr>
          <p:cNvPicPr>
            <a:picLocks noChangeAspect="1"/>
          </p:cNvPicPr>
          <p:nvPr/>
        </p:nvPicPr>
        <p:blipFill>
          <a:blip r:embed="rId4"/>
          <a:stretch>
            <a:fillRect/>
          </a:stretch>
        </p:blipFill>
        <p:spPr>
          <a:xfrm>
            <a:off x="9298762" y="5698541"/>
            <a:ext cx="307238" cy="307238"/>
          </a:xfrm>
          <a:prstGeom prst="rect">
            <a:avLst/>
          </a:prstGeom>
        </p:spPr>
      </p:pic>
      <p:sp>
        <p:nvSpPr>
          <p:cNvPr id="21" name="Text 14"/>
          <p:cNvSpPr txBox="1"/>
          <p:nvPr/>
        </p:nvSpPr>
        <p:spPr>
          <a:xfrm>
            <a:off x="9863861" y="5486400"/>
            <a:ext cx="1687754" cy="731520"/>
          </a:xfrm>
          <a:prstGeom prst="rect">
            <a:avLst/>
          </a:prstGeom>
          <a:noFill/>
          <a:ln/>
        </p:spPr>
        <p:txBody>
          <a:bodyPr wrap="square" lIns="0" tIns="0" rIns="0" bIns="0" rtlCol="0" anchor="ctr"/>
          <a:lstStyle/>
          <a:p>
            <a:pPr indent="0" marL="0">
              <a:buNone/>
            </a:pPr>
            <a:r>
              <a:rPr lang="en-US" sz="1450" b="1" dirty="0">
                <a:solidFill>
                  <a:schemeClr val="tx1"/>
                </a:solidFill>
              </a:rPr>
              <a:t>Las réplicas cuentan</a:t>
            </a:r>
            <a:endParaRPr lang="en-US" sz="14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Prueba de ausencia y deriva de réplicas</a:t>
            </a:r>
            <a:endParaRPr lang="en-US" sz="3200" dirty="0"/>
          </a:p>
        </p:txBody>
      </p:sp>
      <p:sp>
        <p:nvSpPr>
          <p:cNvPr id="4" name="Shape 1"/>
          <p:cNvSpPr/>
          <p:nvPr/>
        </p:nvSpPr>
        <p:spPr>
          <a:xfrm>
            <a:off x="548640" y="1417320"/>
            <a:ext cx="2651760" cy="2697480"/>
          </a:xfrm>
          <a:prstGeom prst="can">
            <a:avLst/>
          </a:prstGeom>
          <a:solidFill>
            <a:schemeClr val="tx2"/>
          </a:solidFill>
          <a:ln w="12700">
            <a:solidFill>
              <a:schemeClr val="tx2"/>
            </a:solidFill>
            <a:prstDash val="solid"/>
          </a:ln>
        </p:spPr>
      </p:sp>
      <p:sp>
        <p:nvSpPr>
          <p:cNvPr id="5" name="Text 2"/>
          <p:cNvSpPr txBox="1"/>
          <p:nvPr/>
        </p:nvSpPr>
        <p:spPr>
          <a:xfrm>
            <a:off x="548640" y="2286000"/>
            <a:ext cx="2651760" cy="365760"/>
          </a:xfrm>
          <a:prstGeom prst="rect">
            <a:avLst/>
          </a:prstGeom>
          <a:noFill/>
          <a:ln/>
        </p:spPr>
        <p:txBody>
          <a:bodyPr wrap="square" lIns="0" tIns="0" rIns="0" bIns="0" rtlCol="0" anchor="t"/>
          <a:lstStyle/>
          <a:p>
            <a:pPr algn="ctr" indent="0" marL="0">
              <a:buNone/>
            </a:pPr>
            <a:r>
              <a:rPr lang="en-US" sz="1500" b="1" dirty="0">
                <a:solidFill>
                  <a:schemeClr val="bg1"/>
                </a:solidFill>
              </a:rPr>
              <a:t>Inventario primario</a:t>
            </a:r>
            <a:endParaRPr lang="en-US" sz="1500" dirty="0"/>
          </a:p>
        </p:txBody>
      </p:sp>
      <p:sp>
        <p:nvSpPr>
          <p:cNvPr id="6" name="Text 3"/>
          <p:cNvSpPr txBox="1"/>
          <p:nvPr/>
        </p:nvSpPr>
        <p:spPr>
          <a:xfrm>
            <a:off x="548640" y="2624328"/>
            <a:ext cx="2651760" cy="320040"/>
          </a:xfrm>
          <a:prstGeom prst="rect">
            <a:avLst/>
          </a:prstGeom>
          <a:noFill/>
          <a:ln/>
        </p:spPr>
        <p:txBody>
          <a:bodyPr wrap="square" lIns="0" tIns="0" rIns="0" bIns="0" rtlCol="0" anchor="t"/>
          <a:lstStyle/>
          <a:p>
            <a:pPr algn="ctr" indent="0" marL="0">
              <a:buNone/>
            </a:pPr>
            <a:r>
              <a:rPr lang="en-US" sz="1200" dirty="0">
                <a:solidFill>
                  <a:schemeClr val="bg2"/>
                </a:solidFill>
                <a:latin typeface="Courier New" pitchFamily="34" charset="0"/>
                <a:ea typeface="Courier New" pitchFamily="34" charset="-122"/>
                <a:cs typeface="Courier New" pitchFamily="34" charset="-120"/>
              </a:rPr>
              <a:t>evidence_90 · 09-05</a:t>
            </a:r>
            <a:endParaRPr lang="en-US" sz="1200" dirty="0"/>
          </a:p>
        </p:txBody>
      </p:sp>
      <p:sp>
        <p:nvSpPr>
          <p:cNvPr id="7" name="Text 4"/>
          <p:cNvSpPr/>
          <p:nvPr/>
        </p:nvSpPr>
        <p:spPr>
          <a:xfrm>
            <a:off x="822960" y="3108960"/>
            <a:ext cx="210312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fila ausente</a:t>
            </a:r>
            <a:endParaRPr lang="en-US" sz="1200" dirty="0"/>
          </a:p>
        </p:txBody>
      </p:sp>
      <p:sp>
        <p:nvSpPr>
          <p:cNvPr id="8" name="Shape 5"/>
          <p:cNvSpPr/>
          <p:nvPr/>
        </p:nvSpPr>
        <p:spPr>
          <a:xfrm>
            <a:off x="3566160" y="1417320"/>
            <a:ext cx="2651760" cy="2697480"/>
          </a:xfrm>
          <a:prstGeom prst="can">
            <a:avLst/>
          </a:prstGeom>
          <a:solidFill>
            <a:schemeClr val="accent6"/>
          </a:solidFill>
          <a:ln w="12700">
            <a:solidFill>
              <a:schemeClr val="accent6"/>
            </a:solidFill>
            <a:prstDash val="solid"/>
          </a:ln>
        </p:spPr>
      </p:sp>
      <p:sp>
        <p:nvSpPr>
          <p:cNvPr id="9" name="Text 6"/>
          <p:cNvSpPr txBox="1"/>
          <p:nvPr/>
        </p:nvSpPr>
        <p:spPr>
          <a:xfrm>
            <a:off x="3566160" y="2286000"/>
            <a:ext cx="2651760" cy="365760"/>
          </a:xfrm>
          <a:prstGeom prst="rect">
            <a:avLst/>
          </a:prstGeom>
          <a:noFill/>
          <a:ln/>
        </p:spPr>
        <p:txBody>
          <a:bodyPr wrap="square" lIns="0" tIns="0" rIns="0" bIns="0" rtlCol="0" anchor="t"/>
          <a:lstStyle/>
          <a:p>
            <a:pPr algn="ctr" indent="0" marL="0">
              <a:buNone/>
            </a:pPr>
            <a:r>
              <a:rPr lang="en-US" sz="1500" b="1" dirty="0">
                <a:solidFill>
                  <a:schemeClr val="bg1"/>
                </a:solidFill>
              </a:rPr>
              <a:t>Réplica failover</a:t>
            </a:r>
            <a:endParaRPr lang="en-US" sz="1500" dirty="0"/>
          </a:p>
        </p:txBody>
      </p:sp>
      <p:sp>
        <p:nvSpPr>
          <p:cNvPr id="10" name="Text 7"/>
          <p:cNvSpPr txBox="1"/>
          <p:nvPr/>
        </p:nvSpPr>
        <p:spPr>
          <a:xfrm>
            <a:off x="3566160" y="2624328"/>
            <a:ext cx="2651760" cy="320040"/>
          </a:xfrm>
          <a:prstGeom prst="rect">
            <a:avLst/>
          </a:prstGeom>
          <a:noFill/>
          <a:ln/>
        </p:spPr>
        <p:txBody>
          <a:bodyPr wrap="square" lIns="0" tIns="0" rIns="0" bIns="0" rtlCol="0" anchor="t"/>
          <a:lstStyle/>
          <a:p>
            <a:pPr algn="ctr" indent="0" marL="0">
              <a:buNone/>
            </a:pPr>
            <a:r>
              <a:rPr lang="en-US" sz="1200" dirty="0">
                <a:solidFill>
                  <a:schemeClr val="bg2"/>
                </a:solidFill>
                <a:latin typeface="Courier New" pitchFamily="34" charset="0"/>
                <a:ea typeface="Courier New" pitchFamily="34" charset="-122"/>
                <a:cs typeface="Courier New" pitchFamily="34" charset="-120"/>
              </a:rPr>
              <a:t>evidence_54 · 09-02</a:t>
            </a:r>
            <a:endParaRPr lang="en-US" sz="1200" dirty="0"/>
          </a:p>
        </p:txBody>
      </p:sp>
      <p:sp>
        <p:nvSpPr>
          <p:cNvPr id="11" name="Text 8"/>
          <p:cNvSpPr/>
          <p:nvPr/>
        </p:nvSpPr>
        <p:spPr>
          <a:xfrm>
            <a:off x="3840480" y="3108960"/>
            <a:ext cx="210312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fila presente</a:t>
            </a:r>
            <a:endParaRPr lang="en-US" sz="1200" dirty="0"/>
          </a:p>
        </p:txBody>
      </p:sp>
      <p:sp>
        <p:nvSpPr>
          <p:cNvPr id="12" name="Shape 9"/>
          <p:cNvSpPr/>
          <p:nvPr/>
        </p:nvSpPr>
        <p:spPr>
          <a:xfrm>
            <a:off x="548640" y="4389120"/>
            <a:ext cx="5669280" cy="1600200"/>
          </a:xfrm>
          <a:prstGeom prst="roundRect">
            <a:avLst>
              <a:gd name="adj" fmla="val 5714"/>
            </a:avLst>
          </a:prstGeom>
          <a:solidFill>
            <a:schemeClr val="bg2"/>
          </a:solidFill>
          <a:ln w="9525">
            <a:solidFill>
              <a:schemeClr val="bg2"/>
            </a:solidFill>
            <a:prstDash val="solid"/>
          </a:ln>
        </p:spPr>
      </p:sp>
      <p:sp>
        <p:nvSpPr>
          <p:cNvPr id="13" name="Shape 10"/>
          <p:cNvSpPr/>
          <p:nvPr/>
        </p:nvSpPr>
        <p:spPr>
          <a:xfrm>
            <a:off x="731520" y="4572000"/>
            <a:ext cx="548640" cy="548640"/>
          </a:xfrm>
          <a:prstGeom prst="ellipse">
            <a:avLst/>
          </a:prstGeom>
          <a:solidFill>
            <a:schemeClr val="accent2"/>
          </a:solidFill>
          <a:ln w="12700">
            <a:solidFill>
              <a:schemeClr val="accent2"/>
            </a:solidFill>
            <a:prstDash val="solid"/>
          </a:ln>
        </p:spPr>
      </p:sp>
      <p:pic>
        <p:nvPicPr>
          <p:cNvPr id="14" name="Image 0" descr="preencoded.png">    </p:cNvPr>
          <p:cNvPicPr>
            <a:picLocks noChangeAspect="1"/>
          </p:cNvPicPr>
          <p:nvPr/>
        </p:nvPicPr>
        <p:blipFill>
          <a:blip r:embed="rId1"/>
          <a:stretch>
            <a:fillRect/>
          </a:stretch>
        </p:blipFill>
        <p:spPr>
          <a:xfrm>
            <a:off x="852221" y="4692701"/>
            <a:ext cx="307238" cy="307238"/>
          </a:xfrm>
          <a:prstGeom prst="rect">
            <a:avLst/>
          </a:prstGeom>
        </p:spPr>
      </p:pic>
      <p:sp>
        <p:nvSpPr>
          <p:cNvPr id="15" name="Text 11"/>
          <p:cNvSpPr txBox="1"/>
          <p:nvPr/>
        </p:nvSpPr>
        <p:spPr>
          <a:xfrm>
            <a:off x="1463040" y="4526280"/>
            <a:ext cx="4572000" cy="1371600"/>
          </a:xfrm>
          <a:prstGeom prst="rect">
            <a:avLst/>
          </a:prstGeom>
          <a:noFill/>
          <a:ln/>
        </p:spPr>
        <p:txBody>
          <a:bodyPr wrap="square" lIns="0" tIns="0" rIns="0" bIns="0" rtlCol="0" anchor="t"/>
          <a:lstStyle/>
          <a:p>
            <a:pPr indent="0" marL="0">
              <a:buNone/>
            </a:pPr>
            <a:r>
              <a:rPr lang="en-US" sz="1600" b="1" dirty="0">
                <a:solidFill>
                  <a:schemeClr val="accent2"/>
                </a:solidFill>
              </a:rPr>
              <a:t>Resultado: PRESENTE</a:t>
            </a:r>
            <a:endParaRPr lang="en-US" sz="1400" dirty="0"/>
          </a:p>
          <a:p>
            <a:pPr indent="0" marL="0">
              <a:buNone/>
            </a:pPr>
            <a:r>
              <a:rPr lang="en-US" sz="1300" dirty="0">
                <a:solidFill>
                  <a:schemeClr val="tx2"/>
                </a:solidFill>
              </a:rPr>
              <a:t>La falta de fila no es una observación del registro. La fila de la réplica sí lo es, así que se reporta REPORT_REMAINING_RECORD.</a:t>
            </a:r>
            <a:endParaRPr lang="en-US" sz="1400" dirty="0"/>
          </a:p>
        </p:txBody>
      </p:sp>
      <p:sp>
        <p:nvSpPr>
          <p:cNvPr id="16" name="Text 12"/>
          <p:cNvSpPr txBox="1"/>
          <p:nvPr/>
        </p:nvSpPr>
        <p:spPr>
          <a:xfrm>
            <a:off x="6629400" y="1371600"/>
            <a:ext cx="5010912" cy="411480"/>
          </a:xfrm>
          <a:prstGeom prst="rect">
            <a:avLst/>
          </a:prstGeom>
          <a:noFill/>
          <a:ln/>
        </p:spPr>
        <p:txBody>
          <a:bodyPr wrap="square" lIns="0" tIns="0" rIns="0" bIns="0" rtlCol="0" anchor="t"/>
          <a:lstStyle/>
          <a:p>
            <a:pPr indent="0" marL="0">
              <a:buNone/>
            </a:pPr>
            <a:r>
              <a:rPr lang="en-US" sz="1800" b="1" dirty="0">
                <a:solidFill>
                  <a:schemeClr val="tx1"/>
                </a:solidFill>
              </a:rPr>
              <a:t>Cómo se prueba la ausencia</a:t>
            </a:r>
            <a:endParaRPr lang="en-US" sz="1800" dirty="0"/>
          </a:p>
        </p:txBody>
      </p:sp>
      <p:sp>
        <p:nvSpPr>
          <p:cNvPr id="17" name="Text 13"/>
          <p:cNvSpPr txBox="1"/>
          <p:nvPr/>
        </p:nvSpPr>
        <p:spPr>
          <a:xfrm>
            <a:off x="6629400" y="1874520"/>
            <a:ext cx="5010912" cy="434340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chemeClr val="tx1"/>
                </a:solidFill>
              </a:rPr>
              <a:t>Foto completa: </a:t>
            </a:r>
            <a:pPr indent="0" marL="0">
              <a:buNone/>
            </a:pPr>
            <a:r>
              <a:rPr lang="en-US" sz="1400" dirty="0">
                <a:solidFill>
                  <a:schemeClr val="tx1"/>
                </a:solidFill>
              </a:rPr>
              <a:t>una exportación con snapshot_scope, o colecciones completas de perfiles o índice de búsqueda (kind = scope).</a:t>
            </a:r>
            <a:endParaRPr lang="en-US" sz="1400" dirty="0"/>
          </a:p>
          <a:p>
            <a:pPr marL="177800" indent="-177800">
              <a:spcAft>
                <a:spcPts val="1000"/>
              </a:spcAft>
              <a:buSzPct val="100000"/>
              <a:buChar char="•"/>
            </a:pPr>
            <a:r>
              <a:rPr lang="en-US" sz="1400" b="1" dirty="0">
                <a:solidFill>
                  <a:schemeClr val="tx1"/>
                </a:solidFill>
              </a:rPr>
              <a:t>Solo prueba lo que nada más contradice: </a:t>
            </a:r>
            <a:pPr indent="0" marL="0">
              <a:buNone/>
            </a:pPr>
            <a:r>
              <a:rPr lang="en-US" sz="1400" dirty="0">
                <a:solidFill>
                  <a:schemeClr val="tx1"/>
                </a:solidFill>
              </a:rPr>
              <a:t>si otra observación en la ventana muestra el registro, gana esa observación.</a:t>
            </a:r>
            <a:endParaRPr lang="en-US" sz="1400" dirty="0"/>
          </a:p>
          <a:p>
            <a:pPr marL="177800" indent="-177800">
              <a:spcAft>
                <a:spcPts val="1000"/>
              </a:spcAft>
              <a:buSzPct val="100000"/>
              <a:buChar char="•"/>
            </a:pPr>
            <a:r>
              <a:rPr lang="en-US" sz="1400" b="1" dirty="0">
                <a:solidFill>
                  <a:schemeClr val="tx1"/>
                </a:solidFill>
              </a:rPr>
              <a:t>Qué se cita: </a:t>
            </a:r>
            <a:pPr indent="0" marL="0">
              <a:buNone/>
            </a:pPr>
            <a:r>
              <a:rPr lang="en-US" sz="1400" dirty="0">
                <a:solidFill>
                  <a:schemeClr val="tx1"/>
                </a:solidFill>
              </a:rPr>
              <a:t>la foto completa más reciente del sistema en la ventana que no lista el recurso, prefiriendo archivos que ya aparecen en el caso.</a:t>
            </a:r>
            <a:endParaRPr lang="en-US" sz="1400" dirty="0"/>
          </a:p>
          <a:p>
            <a:pPr marL="177800" indent="-177800">
              <a:spcAft>
                <a:spcPts val="1000"/>
              </a:spcAft>
              <a:buSzPct val="100000"/>
              <a:buChar char="•"/>
            </a:pPr>
            <a:r>
              <a:rPr lang="en-US" sz="1400" b="1" dirty="0">
                <a:solidFill>
                  <a:schemeClr val="tx1"/>
                </a:solidFill>
              </a:rPr>
              <a:t>Búsquedas explícitas: </a:t>
            </a:r>
            <a:pPr indent="0" marL="0">
              <a:buNone/>
            </a:pPr>
            <a:r>
              <a:rPr lang="en-US" sz="1400" dirty="0">
                <a:solidFill>
                  <a:schemeClr val="tx1"/>
                </a:solidFill>
              </a:rPr>
              <a:t>un 404, rows=0 o total_hits=0 sí son observaciones de ausencia, con su propio archivo como cita.</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Atribución por lotes: recursos sin identificadores</a:t>
            </a:r>
            <a:endParaRPr lang="en-US" sz="3200" dirty="0"/>
          </a:p>
        </p:txBody>
      </p:sp>
      <p:sp>
        <p:nvSpPr>
          <p:cNvPr id="4" name="Text 1"/>
          <p:cNvSpPr/>
          <p:nvPr/>
        </p:nvSpPr>
        <p:spPr>
          <a:xfrm>
            <a:off x="548640" y="1417320"/>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325880" y="1371600"/>
            <a:ext cx="5760720" cy="1097280"/>
          </a:xfrm>
          <a:prstGeom prst="rect">
            <a:avLst/>
          </a:prstGeom>
          <a:noFill/>
          <a:ln/>
        </p:spPr>
        <p:txBody>
          <a:bodyPr wrap="square" lIns="0" tIns="0" rIns="0" bIns="0" rtlCol="0" anchor="t"/>
          <a:lstStyle/>
          <a:p>
            <a:pPr indent="0" marL="0">
              <a:buNone/>
            </a:pPr>
            <a:r>
              <a:rPr lang="en-US" sz="1600" b="1" dirty="0">
                <a:solidFill>
                  <a:schemeClr val="tx1"/>
                </a:solidFill>
              </a:rPr>
              <a:t>Agrupar</a:t>
            </a:r>
            <a:endParaRPr lang="en-US" sz="1400" dirty="0"/>
          </a:p>
          <a:p>
            <a:pPr indent="0" marL="0">
              <a:buNone/>
            </a:pPr>
            <a:r>
              <a:rPr lang="en-US" sz="1350" dirty="0">
                <a:solidFill>
                  <a:schemeClr val="tx2"/>
                </a:solidFill>
              </a:rPr>
              <a:t>Solicitudes con el mismo reported_at = una corrida del worker.</a:t>
            </a:r>
            <a:endParaRPr lang="en-US" sz="1400" dirty="0"/>
          </a:p>
        </p:txBody>
      </p:sp>
      <p:sp>
        <p:nvSpPr>
          <p:cNvPr id="6" name="Text 3"/>
          <p:cNvSpPr/>
          <p:nvPr/>
        </p:nvSpPr>
        <p:spPr>
          <a:xfrm>
            <a:off x="548640" y="2633472"/>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325880" y="2587752"/>
            <a:ext cx="5760720" cy="1097280"/>
          </a:xfrm>
          <a:prstGeom prst="rect">
            <a:avLst/>
          </a:prstGeom>
          <a:noFill/>
          <a:ln/>
        </p:spPr>
        <p:txBody>
          <a:bodyPr wrap="square" lIns="0" tIns="0" rIns="0" bIns="0" rtlCol="0" anchor="t"/>
          <a:lstStyle/>
          <a:p>
            <a:pPr indent="0" marL="0">
              <a:buNone/>
            </a:pPr>
            <a:r>
              <a:rPr lang="en-US" sz="1600" b="1" dirty="0">
                <a:solidFill>
                  <a:schemeClr val="tx1"/>
                </a:solidFill>
              </a:rPr>
              <a:t>Ubicar</a:t>
            </a:r>
            <a:endParaRPr lang="en-US" sz="1400" dirty="0"/>
          </a:p>
          <a:p>
            <a:pPr indent="0" marL="0">
              <a:buNone/>
            </a:pPr>
            <a:r>
              <a:rPr lang="en-US" sz="1350" dirty="0">
                <a:solidFill>
                  <a:schemeClr val="tx2"/>
                </a:solidFill>
              </a:rPr>
              <a:t>Cada plantilla de mensaje cae en una ventana de minutos respecto a reported_at (perfil enviado: −95 a −25).</a:t>
            </a:r>
            <a:endParaRPr lang="en-US" sz="1400" dirty="0"/>
          </a:p>
        </p:txBody>
      </p:sp>
      <p:sp>
        <p:nvSpPr>
          <p:cNvPr id="8" name="Text 5"/>
          <p:cNvSpPr/>
          <p:nvPr/>
        </p:nvSpPr>
        <p:spPr>
          <a:xfrm>
            <a:off x="548640" y="3849624"/>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325880" y="3803904"/>
            <a:ext cx="5760720" cy="1097280"/>
          </a:xfrm>
          <a:prstGeom prst="rect">
            <a:avLst/>
          </a:prstGeom>
          <a:noFill/>
          <a:ln/>
        </p:spPr>
        <p:txBody>
          <a:bodyPr wrap="square" lIns="0" tIns="0" rIns="0" bIns="0" rtlCol="0" anchor="t"/>
          <a:lstStyle/>
          <a:p>
            <a:pPr indent="0" marL="0">
              <a:buNone/>
            </a:pPr>
            <a:r>
              <a:rPr lang="en-US" sz="1600" b="1" dirty="0">
                <a:solidFill>
                  <a:schemeClr val="tx1"/>
                </a:solidFill>
              </a:rPr>
              <a:t>Filtrar</a:t>
            </a:r>
            <a:endParaRPr lang="en-US" sz="1400" dirty="0"/>
          </a:p>
          <a:p>
            <a:pPr indent="0" marL="0">
              <a:buNone/>
            </a:pPr>
            <a:r>
              <a:rPr lang="en-US" sz="1350" dirty="0">
                <a:solidFill>
                  <a:schemeClr val="tx2"/>
                </a:solidFill>
              </a:rPr>
              <a:t>Le falta un recurso de ese sistema, el objetivo aparece en sus archivos y el resultado coincide: COMPLETE↔SUCCESS, NOT_STARTED↔FAILED.</a:t>
            </a:r>
            <a:endParaRPr lang="en-US" sz="1400" dirty="0"/>
          </a:p>
        </p:txBody>
      </p:sp>
      <p:sp>
        <p:nvSpPr>
          <p:cNvPr id="10" name="Text 7"/>
          <p:cNvSpPr/>
          <p:nvPr/>
        </p:nvSpPr>
        <p:spPr>
          <a:xfrm>
            <a:off x="548640" y="5065776"/>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325880" y="5020056"/>
            <a:ext cx="5760720" cy="1097280"/>
          </a:xfrm>
          <a:prstGeom prst="rect">
            <a:avLst/>
          </a:prstGeom>
          <a:noFill/>
          <a:ln/>
        </p:spPr>
        <p:txBody>
          <a:bodyPr wrap="square" lIns="0" tIns="0" rIns="0" bIns="0" rtlCol="0" anchor="t"/>
          <a:lstStyle/>
          <a:p>
            <a:pPr indent="0" marL="0">
              <a:buNone/>
            </a:pPr>
            <a:r>
              <a:rPr lang="en-US" sz="1600" b="1" dirty="0">
                <a:solidFill>
                  <a:schemeClr val="tx1"/>
                </a:solidFill>
              </a:rPr>
              <a:t>Desempatar</a:t>
            </a:r>
            <a:endParaRPr lang="en-US" sz="1400" dirty="0"/>
          </a:p>
          <a:p>
            <a:pPr indent="0" marL="0">
              <a:buNone/>
            </a:pPr>
            <a:r>
              <a:rPr lang="en-US" sz="1350" dirty="0">
                <a:solidFill>
                  <a:schemeClr val="tx2"/>
                </a:solidFill>
              </a:rPr>
              <a:t>El anillo resuelve casi todo; lo ambiguo queda marcado batch-guess (39 en la evaluación).</a:t>
            </a:r>
            <a:endParaRPr lang="en-US" sz="1400" dirty="0"/>
          </a:p>
        </p:txBody>
      </p:sp>
      <p:sp>
        <p:nvSpPr>
          <p:cNvPr id="12" name="Shape 9"/>
          <p:cNvSpPr/>
          <p:nvPr/>
        </p:nvSpPr>
        <p:spPr>
          <a:xfrm>
            <a:off x="7726680" y="1828800"/>
            <a:ext cx="3200400" cy="3200400"/>
          </a:xfrm>
          <a:prstGeom prst="ellipse">
            <a:avLst/>
          </a:prstGeom>
          <a:solidFill>
            <a:schemeClr val="bg1"/>
          </a:solidFill>
          <a:ln w="19050">
            <a:solidFill>
              <a:schemeClr val="accent4"/>
            </a:solidFill>
            <a:prstDash val="dash"/>
          </a:ln>
        </p:spPr>
      </p:sp>
      <p:sp>
        <p:nvSpPr>
          <p:cNvPr id="13" name="Text 10"/>
          <p:cNvSpPr/>
          <p:nvPr/>
        </p:nvSpPr>
        <p:spPr>
          <a:xfrm>
            <a:off x="9034272" y="1536192"/>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4" name="Text 11"/>
          <p:cNvSpPr/>
          <p:nvPr/>
        </p:nvSpPr>
        <p:spPr>
          <a:xfrm>
            <a:off x="10556153" y="2641903"/>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2"/>
          <p:cNvSpPr/>
          <p:nvPr/>
        </p:nvSpPr>
        <p:spPr>
          <a:xfrm>
            <a:off x="9974846" y="4430981"/>
            <a:ext cx="585216" cy="58521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p:nvPr/>
        </p:nvSpPr>
        <p:spPr>
          <a:xfrm>
            <a:off x="8093698" y="4430981"/>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p:nvPr/>
        </p:nvSpPr>
        <p:spPr>
          <a:xfrm>
            <a:off x="7512391" y="2641903"/>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5"/>
          <p:cNvSpPr txBox="1"/>
          <p:nvPr/>
        </p:nvSpPr>
        <p:spPr>
          <a:xfrm>
            <a:off x="8183880" y="2926080"/>
            <a:ext cx="2286000" cy="1005840"/>
          </a:xfrm>
          <a:prstGeom prst="rect">
            <a:avLst/>
          </a:prstGeom>
          <a:noFill/>
          <a:ln/>
        </p:spPr>
        <p:txBody>
          <a:bodyPr wrap="square" lIns="0" tIns="0" rIns="0" bIns="0" rtlCol="0" anchor="ctr"/>
          <a:lstStyle/>
          <a:p>
            <a:pPr algn="ctr" indent="0" marL="0">
              <a:buNone/>
            </a:pPr>
            <a:r>
              <a:rPr lang="en-US" sz="1250" b="1" dirty="0">
                <a:solidFill>
                  <a:schemeClr val="tx2"/>
                </a:solidFill>
              </a:rPr>
              <a:t>orden de envío</a:t>
            </a:r>
            <a:endParaRPr lang="en-US" sz="1250" dirty="0"/>
          </a:p>
          <a:p>
            <a:pPr algn="ctr" indent="0" marL="0">
              <a:buNone/>
            </a:pPr>
            <a:r>
              <a:rPr lang="en-US" sz="1250" dirty="0">
                <a:solidFill>
                  <a:schemeClr val="tx2"/>
                </a:solidFill>
              </a:rPr>
              <a:t>el worker empieza en cualquier punto y sigue la rueda</a:t>
            </a:r>
            <a:endParaRPr lang="en-US" sz="1250" dirty="0"/>
          </a:p>
        </p:txBody>
      </p:sp>
      <p:sp>
        <p:nvSpPr>
          <p:cNvPr id="19" name="Shape 16"/>
          <p:cNvSpPr/>
          <p:nvPr/>
        </p:nvSpPr>
        <p:spPr>
          <a:xfrm>
            <a:off x="7086600" y="5486400"/>
            <a:ext cx="4553712" cy="731520"/>
          </a:xfrm>
          <a:prstGeom prst="roundRect">
            <a:avLst>
              <a:gd name="adj" fmla="val 12500"/>
            </a:avLst>
          </a:prstGeom>
          <a:solidFill>
            <a:schemeClr val="bg2"/>
          </a:solidFill>
          <a:ln w="9525">
            <a:solidFill>
              <a:schemeClr val="bg2"/>
            </a:solidFill>
            <a:prstDash val="solid"/>
          </a:ln>
        </p:spPr>
      </p:sp>
      <p:sp>
        <p:nvSpPr>
          <p:cNvPr id="20" name="Text 17"/>
          <p:cNvSpPr txBox="1"/>
          <p:nvPr/>
        </p:nvSpPr>
        <p:spPr>
          <a:xfrm>
            <a:off x="7269480" y="5486400"/>
            <a:ext cx="4206240" cy="731520"/>
          </a:xfrm>
          <a:prstGeom prst="rect">
            <a:avLst/>
          </a:prstGeom>
          <a:noFill/>
          <a:ln/>
        </p:spPr>
        <p:txBody>
          <a:bodyPr wrap="square" lIns="0" tIns="0" rIns="0" bIns="0" rtlCol="0" anchor="ctr"/>
          <a:lstStyle/>
          <a:p>
            <a:pPr indent="0" marL="0">
              <a:buNone/>
            </a:pPr>
            <a:r>
              <a:rPr lang="en-US" sz="1300" dirty="0">
                <a:solidFill>
                  <a:schemeClr val="tx2"/>
                </a:solidFill>
              </a:rPr>
              <a:t>Medido en 42 corridas con dueños conocidos: 42 de 42 son rotaciones del orden de envío.</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Política: del estado observado a los pasos</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965960"/>
                <a:gridCol w="1600200"/>
                <a:gridCol w="2606040"/>
                <a:gridCol w="2103120"/>
                <a:gridCol w="2816352"/>
              </a:tblGrid>
              <a:tr h="384048">
                <a:tc>
                  <a:txBody>
                    <a:bodyPr/>
                    <a:lstStyle/>
                    <a:p>
                      <a:pPr indent="0" marL="0">
                        <a:buNone/>
                      </a:pPr>
                      <a:r>
                        <a:rPr lang="en-US" sz="1250" b="1" dirty="0">
                          <a:solidFill>
                            <a:schemeClr val="bg1"/>
                          </a:solidFill>
                        </a:rPr>
                        <a:t>Acción</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Estado observado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Hallazgo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Remediación</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Verificación</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DELETE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sigue presente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REPORT_REMAINING_RECORD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DELETE_RECORD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VERIFY_RECORD_ABSENT</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DELETE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ausente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VERIFY_RECORD_ABSENT</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REDACT</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expone PII</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REPORT_EXPOSED_PII</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REDACT_RECORD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VERIFY_RECORD_REDACTED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REDACT</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ya redactado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VERIFY_RECORD_REDACTED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ANONYMIZE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atribuible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REPORT_EXPOSED_PII</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ANONYMIZE_RECORD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VERIFY_RECORD_ANONYMIZED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REDACT / ANONYMIZE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ausente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VERIFY_RECORD_ABSENT</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RETAIN</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cualquiera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VERIFY_RECORD_PRESENT</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DISABLE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flujo activo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REPORT_ACTIVE_DATA_FLOW</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DISABLE_DATA_FLOW</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VERIFY_DATA_FLOW_DISABLED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BLOCK_RESTORE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restaurable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REPORT_RESTORE_RISK</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BLOCK_RESTORE</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VERIFY_RESTORE_BLOCKED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DISABLE / BLOCK</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ya inactivo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VERIFY_…_DISABLED / _BLOCKED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bl>
          </a:graphicData>
        </a:graphic>
      </p:graphicFrame>
      <p:sp>
        <p:nvSpPr>
          <p:cNvPr id="5" name="Shape 1"/>
          <p:cNvSpPr/>
          <p:nvPr/>
        </p:nvSpPr>
        <p:spPr>
          <a:xfrm>
            <a:off x="548640" y="5532120"/>
            <a:ext cx="5455768" cy="731520"/>
          </a:xfrm>
          <a:prstGeom prst="roundRect">
            <a:avLst>
              <a:gd name="adj" fmla="val 12500"/>
            </a:avLst>
          </a:prstGeom>
          <a:solidFill>
            <a:schemeClr val="bg2"/>
          </a:solidFill>
          <a:ln w="9525">
            <a:solidFill>
              <a:schemeClr val="bg2"/>
            </a:solidFill>
            <a:prstDash val="solid"/>
          </a:ln>
        </p:spPr>
      </p:sp>
      <p:sp>
        <p:nvSpPr>
          <p:cNvPr id="6" name="Shape 2"/>
          <p:cNvSpPr/>
          <p:nvPr/>
        </p:nvSpPr>
        <p:spPr>
          <a:xfrm>
            <a:off x="685800" y="5623560"/>
            <a:ext cx="548640" cy="548640"/>
          </a:xfrm>
          <a:prstGeom prst="ellipse">
            <a:avLst/>
          </a:prstGeom>
          <a:solidFill>
            <a:schemeClr val="accent2"/>
          </a:solidFill>
          <a:ln w="12700">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806501" y="5744261"/>
            <a:ext cx="307238" cy="307238"/>
          </a:xfrm>
          <a:prstGeom prst="rect">
            <a:avLst/>
          </a:prstGeom>
        </p:spPr>
      </p:pic>
      <p:sp>
        <p:nvSpPr>
          <p:cNvPr id="8" name="Text 3"/>
          <p:cNvSpPr txBox="1"/>
          <p:nvPr/>
        </p:nvSpPr>
        <p:spPr>
          <a:xfrm>
            <a:off x="1371600" y="5532120"/>
            <a:ext cx="4541368" cy="731520"/>
          </a:xfrm>
          <a:prstGeom prst="rect">
            <a:avLst/>
          </a:prstGeom>
          <a:noFill/>
          <a:ln/>
        </p:spPr>
        <p:txBody>
          <a:bodyPr wrap="square" lIns="0" tIns="0" rIns="0" bIns="0" rtlCol="0" anchor="ctr"/>
          <a:lstStyle/>
          <a:p>
            <a:pPr indent="0" marL="0">
              <a:buNone/>
            </a:pPr>
            <a:r>
              <a:rPr lang="en-US" sz="1250" b="1" dirty="0">
                <a:solidFill>
                  <a:schemeClr val="accent2"/>
                </a:solidFill>
                <a:latin typeface="Courier New" pitchFamily="34" charset="0"/>
                <a:ea typeface="Courier New" pitchFamily="34" charset="-122"/>
                <a:cs typeface="Courier New" pitchFamily="34" charset="-120"/>
              </a:rPr>
              <a:t>≥ 1 hallazgo → INCOMPLETE</a:t>
            </a:r>
            <a:endParaRPr lang="en-US" sz="1250" dirty="0"/>
          </a:p>
          <a:p>
            <a:pPr indent="0" marL="0">
              <a:buNone/>
            </a:pPr>
            <a:r>
              <a:rPr lang="en-US" sz="1250" dirty="0">
                <a:solidFill>
                  <a:schemeClr val="tx2"/>
                </a:solidFill>
              </a:rPr>
              <a:t>hallazgos con evidencia; remediación y verificación sin evidencia</a:t>
            </a:r>
            <a:endParaRPr lang="en-US" sz="1250" dirty="0"/>
          </a:p>
        </p:txBody>
      </p:sp>
      <p:sp>
        <p:nvSpPr>
          <p:cNvPr id="9" name="Shape 4"/>
          <p:cNvSpPr/>
          <p:nvPr/>
        </p:nvSpPr>
        <p:spPr>
          <a:xfrm>
            <a:off x="6187288" y="5532120"/>
            <a:ext cx="5455768" cy="731520"/>
          </a:xfrm>
          <a:prstGeom prst="roundRect">
            <a:avLst>
              <a:gd name="adj" fmla="val 12500"/>
            </a:avLst>
          </a:prstGeom>
          <a:solidFill>
            <a:schemeClr val="bg2"/>
          </a:solidFill>
          <a:ln w="9525">
            <a:solidFill>
              <a:schemeClr val="bg2"/>
            </a:solidFill>
            <a:prstDash val="solid"/>
          </a:ln>
        </p:spPr>
      </p:sp>
      <p:sp>
        <p:nvSpPr>
          <p:cNvPr id="10" name="Shape 5"/>
          <p:cNvSpPr/>
          <p:nvPr/>
        </p:nvSpPr>
        <p:spPr>
          <a:xfrm>
            <a:off x="6324448" y="5623560"/>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445148" y="5744261"/>
            <a:ext cx="307238" cy="307238"/>
          </a:xfrm>
          <a:prstGeom prst="rect">
            <a:avLst/>
          </a:prstGeom>
        </p:spPr>
      </p:pic>
      <p:sp>
        <p:nvSpPr>
          <p:cNvPr id="12" name="Text 6"/>
          <p:cNvSpPr txBox="1"/>
          <p:nvPr/>
        </p:nvSpPr>
        <p:spPr>
          <a:xfrm>
            <a:off x="7010248" y="5532120"/>
            <a:ext cx="4541368" cy="731520"/>
          </a:xfrm>
          <a:prstGeom prst="rect">
            <a:avLst/>
          </a:prstGeom>
          <a:noFill/>
          <a:ln/>
        </p:spPr>
        <p:txBody>
          <a:bodyPr wrap="square" lIns="0" tIns="0" rIns="0" bIns="0" rtlCol="0" anchor="ctr"/>
          <a:lstStyle/>
          <a:p>
            <a:pPr indent="0" marL="0">
              <a:buNone/>
            </a:pPr>
            <a:r>
              <a:rPr lang="en-US" sz="1250" b="1" dirty="0">
                <a:solidFill>
                  <a:schemeClr val="accent1"/>
                </a:solidFill>
                <a:latin typeface="Courier New" pitchFamily="34" charset="0"/>
                <a:ea typeface="Courier New" pitchFamily="34" charset="-122"/>
                <a:cs typeface="Courier New" pitchFamily="34" charset="-120"/>
              </a:rPr>
              <a:t>ningún hallazgo → COMPLETE</a:t>
            </a:r>
            <a:endParaRPr lang="en-US" sz="1250" dirty="0"/>
          </a:p>
          <a:p>
            <a:pPr indent="0" marL="0">
              <a:buNone/>
            </a:pPr>
            <a:r>
              <a:rPr lang="en-US" sz="1250" dirty="0">
                <a:solidFill>
                  <a:schemeClr val="tx2"/>
                </a:solidFill>
              </a:rPr>
              <a:t>solo verificaciones, y solo las que pueden citar su prueba</a:t>
            </a:r>
            <a:endParaRPr lang="en-US" sz="12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Pseudocódigo: planificar y ordenar</a:t>
            </a:r>
            <a:endParaRPr lang="en-US" sz="3200" dirty="0"/>
          </a:p>
        </p:txBody>
      </p:sp>
      <p:sp>
        <p:nvSpPr>
          <p:cNvPr id="4" name="Shape 1"/>
          <p:cNvSpPr/>
          <p:nvPr/>
        </p:nvSpPr>
        <p:spPr>
          <a:xfrm>
            <a:off x="548640" y="1325880"/>
            <a:ext cx="7589520" cy="4937760"/>
          </a:xfrm>
          <a:prstGeom prst="roundRect">
            <a:avLst>
              <a:gd name="adj" fmla="val 1481"/>
            </a:avLst>
          </a:prstGeom>
          <a:solidFill>
            <a:schemeClr val="tx1"/>
          </a:solidFill>
          <a:ln w="9525">
            <a:solidFill>
              <a:schemeClr val="tx1"/>
            </a:solidFill>
            <a:prstDash val="solid"/>
          </a:ln>
        </p:spPr>
      </p:sp>
      <p:sp>
        <p:nvSpPr>
          <p:cNvPr id="5" name="Text 2"/>
          <p:cNvSpPr txBox="1"/>
          <p:nvPr/>
        </p:nvSpPr>
        <p:spPr>
          <a:xfrm>
            <a:off x="731520" y="1463040"/>
            <a:ext cx="7223760" cy="466344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función planificar(estados, ventana, posteriores):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para cada st en estados: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acción  ← política(st.categoría)            </a:t>
            </a:r>
            <a:pPr indent="0" marL="0">
              <a:buNone/>
            </a:pPr>
            <a:r>
              <a:rPr lang="en-US" sz="1300" dirty="0">
                <a:solidFill>
                  <a:schemeClr val="accent5"/>
                </a:solidFill>
                <a:latin typeface="Courier New" pitchFamily="34" charset="0"/>
                <a:ea typeface="Courier New" pitchFamily="34" charset="-122"/>
                <a:cs typeface="Courier New" pitchFamily="34" charset="-120"/>
              </a:rPr>
              <a:t># deletion_rules.csv</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h, r, v ← plan_para(acción, st.present, st.exposed, st.active)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h: hallazgos     += (h, evidencia = st.cita)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r: remediaciones += (r, evidencia =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ev ← st.cita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v = VERIFY_RECORD_ABSENT y no hay prueba directa: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ev ← foto completa más reciente sin el recurso</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verificaciones += (v, ev)</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hay hallazgos: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vaciar la evidencia de las verificaciones   </a:t>
            </a:r>
            <a:pPr indent="0" marL="0">
              <a:buNone/>
            </a:pPr>
            <a:r>
              <a:rPr lang="en-US" sz="1300" dirty="0">
                <a:solidFill>
                  <a:schemeClr val="accent5"/>
                </a:solidFill>
                <a:latin typeface="Courier New" pitchFamily="34" charset="0"/>
                <a:ea typeface="Courier New" pitchFamily="34" charset="-122"/>
                <a:cs typeface="Courier New" pitchFamily="34" charset="-120"/>
              </a:rPr>
              <a:t># son futuras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verificaciones += VERIFY_RECORD_PRESENT(posteriores)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estado ← INCOMPLETE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si no:</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verificaciones ← solo las que tienen evidencia</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estado ← COMPLETE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pasos ← ordenar(rango_operación, system_id, resource_id)</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numerar pasos 1..n;  devolver estado, pasos</a:t>
            </a:r>
            <a:endParaRPr lang="en-US" sz="1300" dirty="0"/>
          </a:p>
        </p:txBody>
      </p:sp>
      <p:sp>
        <p:nvSpPr>
          <p:cNvPr id="6" name="Shape 3"/>
          <p:cNvSpPr/>
          <p:nvPr/>
        </p:nvSpPr>
        <p:spPr>
          <a:xfrm>
            <a:off x="8366760" y="1325880"/>
            <a:ext cx="3273552" cy="4937760"/>
          </a:xfrm>
          <a:prstGeom prst="roundRect">
            <a:avLst>
              <a:gd name="adj" fmla="val 2793"/>
            </a:avLst>
          </a:prstGeom>
          <a:solidFill>
            <a:schemeClr val="bg2"/>
          </a:solidFill>
          <a:ln w="9525">
            <a:solidFill>
              <a:schemeClr val="bg2"/>
            </a:solidFill>
            <a:prstDash val="solid"/>
          </a:ln>
        </p:spPr>
      </p:sp>
      <p:sp>
        <p:nvSpPr>
          <p:cNvPr id="7" name="Shape 4"/>
          <p:cNvSpPr/>
          <p:nvPr/>
        </p:nvSpPr>
        <p:spPr>
          <a:xfrm>
            <a:off x="8595360" y="1554480"/>
            <a:ext cx="594360" cy="594360"/>
          </a:xfrm>
          <a:prstGeom prst="ellipse">
            <a:avLst/>
          </a:prstGeom>
          <a:solidFill>
            <a:schemeClr val="accent6"/>
          </a:solidFill>
          <a:ln w="12700">
            <a:solidFill>
              <a:schemeClr val="accent6"/>
            </a:solidFill>
            <a:prstDash val="solid"/>
          </a:ln>
        </p:spPr>
      </p:sp>
      <p:pic>
        <p:nvPicPr>
          <p:cNvPr id="8" name="Image 0" descr="preencoded.png">    </p:cNvPr>
          <p:cNvPicPr>
            <a:picLocks noChangeAspect="1"/>
          </p:cNvPicPr>
          <p:nvPr/>
        </p:nvPicPr>
        <p:blipFill>
          <a:blip r:embed="rId1"/>
          <a:stretch>
            <a:fillRect/>
          </a:stretch>
        </p:blipFill>
        <p:spPr>
          <a:xfrm>
            <a:off x="8726119" y="1685239"/>
            <a:ext cx="332842" cy="332842"/>
          </a:xfrm>
          <a:prstGeom prst="rect">
            <a:avLst/>
          </a:prstGeom>
        </p:spPr>
      </p:pic>
      <p:sp>
        <p:nvSpPr>
          <p:cNvPr id="9" name="Text 5"/>
          <p:cNvSpPr txBox="1"/>
          <p:nvPr/>
        </p:nvSpPr>
        <p:spPr>
          <a:xfrm>
            <a:off x="8595360" y="2286000"/>
            <a:ext cx="2834640" cy="411480"/>
          </a:xfrm>
          <a:prstGeom prst="rect">
            <a:avLst/>
          </a:prstGeom>
          <a:noFill/>
          <a:ln/>
        </p:spPr>
        <p:txBody>
          <a:bodyPr wrap="square" lIns="0" tIns="0" rIns="0" bIns="0" rtlCol="0" anchor="t"/>
          <a:lstStyle/>
          <a:p>
            <a:pPr indent="0" marL="0">
              <a:buNone/>
            </a:pPr>
            <a:r>
              <a:rPr lang="en-US" sz="1700" b="1" dirty="0">
                <a:solidFill>
                  <a:schemeClr val="tx1"/>
                </a:solidFill>
              </a:rPr>
              <a:t>Por qué este orden</a:t>
            </a:r>
            <a:endParaRPr lang="en-US" sz="1700" dirty="0"/>
          </a:p>
        </p:txBody>
      </p:sp>
      <p:sp>
        <p:nvSpPr>
          <p:cNvPr id="10" name="Text 6"/>
          <p:cNvSpPr txBox="1"/>
          <p:nvPr/>
        </p:nvSpPr>
        <p:spPr>
          <a:xfrm>
            <a:off x="8595360" y="2788920"/>
            <a:ext cx="2880360" cy="33832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2"/>
                </a:solidFill>
              </a:rPr>
              <a:t>Primero se reporta lo que está mal.</a:t>
            </a:r>
            <a:endParaRPr lang="en-US" sz="1400" dirty="0"/>
          </a:p>
          <a:p>
            <a:pPr marL="177800" indent="-177800">
              <a:spcAft>
                <a:spcPts val="1000"/>
              </a:spcAft>
              <a:buSzPct val="100000"/>
              <a:buChar char="•"/>
            </a:pPr>
            <a:r>
              <a:rPr lang="en-US" sz="1400" dirty="0">
                <a:solidFill>
                  <a:schemeClr val="tx2"/>
                </a:solidFill>
              </a:rPr>
              <a:t>Después se cortan los caminos que recrean datos: flujos y restauraciones.</a:t>
            </a:r>
            <a:endParaRPr lang="en-US" sz="1400" dirty="0"/>
          </a:p>
          <a:p>
            <a:pPr marL="177800" indent="-177800">
              <a:spcAft>
                <a:spcPts val="1000"/>
              </a:spcAft>
              <a:buSzPct val="100000"/>
              <a:buChar char="•"/>
            </a:pPr>
            <a:r>
              <a:rPr lang="en-US" sz="1400" dirty="0">
                <a:solidFill>
                  <a:schemeClr val="tx2"/>
                </a:solidFill>
              </a:rPr>
              <a:t>Solo entonces se borran, redactan o anonimizan los registros.</a:t>
            </a:r>
            <a:endParaRPr lang="en-US" sz="1400" dirty="0"/>
          </a:p>
          <a:p>
            <a:pPr marL="177800" indent="-177800">
              <a:spcAft>
                <a:spcPts val="1000"/>
              </a:spcAft>
              <a:buSzPct val="100000"/>
              <a:buChar char="•"/>
            </a:pPr>
            <a:r>
              <a:rPr lang="en-US" sz="1400" dirty="0">
                <a:solidFill>
                  <a:schemeClr val="tx2"/>
                </a:solidFill>
              </a:rPr>
              <a:t>Al final se verifica cada estado exigido.</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Validador del contrato</a:t>
            </a:r>
            <a:endParaRPr lang="en-US" sz="3200" dirty="0"/>
          </a:p>
        </p:txBody>
      </p:sp>
      <p:sp>
        <p:nvSpPr>
          <p:cNvPr id="4" name="Shape 1"/>
          <p:cNvSpPr/>
          <p:nvPr/>
        </p:nvSpPr>
        <p:spPr>
          <a:xfrm>
            <a:off x="548640" y="141732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49224" y="1517904"/>
            <a:ext cx="256032" cy="256032"/>
          </a:xfrm>
          <a:prstGeom prst="rect">
            <a:avLst/>
          </a:prstGeom>
        </p:spPr>
      </p:pic>
      <p:sp>
        <p:nvSpPr>
          <p:cNvPr id="6" name="Text 2"/>
          <p:cNvSpPr txBox="1"/>
          <p:nvPr/>
        </p:nvSpPr>
        <p:spPr>
          <a:xfrm>
            <a:off x="1188720" y="1371600"/>
            <a:ext cx="4846320" cy="548640"/>
          </a:xfrm>
          <a:prstGeom prst="rect">
            <a:avLst/>
          </a:prstGeom>
          <a:noFill/>
          <a:ln/>
        </p:spPr>
        <p:txBody>
          <a:bodyPr wrap="square" lIns="0" tIns="0" rIns="0" bIns="0" rtlCol="0" anchor="ctr"/>
          <a:lstStyle/>
          <a:p>
            <a:pPr indent="0" marL="0">
              <a:buNone/>
            </a:pPr>
            <a:r>
              <a:rPr lang="en-US" sz="1500" dirty="0">
                <a:solidFill>
                  <a:schemeClr val="tx1"/>
                </a:solidFill>
              </a:rPr>
              <a:t>El estado es uno de los tres permitidos</a:t>
            </a:r>
            <a:endParaRPr lang="en-US" sz="1500" dirty="0"/>
          </a:p>
        </p:txBody>
      </p:sp>
      <p:sp>
        <p:nvSpPr>
          <p:cNvPr id="7" name="Shape 3"/>
          <p:cNvSpPr/>
          <p:nvPr/>
        </p:nvSpPr>
        <p:spPr>
          <a:xfrm>
            <a:off x="548640" y="2103120"/>
            <a:ext cx="457200" cy="45720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49224" y="2203704"/>
            <a:ext cx="256032" cy="256032"/>
          </a:xfrm>
          <a:prstGeom prst="rect">
            <a:avLst/>
          </a:prstGeom>
        </p:spPr>
      </p:pic>
      <p:sp>
        <p:nvSpPr>
          <p:cNvPr id="9" name="Text 4"/>
          <p:cNvSpPr txBox="1"/>
          <p:nvPr/>
        </p:nvSpPr>
        <p:spPr>
          <a:xfrm>
            <a:off x="1188720" y="2057400"/>
            <a:ext cx="4846320" cy="548640"/>
          </a:xfrm>
          <a:prstGeom prst="rect">
            <a:avLst/>
          </a:prstGeom>
          <a:noFill/>
          <a:ln/>
        </p:spPr>
        <p:txBody>
          <a:bodyPr wrap="square" lIns="0" tIns="0" rIns="0" bIns="0" rtlCol="0" anchor="ctr"/>
          <a:lstStyle/>
          <a:p>
            <a:pPr indent="0" marL="0">
              <a:buNone/>
            </a:pPr>
            <a:r>
              <a:rPr lang="en-US" sz="1500" dirty="0">
                <a:solidFill>
                  <a:schemeClr val="tx1"/>
                </a:solidFill>
              </a:rPr>
              <a:t>NOT_APPLICABLE ⇒ steps_json = []</a:t>
            </a:r>
            <a:endParaRPr lang="en-US" sz="1500" dirty="0"/>
          </a:p>
        </p:txBody>
      </p:sp>
      <p:sp>
        <p:nvSpPr>
          <p:cNvPr id="10" name="Shape 5"/>
          <p:cNvSpPr/>
          <p:nvPr/>
        </p:nvSpPr>
        <p:spPr>
          <a:xfrm>
            <a:off x="548640" y="2788920"/>
            <a:ext cx="457200" cy="457200"/>
          </a:xfrm>
          <a:prstGeom prst="ellipse">
            <a:avLst/>
          </a:prstGeom>
          <a:solidFill>
            <a:schemeClr val="accent1"/>
          </a:solidFill>
          <a:ln w="1270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649224" y="2889504"/>
            <a:ext cx="256032" cy="256032"/>
          </a:xfrm>
          <a:prstGeom prst="rect">
            <a:avLst/>
          </a:prstGeom>
        </p:spPr>
      </p:pic>
      <p:sp>
        <p:nvSpPr>
          <p:cNvPr id="12" name="Text 6"/>
          <p:cNvSpPr txBox="1"/>
          <p:nvPr/>
        </p:nvSpPr>
        <p:spPr>
          <a:xfrm>
            <a:off x="1188720" y="2743200"/>
            <a:ext cx="4846320" cy="548640"/>
          </a:xfrm>
          <a:prstGeom prst="rect">
            <a:avLst/>
          </a:prstGeom>
          <a:noFill/>
          <a:ln/>
        </p:spPr>
        <p:txBody>
          <a:bodyPr wrap="square" lIns="0" tIns="0" rIns="0" bIns="0" rtlCol="0" anchor="ctr"/>
          <a:lstStyle/>
          <a:p>
            <a:pPr indent="0" marL="0">
              <a:buNone/>
            </a:pPr>
            <a:r>
              <a:rPr lang="en-US" sz="1500" dirty="0">
                <a:solidFill>
                  <a:schemeClr val="tx1"/>
                </a:solidFill>
              </a:rPr>
              <a:t>INCOMPLETE ⇒ al menos un hallazgo</a:t>
            </a:r>
            <a:endParaRPr lang="en-US" sz="1500" dirty="0"/>
          </a:p>
        </p:txBody>
      </p:sp>
      <p:sp>
        <p:nvSpPr>
          <p:cNvPr id="13" name="Shape 7"/>
          <p:cNvSpPr/>
          <p:nvPr/>
        </p:nvSpPr>
        <p:spPr>
          <a:xfrm>
            <a:off x="548640" y="3474720"/>
            <a:ext cx="457200" cy="457200"/>
          </a:xfrm>
          <a:prstGeom prst="ellipse">
            <a:avLst/>
          </a:prstGeom>
          <a:solidFill>
            <a:schemeClr val="accent1"/>
          </a:solidFill>
          <a:ln w="12700">
            <a:solidFill>
              <a:schemeClr val="accent1"/>
            </a:solidFill>
            <a:prstDash val="solid"/>
          </a:ln>
        </p:spPr>
      </p:sp>
      <p:pic>
        <p:nvPicPr>
          <p:cNvPr id="14" name="Image 3" descr="preencoded.png">    </p:cNvPr>
          <p:cNvPicPr>
            <a:picLocks noChangeAspect="1"/>
          </p:cNvPicPr>
          <p:nvPr/>
        </p:nvPicPr>
        <p:blipFill>
          <a:blip r:embed="rId4"/>
          <a:stretch>
            <a:fillRect/>
          </a:stretch>
        </p:blipFill>
        <p:spPr>
          <a:xfrm>
            <a:off x="649224" y="3575304"/>
            <a:ext cx="256032" cy="256032"/>
          </a:xfrm>
          <a:prstGeom prst="rect">
            <a:avLst/>
          </a:prstGeom>
        </p:spPr>
      </p:pic>
      <p:sp>
        <p:nvSpPr>
          <p:cNvPr id="15" name="Text 8"/>
          <p:cNvSpPr txBox="1"/>
          <p:nvPr/>
        </p:nvSpPr>
        <p:spPr>
          <a:xfrm>
            <a:off x="1188720" y="3429000"/>
            <a:ext cx="4846320" cy="548640"/>
          </a:xfrm>
          <a:prstGeom prst="rect">
            <a:avLst/>
          </a:prstGeom>
          <a:noFill/>
          <a:ln/>
        </p:spPr>
        <p:txBody>
          <a:bodyPr wrap="square" lIns="0" tIns="0" rIns="0" bIns="0" rtlCol="0" anchor="ctr"/>
          <a:lstStyle/>
          <a:p>
            <a:pPr indent="0" marL="0">
              <a:buNone/>
            </a:pPr>
            <a:r>
              <a:rPr lang="en-US" sz="1500" dirty="0">
                <a:solidFill>
                  <a:schemeClr val="tx1"/>
                </a:solidFill>
              </a:rPr>
              <a:t>COMPLETE ⇒ solo VERIFICATION, con evidencia</a:t>
            </a:r>
            <a:endParaRPr lang="en-US" sz="1500" dirty="0"/>
          </a:p>
        </p:txBody>
      </p:sp>
      <p:sp>
        <p:nvSpPr>
          <p:cNvPr id="16" name="Shape 9"/>
          <p:cNvSpPr/>
          <p:nvPr/>
        </p:nvSpPr>
        <p:spPr>
          <a:xfrm>
            <a:off x="548640" y="4160520"/>
            <a:ext cx="457200" cy="457200"/>
          </a:xfrm>
          <a:prstGeom prst="ellipse">
            <a:avLst/>
          </a:prstGeom>
          <a:solidFill>
            <a:schemeClr val="accent1"/>
          </a:solidFill>
          <a:ln w="12700">
            <a:solidFill>
              <a:schemeClr val="accent1"/>
            </a:solidFill>
            <a:prstDash val="solid"/>
          </a:ln>
        </p:spPr>
      </p:sp>
      <p:pic>
        <p:nvPicPr>
          <p:cNvPr id="17" name="Image 4" descr="preencoded.png">    </p:cNvPr>
          <p:cNvPicPr>
            <a:picLocks noChangeAspect="1"/>
          </p:cNvPicPr>
          <p:nvPr/>
        </p:nvPicPr>
        <p:blipFill>
          <a:blip r:embed="rId5"/>
          <a:stretch>
            <a:fillRect/>
          </a:stretch>
        </p:blipFill>
        <p:spPr>
          <a:xfrm>
            <a:off x="649224" y="4261104"/>
            <a:ext cx="256032" cy="256032"/>
          </a:xfrm>
          <a:prstGeom prst="rect">
            <a:avLst/>
          </a:prstGeom>
        </p:spPr>
      </p:pic>
      <p:sp>
        <p:nvSpPr>
          <p:cNvPr id="18" name="Text 10"/>
          <p:cNvSpPr txBox="1"/>
          <p:nvPr/>
        </p:nvSpPr>
        <p:spPr>
          <a:xfrm>
            <a:off x="1188720" y="4114800"/>
            <a:ext cx="4846320" cy="548640"/>
          </a:xfrm>
          <a:prstGeom prst="rect">
            <a:avLst/>
          </a:prstGeom>
          <a:noFill/>
          <a:ln/>
        </p:spPr>
        <p:txBody>
          <a:bodyPr wrap="square" lIns="0" tIns="0" rIns="0" bIns="0" rtlCol="0" anchor="ctr"/>
          <a:lstStyle/>
          <a:p>
            <a:pPr indent="0" marL="0">
              <a:buNone/>
            </a:pPr>
            <a:r>
              <a:rPr lang="en-US" sz="1500" dirty="0">
                <a:solidFill>
                  <a:schemeClr val="tx1"/>
                </a:solidFill>
              </a:rPr>
              <a:t>Exactamente los 7 campos por paso</a:t>
            </a:r>
            <a:endParaRPr lang="en-US" sz="1500" dirty="0"/>
          </a:p>
        </p:txBody>
      </p:sp>
      <p:sp>
        <p:nvSpPr>
          <p:cNvPr id="19" name="Shape 11"/>
          <p:cNvSpPr/>
          <p:nvPr/>
        </p:nvSpPr>
        <p:spPr>
          <a:xfrm>
            <a:off x="548640" y="4846320"/>
            <a:ext cx="457200" cy="457200"/>
          </a:xfrm>
          <a:prstGeom prst="ellipse">
            <a:avLst/>
          </a:prstGeom>
          <a:solidFill>
            <a:schemeClr val="accent1"/>
          </a:solidFill>
          <a:ln w="12700">
            <a:solidFill>
              <a:schemeClr val="accent1"/>
            </a:solidFill>
            <a:prstDash val="solid"/>
          </a:ln>
        </p:spPr>
      </p:sp>
      <p:pic>
        <p:nvPicPr>
          <p:cNvPr id="20" name="Image 5" descr="preencoded.png">    </p:cNvPr>
          <p:cNvPicPr>
            <a:picLocks noChangeAspect="1"/>
          </p:cNvPicPr>
          <p:nvPr/>
        </p:nvPicPr>
        <p:blipFill>
          <a:blip r:embed="rId6"/>
          <a:stretch>
            <a:fillRect/>
          </a:stretch>
        </p:blipFill>
        <p:spPr>
          <a:xfrm>
            <a:off x="649224" y="4946904"/>
            <a:ext cx="256032" cy="256032"/>
          </a:xfrm>
          <a:prstGeom prst="rect">
            <a:avLst/>
          </a:prstGeom>
        </p:spPr>
      </p:pic>
      <p:sp>
        <p:nvSpPr>
          <p:cNvPr id="21" name="Text 12"/>
          <p:cNvSpPr txBox="1"/>
          <p:nvPr/>
        </p:nvSpPr>
        <p:spPr>
          <a:xfrm>
            <a:off x="1188720" y="4800600"/>
            <a:ext cx="4846320" cy="548640"/>
          </a:xfrm>
          <a:prstGeom prst="rect">
            <a:avLst/>
          </a:prstGeom>
          <a:noFill/>
          <a:ln/>
        </p:spPr>
        <p:txBody>
          <a:bodyPr wrap="square" lIns="0" tIns="0" rIns="0" bIns="0" rtlCol="0" anchor="ctr"/>
          <a:lstStyle/>
          <a:p>
            <a:pPr indent="0" marL="0">
              <a:buNone/>
            </a:pPr>
            <a:r>
              <a:rPr lang="en-US" sz="1500" dirty="0">
                <a:solidFill>
                  <a:schemeClr val="tx1"/>
                </a:solidFill>
              </a:rPr>
              <a:t>step_no consecutivo desde 1</a:t>
            </a:r>
            <a:endParaRPr lang="en-US" sz="1500" dirty="0"/>
          </a:p>
        </p:txBody>
      </p:sp>
      <p:sp>
        <p:nvSpPr>
          <p:cNvPr id="22" name="Shape 13"/>
          <p:cNvSpPr/>
          <p:nvPr/>
        </p:nvSpPr>
        <p:spPr>
          <a:xfrm>
            <a:off x="6172200" y="1417320"/>
            <a:ext cx="457200" cy="457200"/>
          </a:xfrm>
          <a:prstGeom prst="ellipse">
            <a:avLst/>
          </a:prstGeom>
          <a:solidFill>
            <a:schemeClr val="accent1"/>
          </a:solidFill>
          <a:ln w="12700">
            <a:solidFill>
              <a:schemeClr val="accent1"/>
            </a:solidFill>
            <a:prstDash val="solid"/>
          </a:ln>
        </p:spPr>
      </p:sp>
      <p:pic>
        <p:nvPicPr>
          <p:cNvPr id="23" name="Image 6" descr="preencoded.png">    </p:cNvPr>
          <p:cNvPicPr>
            <a:picLocks noChangeAspect="1"/>
          </p:cNvPicPr>
          <p:nvPr/>
        </p:nvPicPr>
        <p:blipFill>
          <a:blip r:embed="rId7"/>
          <a:stretch>
            <a:fillRect/>
          </a:stretch>
        </p:blipFill>
        <p:spPr>
          <a:xfrm>
            <a:off x="6272784" y="1517904"/>
            <a:ext cx="256032" cy="256032"/>
          </a:xfrm>
          <a:prstGeom prst="rect">
            <a:avLst/>
          </a:prstGeom>
        </p:spPr>
      </p:pic>
      <p:sp>
        <p:nvSpPr>
          <p:cNvPr id="24" name="Text 14"/>
          <p:cNvSpPr txBox="1"/>
          <p:nvPr/>
        </p:nvSpPr>
        <p:spPr>
          <a:xfrm>
            <a:off x="6812280" y="1371600"/>
            <a:ext cx="4846320" cy="548640"/>
          </a:xfrm>
          <a:prstGeom prst="rect">
            <a:avLst/>
          </a:prstGeom>
          <a:noFill/>
          <a:ln/>
        </p:spPr>
        <p:txBody>
          <a:bodyPr wrap="square" lIns="0" tIns="0" rIns="0" bIns="0" rtlCol="0" anchor="ctr"/>
          <a:lstStyle/>
          <a:p>
            <a:pPr indent="0" marL="0">
              <a:buNone/>
            </a:pPr>
            <a:r>
              <a:rPr lang="en-US" sz="1500" dirty="0">
                <a:solidFill>
                  <a:schemeClr val="tx1"/>
                </a:solidFill>
              </a:rPr>
              <a:t>Operación conocida, con su fase y su estado</a:t>
            </a:r>
            <a:endParaRPr lang="en-US" sz="1500" dirty="0"/>
          </a:p>
        </p:txBody>
      </p:sp>
      <p:sp>
        <p:nvSpPr>
          <p:cNvPr id="25" name="Shape 15"/>
          <p:cNvSpPr/>
          <p:nvPr/>
        </p:nvSpPr>
        <p:spPr>
          <a:xfrm>
            <a:off x="6172200" y="2103120"/>
            <a:ext cx="457200" cy="457200"/>
          </a:xfrm>
          <a:prstGeom prst="ellipse">
            <a:avLst/>
          </a:prstGeom>
          <a:solidFill>
            <a:schemeClr val="accent1"/>
          </a:solidFill>
          <a:ln w="12700">
            <a:solidFill>
              <a:schemeClr val="accent1"/>
            </a:solidFill>
            <a:prstDash val="solid"/>
          </a:ln>
        </p:spPr>
      </p:sp>
      <p:pic>
        <p:nvPicPr>
          <p:cNvPr id="26" name="Image 7" descr="preencoded.png">    </p:cNvPr>
          <p:cNvPicPr>
            <a:picLocks noChangeAspect="1"/>
          </p:cNvPicPr>
          <p:nvPr/>
        </p:nvPicPr>
        <p:blipFill>
          <a:blip r:embed="rId8"/>
          <a:stretch>
            <a:fillRect/>
          </a:stretch>
        </p:blipFill>
        <p:spPr>
          <a:xfrm>
            <a:off x="6272784" y="2203704"/>
            <a:ext cx="256032" cy="256032"/>
          </a:xfrm>
          <a:prstGeom prst="rect">
            <a:avLst/>
          </a:prstGeom>
        </p:spPr>
      </p:pic>
      <p:sp>
        <p:nvSpPr>
          <p:cNvPr id="27" name="Text 16"/>
          <p:cNvSpPr txBox="1"/>
          <p:nvPr/>
        </p:nvSpPr>
        <p:spPr>
          <a:xfrm>
            <a:off x="6812280" y="2057400"/>
            <a:ext cx="4846320" cy="548640"/>
          </a:xfrm>
          <a:prstGeom prst="rect">
            <a:avLst/>
          </a:prstGeom>
          <a:noFill/>
          <a:ln/>
        </p:spPr>
        <p:txBody>
          <a:bodyPr wrap="square" lIns="0" tIns="0" rIns="0" bIns="0" rtlCol="0" anchor="ctr"/>
          <a:lstStyle/>
          <a:p>
            <a:pPr indent="0" marL="0">
              <a:buNone/>
            </a:pPr>
            <a:r>
              <a:rPr lang="en-US" sz="1500" dirty="0">
                <a:solidFill>
                  <a:schemeClr val="tx1"/>
                </a:solidFill>
              </a:rPr>
              <a:t>Las fases nunca retroceden</a:t>
            </a:r>
            <a:endParaRPr lang="en-US" sz="1500" dirty="0"/>
          </a:p>
        </p:txBody>
      </p:sp>
      <p:sp>
        <p:nvSpPr>
          <p:cNvPr id="28" name="Shape 17"/>
          <p:cNvSpPr/>
          <p:nvPr/>
        </p:nvSpPr>
        <p:spPr>
          <a:xfrm>
            <a:off x="6172200" y="2788920"/>
            <a:ext cx="457200" cy="457200"/>
          </a:xfrm>
          <a:prstGeom prst="ellipse">
            <a:avLst/>
          </a:prstGeom>
          <a:solidFill>
            <a:schemeClr val="accent1"/>
          </a:solidFill>
          <a:ln w="12700">
            <a:solidFill>
              <a:schemeClr val="accent1"/>
            </a:solidFill>
            <a:prstDash val="solid"/>
          </a:ln>
        </p:spPr>
      </p:sp>
      <p:pic>
        <p:nvPicPr>
          <p:cNvPr id="29" name="Image 8" descr="preencoded.png">    </p:cNvPr>
          <p:cNvPicPr>
            <a:picLocks noChangeAspect="1"/>
          </p:cNvPicPr>
          <p:nvPr/>
        </p:nvPicPr>
        <p:blipFill>
          <a:blip r:embed="rId9"/>
          <a:stretch>
            <a:fillRect/>
          </a:stretch>
        </p:blipFill>
        <p:spPr>
          <a:xfrm>
            <a:off x="6272784" y="2889504"/>
            <a:ext cx="256032" cy="256032"/>
          </a:xfrm>
          <a:prstGeom prst="rect">
            <a:avLst/>
          </a:prstGeom>
        </p:spPr>
      </p:pic>
      <p:sp>
        <p:nvSpPr>
          <p:cNvPr id="30" name="Text 18"/>
          <p:cNvSpPr txBox="1"/>
          <p:nvPr/>
        </p:nvSpPr>
        <p:spPr>
          <a:xfrm>
            <a:off x="6812280" y="2743200"/>
            <a:ext cx="4846320" cy="548640"/>
          </a:xfrm>
          <a:prstGeom prst="rect">
            <a:avLst/>
          </a:prstGeom>
          <a:noFill/>
          <a:ln/>
        </p:spPr>
        <p:txBody>
          <a:bodyPr wrap="square" lIns="0" tIns="0" rIns="0" bIns="0" rtlCol="0" anchor="ctr"/>
          <a:lstStyle/>
          <a:p>
            <a:pPr indent="0" marL="0">
              <a:buNone/>
            </a:pPr>
            <a:r>
              <a:rPr lang="en-US" sz="1500" dirty="0">
                <a:solidFill>
                  <a:schemeClr val="tx1"/>
                </a:solidFill>
              </a:rPr>
              <a:t>Todo hallazgo cita evidencia</a:t>
            </a:r>
            <a:endParaRPr lang="en-US" sz="1500" dirty="0"/>
          </a:p>
        </p:txBody>
      </p:sp>
      <p:sp>
        <p:nvSpPr>
          <p:cNvPr id="31" name="Shape 19"/>
          <p:cNvSpPr/>
          <p:nvPr/>
        </p:nvSpPr>
        <p:spPr>
          <a:xfrm>
            <a:off x="6172200" y="3474720"/>
            <a:ext cx="457200" cy="457200"/>
          </a:xfrm>
          <a:prstGeom prst="ellipse">
            <a:avLst/>
          </a:prstGeom>
          <a:solidFill>
            <a:schemeClr val="accent1"/>
          </a:solidFill>
          <a:ln w="12700">
            <a:solidFill>
              <a:schemeClr val="accent1"/>
            </a:solidFill>
            <a:prstDash val="solid"/>
          </a:ln>
        </p:spPr>
      </p:sp>
      <p:pic>
        <p:nvPicPr>
          <p:cNvPr id="32" name="Image 9" descr="preencoded.png">    </p:cNvPr>
          <p:cNvPicPr>
            <a:picLocks noChangeAspect="1"/>
          </p:cNvPicPr>
          <p:nvPr/>
        </p:nvPicPr>
        <p:blipFill>
          <a:blip r:embed="rId10"/>
          <a:stretch>
            <a:fillRect/>
          </a:stretch>
        </p:blipFill>
        <p:spPr>
          <a:xfrm>
            <a:off x="6272784" y="3575304"/>
            <a:ext cx="256032" cy="256032"/>
          </a:xfrm>
          <a:prstGeom prst="rect">
            <a:avLst/>
          </a:prstGeom>
        </p:spPr>
      </p:pic>
      <p:sp>
        <p:nvSpPr>
          <p:cNvPr id="33" name="Text 20"/>
          <p:cNvSpPr txBox="1"/>
          <p:nvPr/>
        </p:nvSpPr>
        <p:spPr>
          <a:xfrm>
            <a:off x="6812280" y="3429000"/>
            <a:ext cx="4846320" cy="548640"/>
          </a:xfrm>
          <a:prstGeom prst="rect">
            <a:avLst/>
          </a:prstGeom>
          <a:noFill/>
          <a:ln/>
        </p:spPr>
        <p:txBody>
          <a:bodyPr wrap="square" lIns="0" tIns="0" rIns="0" bIns="0" rtlCol="0" anchor="ctr"/>
          <a:lstStyle/>
          <a:p>
            <a:pPr indent="0" marL="0">
              <a:buNone/>
            </a:pPr>
            <a:r>
              <a:rPr lang="en-US" sz="1500" dirty="0">
                <a:solidFill>
                  <a:schemeClr val="tx1"/>
                </a:solidFill>
              </a:rPr>
              <a:t>Los pasos futuros no citan evidencia</a:t>
            </a:r>
            <a:endParaRPr lang="en-US" sz="1500" dirty="0"/>
          </a:p>
        </p:txBody>
      </p:sp>
      <p:sp>
        <p:nvSpPr>
          <p:cNvPr id="34" name="Shape 21"/>
          <p:cNvSpPr/>
          <p:nvPr/>
        </p:nvSpPr>
        <p:spPr>
          <a:xfrm>
            <a:off x="6172200" y="4160520"/>
            <a:ext cx="457200" cy="457200"/>
          </a:xfrm>
          <a:prstGeom prst="ellipse">
            <a:avLst/>
          </a:prstGeom>
          <a:solidFill>
            <a:schemeClr val="accent1"/>
          </a:solidFill>
          <a:ln w="12700">
            <a:solidFill>
              <a:schemeClr val="accent1"/>
            </a:solidFill>
            <a:prstDash val="solid"/>
          </a:ln>
        </p:spPr>
      </p:sp>
      <p:pic>
        <p:nvPicPr>
          <p:cNvPr id="35" name="Image 10" descr="preencoded.png">    </p:cNvPr>
          <p:cNvPicPr>
            <a:picLocks noChangeAspect="1"/>
          </p:cNvPicPr>
          <p:nvPr/>
        </p:nvPicPr>
        <p:blipFill>
          <a:blip r:embed="rId11"/>
          <a:stretch>
            <a:fillRect/>
          </a:stretch>
        </p:blipFill>
        <p:spPr>
          <a:xfrm>
            <a:off x="6272784" y="4261104"/>
            <a:ext cx="256032" cy="256032"/>
          </a:xfrm>
          <a:prstGeom prst="rect">
            <a:avLst/>
          </a:prstGeom>
        </p:spPr>
      </p:pic>
      <p:sp>
        <p:nvSpPr>
          <p:cNvPr id="36" name="Text 22"/>
          <p:cNvSpPr txBox="1"/>
          <p:nvPr/>
        </p:nvSpPr>
        <p:spPr>
          <a:xfrm>
            <a:off x="6812280" y="4114800"/>
            <a:ext cx="4846320" cy="548640"/>
          </a:xfrm>
          <a:prstGeom prst="rect">
            <a:avLst/>
          </a:prstGeom>
          <a:noFill/>
          <a:ln/>
        </p:spPr>
        <p:txBody>
          <a:bodyPr wrap="square" lIns="0" tIns="0" rIns="0" bIns="0" rtlCol="0" anchor="ctr"/>
          <a:lstStyle/>
          <a:p>
            <a:pPr indent="0" marL="0">
              <a:buNone/>
            </a:pPr>
            <a:r>
              <a:rPr lang="en-US" sz="1500" dirty="0">
                <a:solidFill>
                  <a:schemeClr val="tx1"/>
                </a:solidFill>
              </a:rPr>
              <a:t>El evidence_id existe en el manifiesto</a:t>
            </a:r>
            <a:endParaRPr lang="en-US" sz="1500" dirty="0"/>
          </a:p>
        </p:txBody>
      </p:sp>
      <p:sp>
        <p:nvSpPr>
          <p:cNvPr id="37" name="Shape 23"/>
          <p:cNvSpPr/>
          <p:nvPr/>
        </p:nvSpPr>
        <p:spPr>
          <a:xfrm>
            <a:off x="6172200" y="4846320"/>
            <a:ext cx="457200" cy="457200"/>
          </a:xfrm>
          <a:prstGeom prst="ellipse">
            <a:avLst/>
          </a:prstGeom>
          <a:solidFill>
            <a:schemeClr val="accent1"/>
          </a:solidFill>
          <a:ln w="12700">
            <a:solidFill>
              <a:schemeClr val="accent1"/>
            </a:solidFill>
            <a:prstDash val="solid"/>
          </a:ln>
        </p:spPr>
      </p:sp>
      <p:pic>
        <p:nvPicPr>
          <p:cNvPr id="38" name="Image 11" descr="preencoded.png">    </p:cNvPr>
          <p:cNvPicPr>
            <a:picLocks noChangeAspect="1"/>
          </p:cNvPicPr>
          <p:nvPr/>
        </p:nvPicPr>
        <p:blipFill>
          <a:blip r:embed="rId12"/>
          <a:stretch>
            <a:fillRect/>
          </a:stretch>
        </p:blipFill>
        <p:spPr>
          <a:xfrm>
            <a:off x="6272784" y="4946904"/>
            <a:ext cx="256032" cy="256032"/>
          </a:xfrm>
          <a:prstGeom prst="rect">
            <a:avLst/>
          </a:prstGeom>
        </p:spPr>
      </p:pic>
      <p:sp>
        <p:nvSpPr>
          <p:cNvPr id="39" name="Text 24"/>
          <p:cNvSpPr txBox="1"/>
          <p:nvPr/>
        </p:nvSpPr>
        <p:spPr>
          <a:xfrm>
            <a:off x="6812280" y="4800600"/>
            <a:ext cx="4846320" cy="548640"/>
          </a:xfrm>
          <a:prstGeom prst="rect">
            <a:avLst/>
          </a:prstGeom>
          <a:noFill/>
          <a:ln/>
        </p:spPr>
        <p:txBody>
          <a:bodyPr wrap="square" lIns="0" tIns="0" rIns="0" bIns="0" rtlCol="0" anchor="ctr"/>
          <a:lstStyle/>
          <a:p>
            <a:pPr indent="0" marL="0">
              <a:buNone/>
            </a:pPr>
            <a:r>
              <a:rPr lang="en-US" sz="1500" dirty="0">
                <a:solidFill>
                  <a:schemeClr val="tx1"/>
                </a:solidFill>
              </a:rPr>
              <a:t>Nunca evidencia capturada después de audit_at</a:t>
            </a:r>
            <a:endParaRPr lang="en-US" sz="1500" dirty="0"/>
          </a:p>
        </p:txBody>
      </p:sp>
      <p:sp>
        <p:nvSpPr>
          <p:cNvPr id="40" name="Shape 25"/>
          <p:cNvSpPr/>
          <p:nvPr/>
        </p:nvSpPr>
        <p:spPr>
          <a:xfrm>
            <a:off x="548640" y="5577840"/>
            <a:ext cx="11094415" cy="685800"/>
          </a:xfrm>
          <a:prstGeom prst="roundRect">
            <a:avLst>
              <a:gd name="adj" fmla="val 13333"/>
            </a:avLst>
          </a:prstGeom>
          <a:solidFill>
            <a:schemeClr val="bg2"/>
          </a:solidFill>
          <a:ln w="9525">
            <a:solidFill>
              <a:schemeClr val="bg2"/>
            </a:solidFill>
            <a:prstDash val="solid"/>
          </a:ln>
        </p:spPr>
      </p:sp>
      <p:sp>
        <p:nvSpPr>
          <p:cNvPr id="41" name="Text 26"/>
          <p:cNvSpPr txBox="1"/>
          <p:nvPr/>
        </p:nvSpPr>
        <p:spPr>
          <a:xfrm>
            <a:off x="777240" y="5577840"/>
            <a:ext cx="10637215" cy="68580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check_row() </a:t>
            </a:r>
            <a:pPr indent="0" marL="0">
              <a:buNone/>
            </a:pPr>
            <a:r>
              <a:rPr lang="en-US" sz="1400" dirty="0">
                <a:solidFill>
                  <a:schemeClr val="tx2"/>
                </a:solidFill>
              </a:rPr>
              <a:t>corre antes de escribir cada fila; el evaluador y las pruebas lo reutilizan. Corrida final: 0 violaciones en 518 filas.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Un caso completo: case_12</a:t>
            </a:r>
            <a:endParaRPr lang="en-US" sz="3200" dirty="0"/>
          </a:p>
        </p:txBody>
      </p:sp>
      <p:sp>
        <p:nvSpPr>
          <p:cNvPr id="4" name="Shape 1"/>
          <p:cNvSpPr/>
          <p:nvPr/>
        </p:nvSpPr>
        <p:spPr>
          <a:xfrm>
            <a:off x="548640" y="1325880"/>
            <a:ext cx="3108960" cy="4480560"/>
          </a:xfrm>
          <a:prstGeom prst="roundRect">
            <a:avLst>
              <a:gd name="adj" fmla="val 2941"/>
            </a:avLst>
          </a:prstGeom>
          <a:solidFill>
            <a:schemeClr val="bg2"/>
          </a:solidFill>
          <a:ln w="9525">
            <a:solidFill>
              <a:schemeClr val="bg2"/>
            </a:solidFill>
            <a:prstDash val="solid"/>
          </a:ln>
        </p:spPr>
      </p:sp>
      <p:sp>
        <p:nvSpPr>
          <p:cNvPr id="5" name="Text 2"/>
          <p:cNvSpPr txBox="1"/>
          <p:nvPr/>
        </p:nvSpPr>
        <p:spPr>
          <a:xfrm>
            <a:off x="777240" y="1463040"/>
            <a:ext cx="2743200" cy="365760"/>
          </a:xfrm>
          <a:prstGeom prst="rect">
            <a:avLst/>
          </a:prstGeom>
          <a:noFill/>
          <a:ln/>
        </p:spPr>
        <p:txBody>
          <a:bodyPr wrap="square" lIns="0" tIns="0" rIns="0" bIns="0" rtlCol="0" anchor="t"/>
          <a:lstStyle/>
          <a:p>
            <a:pPr indent="0" marL="0">
              <a:buNone/>
            </a:pPr>
            <a:r>
              <a:rPr lang="en-US" sz="1600" b="1" dirty="0">
                <a:solidFill>
                  <a:schemeClr val="tx2"/>
                </a:solidFill>
              </a:rPr>
              <a:t>Entrada</a:t>
            </a:r>
            <a:endParaRPr lang="en-US" sz="1600" dirty="0"/>
          </a:p>
        </p:txBody>
      </p:sp>
      <p:sp>
        <p:nvSpPr>
          <p:cNvPr id="6" name="Text 3"/>
          <p:cNvSpPr txBox="1"/>
          <p:nvPr/>
        </p:nvSpPr>
        <p:spPr>
          <a:xfrm>
            <a:off x="731520" y="1874520"/>
            <a:ext cx="2788920" cy="109728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latin typeface="Courier New" pitchFamily="34" charset="0"/>
                <a:ea typeface="Courier New" pitchFamily="34" charset="-122"/>
                <a:cs typeface="Courier New" pitchFamily="34" charset="-120"/>
              </a:rPr>
              <a:t>email  </a:t>
            </a:r>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minjun.kim@gmail.com</a:t>
            </a:r>
            <a:endParaRPr lang="en-US" sz="1200" dirty="0"/>
          </a:p>
          <a:p>
            <a:pPr indent="0" marL="0">
              <a:spcAft>
                <a:spcPts val="400"/>
              </a:spcAft>
              <a:buNone/>
            </a:pPr>
            <a:r>
              <a:rPr lang="en-US" sz="1200" b="1" dirty="0">
                <a:solidFill>
                  <a:schemeClr val="tx1"/>
                </a:solidFill>
              </a:rPr>
              <a:t>estado reportado  </a:t>
            </a:r>
            <a:pPr indent="0" marL="0">
              <a:spcAft>
                <a:spcPts val="400"/>
              </a:spcAft>
              <a:buNone/>
            </a:pPr>
            <a:r>
              <a:rPr lang="en-US" sz="1200" b="1" dirty="0">
                <a:solidFill>
                  <a:schemeClr val="accent1"/>
                </a:solidFill>
                <a:latin typeface="Courier New" pitchFamily="34" charset="0"/>
                <a:ea typeface="Courier New" pitchFamily="34" charset="-122"/>
                <a:cs typeface="Courier New" pitchFamily="34" charset="-120"/>
              </a:rPr>
              <a:t>COMPLETE</a:t>
            </a:r>
            <a:endParaRPr lang="en-US" sz="1200" dirty="0"/>
          </a:p>
          <a:p>
            <a:pPr indent="0" marL="0">
              <a:spcAft>
                <a:spcPts val="400"/>
              </a:spcAft>
              <a:buNone/>
            </a:pPr>
            <a:r>
              <a:rPr lang="en-US" sz="1200" b="1" dirty="0">
                <a:solidFill>
                  <a:schemeClr val="tx1"/>
                </a:solidFill>
              </a:rPr>
              <a:t>audit_at  </a:t>
            </a:r>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2026-09-15 12:00</a:t>
            </a:r>
            <a:endParaRPr lang="en-US" sz="1200" dirty="0"/>
          </a:p>
        </p:txBody>
      </p:sp>
      <p:sp>
        <p:nvSpPr>
          <p:cNvPr id="7" name="Text 4"/>
          <p:cNvSpPr txBox="1"/>
          <p:nvPr/>
        </p:nvSpPr>
        <p:spPr>
          <a:xfrm>
            <a:off x="777240" y="3063240"/>
            <a:ext cx="2697480" cy="2651760"/>
          </a:xfrm>
          <a:prstGeom prst="rect">
            <a:avLst/>
          </a:prstGeom>
          <a:noFill/>
          <a:ln/>
        </p:spPr>
        <p:txBody>
          <a:bodyPr wrap="square" lIns="0" tIns="0" rIns="0" bIns="0" rtlCol="0" anchor="t"/>
          <a:lstStyle/>
          <a:p>
            <a:pPr indent="0" marL="0">
              <a:buNone/>
            </a:pPr>
            <a:r>
              <a:rPr lang="en-US" sz="1350" i="1" dirty="0">
                <a:solidFill>
                  <a:schemeClr val="tx2"/>
                </a:solidFill>
              </a:rPr>
              <a:t>«I changed the email on this account before deleting it. Please check that nothing tied to the old address was left behind, even in systems that do not display the email.»</a:t>
            </a:r>
            <a:endParaRPr lang="en-US" sz="1350" dirty="0"/>
          </a:p>
        </p:txBody>
      </p:sp>
      <p:sp>
        <p:nvSpPr>
          <p:cNvPr id="8" name="Text 5"/>
          <p:cNvSpPr txBox="1"/>
          <p:nvPr/>
        </p:nvSpPr>
        <p:spPr>
          <a:xfrm>
            <a:off x="3886200" y="1325880"/>
            <a:ext cx="3246120" cy="365760"/>
          </a:xfrm>
          <a:prstGeom prst="rect">
            <a:avLst/>
          </a:prstGeom>
          <a:noFill/>
          <a:ln/>
        </p:spPr>
        <p:txBody>
          <a:bodyPr wrap="square" lIns="0" tIns="0" rIns="0" bIns="0" rtlCol="0" anchor="t"/>
          <a:lstStyle/>
          <a:p>
            <a:pPr indent="0" marL="0">
              <a:buNone/>
            </a:pPr>
            <a:r>
              <a:rPr lang="en-US" sz="1600" b="1" dirty="0">
                <a:solidFill>
                  <a:schemeClr val="tx2"/>
                </a:solidFill>
              </a:rPr>
              <a:t>Lo que encontró en evidence_01</a:t>
            </a:r>
            <a:endParaRPr lang="en-US" sz="1600" dirty="0"/>
          </a:p>
        </p:txBody>
      </p:sp>
      <p:sp>
        <p:nvSpPr>
          <p:cNvPr id="9" name="Shape 6"/>
          <p:cNvSpPr/>
          <p:nvPr/>
        </p:nvSpPr>
        <p:spPr>
          <a:xfrm>
            <a:off x="3886200" y="1783080"/>
            <a:ext cx="3246120" cy="1234440"/>
          </a:xfrm>
          <a:prstGeom prst="roundRect">
            <a:avLst>
              <a:gd name="adj" fmla="val 7407"/>
            </a:avLst>
          </a:prstGeom>
          <a:solidFill>
            <a:schemeClr val="bg1"/>
          </a:solidFill>
          <a:ln w="12700">
            <a:solidFill>
              <a:srgbClr val="D3DCE1"/>
            </a:solidFill>
            <a:prstDash val="solid"/>
          </a:ln>
        </p:spPr>
      </p:sp>
      <p:sp>
        <p:nvSpPr>
          <p:cNvPr id="10" name="Shape 7"/>
          <p:cNvSpPr/>
          <p:nvPr/>
        </p:nvSpPr>
        <p:spPr>
          <a:xfrm>
            <a:off x="4023360" y="1920240"/>
            <a:ext cx="457200" cy="457200"/>
          </a:xfrm>
          <a:prstGeom prst="ellipse">
            <a:avLst/>
          </a:prstGeom>
          <a:solidFill>
            <a:schemeClr val="accent1"/>
          </a:solidFill>
          <a:ln w="12700">
            <a:solidFill>
              <a:schemeClr val="accent1"/>
            </a:solidFill>
            <a:prstDash val="solid"/>
          </a:ln>
        </p:spPr>
      </p:sp>
      <p:pic>
        <p:nvPicPr>
          <p:cNvPr id="11" name="Image 0" descr="preencoded.png">    </p:cNvPr>
          <p:cNvPicPr>
            <a:picLocks noChangeAspect="1"/>
          </p:cNvPicPr>
          <p:nvPr/>
        </p:nvPicPr>
        <p:blipFill>
          <a:blip r:embed="rId1"/>
          <a:stretch>
            <a:fillRect/>
          </a:stretch>
        </p:blipFill>
        <p:spPr>
          <a:xfrm>
            <a:off x="4123944" y="2020824"/>
            <a:ext cx="256032" cy="256032"/>
          </a:xfrm>
          <a:prstGeom prst="rect">
            <a:avLst/>
          </a:prstGeom>
        </p:spPr>
      </p:pic>
      <p:sp>
        <p:nvSpPr>
          <p:cNvPr id="12" name="Text 8"/>
          <p:cNvSpPr txBox="1"/>
          <p:nvPr/>
        </p:nvSpPr>
        <p:spPr>
          <a:xfrm>
            <a:off x="4617720" y="1920240"/>
            <a:ext cx="2423160" cy="457200"/>
          </a:xfrm>
          <a:prstGeom prst="rect">
            <a:avLst/>
          </a:prstGeom>
          <a:noFill/>
          <a:ln/>
        </p:spPr>
        <p:txBody>
          <a:bodyPr wrap="square" lIns="0" tIns="0" rIns="0" bIns="0" rtlCol="0" anchor="ctr"/>
          <a:lstStyle/>
          <a:p>
            <a:pPr indent="0" marL="0">
              <a:buNone/>
            </a:pPr>
            <a:r>
              <a:rPr lang="en-US" sz="1350" b="1" dirty="0">
                <a:solidFill>
                  <a:schemeClr val="tx1"/>
                </a:solidFill>
                <a:latin typeface="Courier New" pitchFamily="34" charset="0"/>
                <a:ea typeface="Courier New" pitchFamily="34" charset="-122"/>
                <a:cs typeface="Courier New" pitchFamily="34" charset="-120"/>
              </a:rPr>
              <a:t>account_9797</a:t>
            </a:r>
            <a:endParaRPr lang="en-US" sz="1350" dirty="0"/>
          </a:p>
        </p:txBody>
      </p:sp>
      <p:sp>
        <p:nvSpPr>
          <p:cNvPr id="13" name="Text 9"/>
          <p:cNvSpPr txBox="1"/>
          <p:nvPr/>
        </p:nvSpPr>
        <p:spPr>
          <a:xfrm>
            <a:off x="4023360" y="2423160"/>
            <a:ext cx="3017520" cy="548640"/>
          </a:xfrm>
          <a:prstGeom prst="rect">
            <a:avLst/>
          </a:prstGeom>
          <a:noFill/>
          <a:ln/>
        </p:spPr>
        <p:txBody>
          <a:bodyPr wrap="square" lIns="0" tIns="0" rIns="0" bIns="0" rtlCol="0" anchor="t"/>
          <a:lstStyle/>
          <a:p>
            <a:pPr indent="0" marL="0">
              <a:buNone/>
            </a:pPr>
            <a:r>
              <a:rPr lang="en-US" sz="1200" dirty="0">
                <a:solidFill>
                  <a:schemeClr val="tx2"/>
                </a:solidFill>
              </a:rPr>
              <a:t>404 y 0 filas, unido por trace_id al email actual → ausente</a:t>
            </a:r>
            <a:endParaRPr lang="en-US" sz="1200" dirty="0"/>
          </a:p>
        </p:txBody>
      </p:sp>
      <p:sp>
        <p:nvSpPr>
          <p:cNvPr id="14" name="Shape 10"/>
          <p:cNvSpPr/>
          <p:nvPr/>
        </p:nvSpPr>
        <p:spPr>
          <a:xfrm>
            <a:off x="3886200" y="3154680"/>
            <a:ext cx="3246120" cy="1234440"/>
          </a:xfrm>
          <a:prstGeom prst="roundRect">
            <a:avLst>
              <a:gd name="adj" fmla="val 7407"/>
            </a:avLst>
          </a:prstGeom>
          <a:solidFill>
            <a:schemeClr val="bg1"/>
          </a:solidFill>
          <a:ln w="12700">
            <a:solidFill>
              <a:srgbClr val="D3DCE1"/>
            </a:solidFill>
            <a:prstDash val="solid"/>
          </a:ln>
        </p:spPr>
      </p:sp>
      <p:sp>
        <p:nvSpPr>
          <p:cNvPr id="15" name="Shape 11"/>
          <p:cNvSpPr/>
          <p:nvPr/>
        </p:nvSpPr>
        <p:spPr>
          <a:xfrm>
            <a:off x="4023360" y="3291840"/>
            <a:ext cx="457200" cy="457200"/>
          </a:xfrm>
          <a:prstGeom prst="ellipse">
            <a:avLst/>
          </a:prstGeom>
          <a:solidFill>
            <a:schemeClr val="accent2"/>
          </a:solidFill>
          <a:ln w="12700">
            <a:solidFill>
              <a:schemeClr val="accent2"/>
            </a:solidFill>
            <a:prstDash val="solid"/>
          </a:ln>
        </p:spPr>
      </p:sp>
      <p:pic>
        <p:nvPicPr>
          <p:cNvPr id="16" name="Image 1" descr="preencoded.png">    </p:cNvPr>
          <p:cNvPicPr>
            <a:picLocks noChangeAspect="1"/>
          </p:cNvPicPr>
          <p:nvPr/>
        </p:nvPicPr>
        <p:blipFill>
          <a:blip r:embed="rId2"/>
          <a:stretch>
            <a:fillRect/>
          </a:stretch>
        </p:blipFill>
        <p:spPr>
          <a:xfrm>
            <a:off x="4123944" y="3392424"/>
            <a:ext cx="256032" cy="256032"/>
          </a:xfrm>
          <a:prstGeom prst="rect">
            <a:avLst/>
          </a:prstGeom>
        </p:spPr>
      </p:pic>
      <p:sp>
        <p:nvSpPr>
          <p:cNvPr id="17" name="Text 12"/>
          <p:cNvSpPr txBox="1"/>
          <p:nvPr/>
        </p:nvSpPr>
        <p:spPr>
          <a:xfrm>
            <a:off x="4617720" y="3291840"/>
            <a:ext cx="2423160" cy="457200"/>
          </a:xfrm>
          <a:prstGeom prst="rect">
            <a:avLst/>
          </a:prstGeom>
          <a:noFill/>
          <a:ln/>
        </p:spPr>
        <p:txBody>
          <a:bodyPr wrap="square" lIns="0" tIns="0" rIns="0" bIns="0" rtlCol="0" anchor="ctr"/>
          <a:lstStyle/>
          <a:p>
            <a:pPr indent="0" marL="0">
              <a:buNone/>
            </a:pPr>
            <a:r>
              <a:rPr lang="en-US" sz="1350" b="1" dirty="0">
                <a:solidFill>
                  <a:schemeClr val="tx1"/>
                </a:solidFill>
                <a:latin typeface="Courier New" pitchFamily="34" charset="0"/>
                <a:ea typeface="Courier New" pitchFamily="34" charset="-122"/>
                <a:cs typeface="Courier New" pitchFamily="34" charset="-120"/>
              </a:rPr>
              <a:t>analytics_9914</a:t>
            </a:r>
            <a:endParaRPr lang="en-US" sz="1350" dirty="0"/>
          </a:p>
        </p:txBody>
      </p:sp>
      <p:sp>
        <p:nvSpPr>
          <p:cNvPr id="18" name="Text 13"/>
          <p:cNvSpPr txBox="1"/>
          <p:nvPr/>
        </p:nvSpPr>
        <p:spPr>
          <a:xfrm>
            <a:off x="4023360" y="3794760"/>
            <a:ext cx="3017520" cy="548640"/>
          </a:xfrm>
          <a:prstGeom prst="rect">
            <a:avLst/>
          </a:prstGeom>
          <a:noFill/>
          <a:ln/>
        </p:spPr>
        <p:txBody>
          <a:bodyPr wrap="square" lIns="0" tIns="0" rIns="0" bIns="0" rtlCol="0" anchor="t"/>
          <a:lstStyle/>
          <a:p>
            <a:pPr indent="0" marL="0">
              <a:buNone/>
            </a:pPr>
            <a:r>
              <a:rPr lang="en-US" sz="1200" dirty="0">
                <a:solidFill>
                  <a:schemeClr val="tx2"/>
                </a:solidFill>
              </a:rPr>
              <a:t>copia de contacto hallada por el hash del email antiguo → presente (regla 02: DELETE)</a:t>
            </a:r>
            <a:endParaRPr lang="en-US" sz="1200" dirty="0"/>
          </a:p>
        </p:txBody>
      </p:sp>
      <p:sp>
        <p:nvSpPr>
          <p:cNvPr id="19" name="Shape 14"/>
          <p:cNvSpPr/>
          <p:nvPr/>
        </p:nvSpPr>
        <p:spPr>
          <a:xfrm>
            <a:off x="3886200" y="4526280"/>
            <a:ext cx="3246120" cy="1234440"/>
          </a:xfrm>
          <a:prstGeom prst="roundRect">
            <a:avLst>
              <a:gd name="adj" fmla="val 7407"/>
            </a:avLst>
          </a:prstGeom>
          <a:solidFill>
            <a:schemeClr val="bg1"/>
          </a:solidFill>
          <a:ln w="12700">
            <a:solidFill>
              <a:srgbClr val="D3DCE1"/>
            </a:solidFill>
            <a:prstDash val="solid"/>
          </a:ln>
        </p:spPr>
      </p:sp>
      <p:sp>
        <p:nvSpPr>
          <p:cNvPr id="20" name="Shape 15"/>
          <p:cNvSpPr/>
          <p:nvPr/>
        </p:nvSpPr>
        <p:spPr>
          <a:xfrm>
            <a:off x="4023360" y="4663440"/>
            <a:ext cx="457200" cy="457200"/>
          </a:xfrm>
          <a:prstGeom prst="ellipse">
            <a:avLst/>
          </a:prstGeom>
          <a:solidFill>
            <a:schemeClr val="tx2"/>
          </a:solidFill>
          <a:ln w="12700">
            <a:solidFill>
              <a:schemeClr val="tx2"/>
            </a:solidFill>
            <a:prstDash val="solid"/>
          </a:ln>
        </p:spPr>
      </p:sp>
      <p:pic>
        <p:nvPicPr>
          <p:cNvPr id="21" name="Image 2" descr="preencoded.png">    </p:cNvPr>
          <p:cNvPicPr>
            <a:picLocks noChangeAspect="1"/>
          </p:cNvPicPr>
          <p:nvPr/>
        </p:nvPicPr>
        <p:blipFill>
          <a:blip r:embed="rId3"/>
          <a:stretch>
            <a:fillRect/>
          </a:stretch>
        </p:blipFill>
        <p:spPr>
          <a:xfrm>
            <a:off x="4123944" y="4764024"/>
            <a:ext cx="256032" cy="256032"/>
          </a:xfrm>
          <a:prstGeom prst="rect">
            <a:avLst/>
          </a:prstGeom>
        </p:spPr>
      </p:pic>
      <p:sp>
        <p:nvSpPr>
          <p:cNvPr id="22" name="Text 16"/>
          <p:cNvSpPr txBox="1"/>
          <p:nvPr/>
        </p:nvSpPr>
        <p:spPr>
          <a:xfrm>
            <a:off x="4617720" y="4663440"/>
            <a:ext cx="2423160" cy="457200"/>
          </a:xfrm>
          <a:prstGeom prst="rect">
            <a:avLst/>
          </a:prstGeom>
          <a:noFill/>
          <a:ln/>
        </p:spPr>
        <p:txBody>
          <a:bodyPr wrap="square" lIns="0" tIns="0" rIns="0" bIns="0" rtlCol="0" anchor="ctr"/>
          <a:lstStyle/>
          <a:p>
            <a:pPr indent="0" marL="0">
              <a:buNone/>
            </a:pPr>
            <a:r>
              <a:rPr lang="en-US" sz="1350" b="1" dirty="0">
                <a:solidFill>
                  <a:schemeClr val="tx1"/>
                </a:solidFill>
                <a:latin typeface="Courier New" pitchFamily="34" charset="0"/>
                <a:ea typeface="Courier New" pitchFamily="34" charset="-122"/>
                <a:cs typeface="Courier New" pitchFamily="34" charset="-120"/>
              </a:rPr>
              <a:t>audit_record_2945</a:t>
            </a:r>
            <a:endParaRPr lang="en-US" sz="1350" dirty="0"/>
          </a:p>
        </p:txBody>
      </p:sp>
      <p:sp>
        <p:nvSpPr>
          <p:cNvPr id="23" name="Text 17"/>
          <p:cNvSpPr txBox="1"/>
          <p:nvPr/>
        </p:nvSpPr>
        <p:spPr>
          <a:xfrm>
            <a:off x="4023360" y="5166360"/>
            <a:ext cx="3017520" cy="548640"/>
          </a:xfrm>
          <a:prstGeom prst="rect">
            <a:avLst/>
          </a:prstGeom>
          <a:noFill/>
          <a:ln/>
        </p:spPr>
        <p:txBody>
          <a:bodyPr wrap="square" lIns="0" tIns="0" rIns="0" bIns="0" rtlCol="0" anchor="t"/>
          <a:lstStyle/>
          <a:p>
            <a:pPr indent="0" marL="0">
              <a:buNone/>
            </a:pPr>
            <a:r>
              <a:rPr lang="en-US" sz="1200" dirty="0">
                <a:solidFill>
                  <a:schemeClr val="tx2"/>
                </a:solidFill>
              </a:rPr>
              <a:t>auditoría de seguridad de user_12 → retener (regla 12)</a:t>
            </a:r>
            <a:endParaRPr lang="en-US" sz="1200" dirty="0"/>
          </a:p>
        </p:txBody>
      </p:sp>
      <p:sp>
        <p:nvSpPr>
          <p:cNvPr id="24" name="Text 18"/>
          <p:cNvSpPr txBox="1"/>
          <p:nvPr/>
        </p:nvSpPr>
        <p:spPr>
          <a:xfrm>
            <a:off x="7360920" y="1325880"/>
            <a:ext cx="4279392" cy="365760"/>
          </a:xfrm>
          <a:prstGeom prst="rect">
            <a:avLst/>
          </a:prstGeom>
          <a:noFill/>
          <a:ln/>
        </p:spPr>
        <p:txBody>
          <a:bodyPr wrap="square" lIns="0" tIns="0" rIns="0" bIns="0" rtlCol="0" anchor="t"/>
          <a:lstStyle/>
          <a:p>
            <a:pPr indent="0" marL="0">
              <a:buNone/>
            </a:pPr>
            <a:r>
              <a:rPr lang="en-US" sz="1600" b="1" dirty="0">
                <a:solidFill>
                  <a:schemeClr val="tx2"/>
                </a:solidFill>
              </a:rPr>
              <a:t>Salida</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360920" y="1783080"/>
          <a:ext cx="4279392" cy="914400"/>
        </p:xfrm>
        <a:graphic>
          <a:graphicData uri="http://schemas.openxmlformats.org/drawingml/2006/table">
            <a:tbl>
              <a:tblPr/>
              <a:tblGrid>
                <a:gridCol w="365760"/>
                <a:gridCol w="2286000"/>
                <a:gridCol w="1627632"/>
              </a:tblGrid>
              <a:tr h="457200">
                <a:tc>
                  <a:txBody>
                    <a:bodyPr/>
                    <a:lstStyle/>
                    <a:p>
                      <a:pPr indent="0" marL="0">
                        <a:buNone/>
                      </a:pPr>
                      <a:r>
                        <a:rPr lang="en-US" sz="1100" b="1" dirty="0">
                          <a:solidFill>
                            <a:schemeClr val="bg1"/>
                          </a:solidFill>
                        </a:rPr>
                        <a:t>#</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Operación</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Recurso</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457200">
                <a:tc>
                  <a:txBody>
                    <a:bodyPr/>
                    <a:lstStyle/>
                    <a:p>
                      <a:pPr indent="0" marL="0">
                        <a:buNone/>
                      </a:pPr>
                      <a:r>
                        <a:rPr lang="en-US" sz="1100" dirty="0">
                          <a:solidFill>
                            <a:schemeClr val="tx1"/>
                          </a:solidFill>
                        </a:rPr>
                        <a:t>1</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2"/>
                          </a:solidFill>
                          <a:latin typeface="Courier New" pitchFamily="34" charset="0"/>
                          <a:ea typeface="Courier New" pitchFamily="34" charset="-122"/>
                          <a:cs typeface="Courier New" pitchFamily="34" charset="-120"/>
                        </a:rPr>
                        <a:t>REPORT_REMAINING_RECORD</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analytics_9914</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57200">
                <a:tc>
                  <a:txBody>
                    <a:bodyPr/>
                    <a:lstStyle/>
                    <a:p>
                      <a:pPr indent="0" marL="0">
                        <a:buNone/>
                      </a:pPr>
                      <a:r>
                        <a:rPr lang="en-US" sz="1100" dirty="0">
                          <a:solidFill>
                            <a:schemeClr val="tx1"/>
                          </a:solidFill>
                        </a:rPr>
                        <a:t>2</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050" dirty="0">
                          <a:solidFill>
                            <a:schemeClr val="accent6"/>
                          </a:solidFill>
                          <a:latin typeface="Courier New" pitchFamily="34" charset="0"/>
                          <a:ea typeface="Courier New" pitchFamily="34" charset="-122"/>
                          <a:cs typeface="Courier New" pitchFamily="34" charset="-120"/>
                        </a:rPr>
                        <a:t>DELETE_RECORD</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analytics_9914</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57200">
                <a:tc>
                  <a:txBody>
                    <a:bodyPr/>
                    <a:lstStyle/>
                    <a:p>
                      <a:pPr indent="0" marL="0">
                        <a:buNone/>
                      </a:pPr>
                      <a:r>
                        <a:rPr lang="en-US" sz="1100" dirty="0">
                          <a:solidFill>
                            <a:schemeClr val="tx1"/>
                          </a:solidFill>
                        </a:rPr>
                        <a:t>3</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1"/>
                          </a:solidFill>
                          <a:latin typeface="Courier New" pitchFamily="34" charset="0"/>
                          <a:ea typeface="Courier New" pitchFamily="34" charset="-122"/>
                          <a:cs typeface="Courier New" pitchFamily="34" charset="-120"/>
                        </a:rPr>
                        <a:t>VERIFY_RECORD_ABSENT</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account_9797</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57200">
                <a:tc>
                  <a:txBody>
                    <a:bodyPr/>
                    <a:lstStyle/>
                    <a:p>
                      <a:pPr indent="0" marL="0">
                        <a:buNone/>
                      </a:pPr>
                      <a:r>
                        <a:rPr lang="en-US" sz="1100" dirty="0">
                          <a:solidFill>
                            <a:schemeClr val="tx1"/>
                          </a:solidFill>
                        </a:rPr>
                        <a:t>4</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050" dirty="0">
                          <a:solidFill>
                            <a:schemeClr val="accent1"/>
                          </a:solidFill>
                          <a:latin typeface="Courier New" pitchFamily="34" charset="0"/>
                          <a:ea typeface="Courier New" pitchFamily="34" charset="-122"/>
                          <a:cs typeface="Courier New" pitchFamily="34" charset="-120"/>
                        </a:rPr>
                        <a:t>VERIFY_RECORD_ABSENT</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analytics_9914</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57200">
                <a:tc>
                  <a:txBody>
                    <a:bodyPr/>
                    <a:lstStyle/>
                    <a:p>
                      <a:pPr indent="0" marL="0">
                        <a:buNone/>
                      </a:pPr>
                      <a:r>
                        <a:rPr lang="en-US" sz="1100" dirty="0">
                          <a:solidFill>
                            <a:schemeClr val="tx1"/>
                          </a:solidFill>
                        </a:rPr>
                        <a:t>5</a:t>
                      </a:r>
                      <a:endParaRPr lang="en-US" sz="110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1"/>
                          </a:solidFill>
                          <a:latin typeface="Courier New" pitchFamily="34" charset="0"/>
                          <a:ea typeface="Courier New" pitchFamily="34" charset="-122"/>
                          <a:cs typeface="Courier New" pitchFamily="34" charset="-120"/>
                        </a:rPr>
                        <a:t>VERIFY_RECORD_PRESENT</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audit_record_2945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bl>
          </a:graphicData>
        </a:graphic>
      </p:graphicFrame>
      <p:sp>
        <p:nvSpPr>
          <p:cNvPr id="26" name="Text 19"/>
          <p:cNvSpPr txBox="1"/>
          <p:nvPr/>
        </p:nvSpPr>
        <p:spPr>
          <a:xfrm>
            <a:off x="7360920" y="4709160"/>
            <a:ext cx="4279392" cy="640080"/>
          </a:xfrm>
          <a:prstGeom prst="rect">
            <a:avLst/>
          </a:prstGeom>
          <a:noFill/>
          <a:ln/>
        </p:spPr>
        <p:txBody>
          <a:bodyPr wrap="square" lIns="0" tIns="0" rIns="0" bIns="0" rtlCol="0" anchor="t"/>
          <a:lstStyle/>
          <a:p>
            <a:pPr indent="0" marL="0">
              <a:buNone/>
            </a:pPr>
            <a:r>
              <a:rPr lang="en-US" sz="1300" dirty="0">
                <a:solidFill>
                  <a:schemeClr val="accent4"/>
                </a:solidFill>
              </a:rPr>
              <a:t>El hallazgo cita evidence_01; los pasos 2 a 5 son futuros y van sin evidencia.</a:t>
            </a:r>
            <a:endParaRPr lang="en-US" sz="1300" dirty="0"/>
          </a:p>
        </p:txBody>
      </p:sp>
      <p:sp>
        <p:nvSpPr>
          <p:cNvPr id="27" name="Shape 20"/>
          <p:cNvSpPr/>
          <p:nvPr/>
        </p:nvSpPr>
        <p:spPr>
          <a:xfrm>
            <a:off x="548640" y="5989320"/>
            <a:ext cx="11094415" cy="292608"/>
          </a:xfrm>
          <a:prstGeom prst="roundRect">
            <a:avLst>
              <a:gd name="adj" fmla="val 31250"/>
            </a:avLst>
          </a:prstGeom>
          <a:solidFill>
            <a:schemeClr val="bg1"/>
          </a:solidFill>
          <a:ln w="9525">
            <a:solidFill>
              <a:schemeClr val="bg1"/>
            </a:solidFill>
            <a:prstDash val="solid"/>
          </a:ln>
        </p:spPr>
      </p:sp>
      <p:sp>
        <p:nvSpPr>
          <p:cNvPr id="28" name="Text 21"/>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500" b="1" dirty="0">
                <a:solidFill>
                  <a:schemeClr val="accent2"/>
                </a:solidFill>
              </a:rPr>
              <a:t>Resultado: INCOMPLETE </a:t>
            </a:r>
            <a:pPr indent="0" marL="0">
              <a:buNone/>
            </a:pPr>
            <a:r>
              <a:rPr lang="en-US" sz="1500" dirty="0">
                <a:solidFill>
                  <a:schemeClr val="tx2"/>
                </a:solidFill>
              </a:rPr>
              <a:t>aunque el workflow decía COMPLETE. Coincide paso por paso con la respuesta oficial.</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05</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Dónde y cómo se usa Claude</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Dos tareas de percepción, salida JSON con esquema fijo, caché por hash y un respaldo que funciona sin modelo.</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Claude solo en dos tareas de percepción</a:t>
            </a:r>
            <a:endParaRPr lang="en-US" sz="3200" dirty="0"/>
          </a:p>
        </p:txBody>
      </p:sp>
      <p:sp>
        <p:nvSpPr>
          <p:cNvPr id="4" name="Shape 1"/>
          <p:cNvSpPr/>
          <p:nvPr/>
        </p:nvSpPr>
        <p:spPr>
          <a:xfrm>
            <a:off x="548640" y="1325880"/>
            <a:ext cx="5437480" cy="3337560"/>
          </a:xfrm>
          <a:prstGeom prst="roundRect">
            <a:avLst>
              <a:gd name="adj" fmla="val 2740"/>
            </a:avLst>
          </a:prstGeom>
          <a:solidFill>
            <a:schemeClr val="bg2"/>
          </a:solidFill>
          <a:ln w="9525">
            <a:solidFill>
              <a:schemeClr val="bg2"/>
            </a:solidFill>
            <a:prstDash val="solid"/>
          </a:ln>
        </p:spPr>
      </p:sp>
      <p:sp>
        <p:nvSpPr>
          <p:cNvPr id="5" name="Shape 2"/>
          <p:cNvSpPr/>
          <p:nvPr/>
        </p:nvSpPr>
        <p:spPr>
          <a:xfrm>
            <a:off x="777240" y="1508760"/>
            <a:ext cx="685800" cy="685800"/>
          </a:xfrm>
          <a:prstGeom prst="ellipse">
            <a:avLst/>
          </a:prstGeom>
          <a:solidFill>
            <a:schemeClr val="accent3"/>
          </a:solidFill>
          <a:ln w="12700">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928116" y="1659636"/>
            <a:ext cx="384048" cy="384048"/>
          </a:xfrm>
          <a:prstGeom prst="rect">
            <a:avLst/>
          </a:prstGeom>
        </p:spPr>
      </p:pic>
      <p:sp>
        <p:nvSpPr>
          <p:cNvPr id="7" name="Text 3"/>
          <p:cNvSpPr txBox="1"/>
          <p:nvPr/>
        </p:nvSpPr>
        <p:spPr>
          <a:xfrm>
            <a:off x="1645920" y="1481328"/>
            <a:ext cx="4157320" cy="777240"/>
          </a:xfrm>
          <a:prstGeom prst="rect">
            <a:avLst/>
          </a:prstGeom>
          <a:noFill/>
          <a:ln/>
        </p:spPr>
        <p:txBody>
          <a:bodyPr wrap="square" lIns="0" tIns="0" rIns="0" bIns="0" rtlCol="0" anchor="t"/>
          <a:lstStyle/>
          <a:p>
            <a:pPr indent="0" marL="0">
              <a:buNone/>
            </a:pPr>
            <a:r>
              <a:rPr lang="en-US" sz="2000" b="1" dirty="0">
                <a:solidFill>
                  <a:schemeClr val="tx1"/>
                </a:solidFill>
              </a:rPr>
              <a:t>Intención</a:t>
            </a:r>
            <a:endParaRPr lang="en-US" sz="1400" dirty="0"/>
          </a:p>
          <a:p>
            <a:pPr indent="0" marL="0">
              <a:buNone/>
            </a:pPr>
            <a:r>
              <a:rPr lang="en-US" sz="1300" dirty="0">
                <a:solidFill>
                  <a:schemeClr val="accent4"/>
                </a:solidFill>
              </a:rPr>
              <a:t>398 textos distintos · 1 llamada por texto</a:t>
            </a:r>
            <a:endParaRPr lang="en-US" sz="1400" dirty="0"/>
          </a:p>
        </p:txBody>
      </p:sp>
      <p:sp>
        <p:nvSpPr>
          <p:cNvPr id="8" name="Text 4"/>
          <p:cNvSpPr txBox="1"/>
          <p:nvPr/>
        </p:nvSpPr>
        <p:spPr>
          <a:xfrm>
            <a:off x="777240" y="2377440"/>
            <a:ext cx="4980280" cy="685800"/>
          </a:xfrm>
          <a:prstGeom prst="rect">
            <a:avLst/>
          </a:prstGeom>
          <a:noFill/>
          <a:ln/>
        </p:spPr>
        <p:txBody>
          <a:bodyPr wrap="square" lIns="0" tIns="0" rIns="0" bIns="0" rtlCol="0" anchor="t"/>
          <a:lstStyle/>
          <a:p>
            <a:pPr indent="0" marL="0">
              <a:buNone/>
            </a:pPr>
            <a:r>
              <a:rPr lang="en-US" sz="1400" dirty="0">
                <a:solidFill>
                  <a:schemeClr val="tx2"/>
                </a:solidFill>
              </a:rPr>
              <a:t>¿El texto autoriza borrar? Multilingüe y con negaciones («no quiero borrar la cuenta»).</a:t>
            </a:r>
            <a:endParaRPr lang="en-US" sz="1400" dirty="0"/>
          </a:p>
        </p:txBody>
      </p:sp>
      <p:sp>
        <p:nvSpPr>
          <p:cNvPr id="9" name="Text 5"/>
          <p:cNvSpPr txBox="1"/>
          <p:nvPr/>
        </p:nvSpPr>
        <p:spPr>
          <a:xfrm>
            <a:off x="777240" y="3108960"/>
            <a:ext cx="2377440" cy="320040"/>
          </a:xfrm>
          <a:prstGeom prst="rect">
            <a:avLst/>
          </a:prstGeom>
          <a:noFill/>
          <a:ln/>
        </p:spPr>
        <p:txBody>
          <a:bodyPr wrap="square" lIns="0" tIns="0" rIns="0" bIns="0" rtlCol="0" anchor="t"/>
          <a:lstStyle/>
          <a:p>
            <a:pPr indent="0" marL="0">
              <a:buNone/>
            </a:pPr>
            <a:r>
              <a:rPr lang="en-US" sz="1250" b="1" dirty="0">
                <a:solidFill>
                  <a:schemeClr val="tx2"/>
                </a:solidFill>
              </a:rPr>
              <a:t>Devuelve JSON con:</a:t>
            </a:r>
            <a:endParaRPr lang="en-US" sz="1250" dirty="0"/>
          </a:p>
        </p:txBody>
      </p:sp>
      <p:sp>
        <p:nvSpPr>
          <p:cNvPr id="10" name="Text 6"/>
          <p:cNvSpPr txBox="1"/>
          <p:nvPr/>
        </p:nvSpPr>
        <p:spPr>
          <a:xfrm>
            <a:off x="777240" y="3429000"/>
            <a:ext cx="3017520" cy="1143000"/>
          </a:xfrm>
          <a:prstGeom prst="rect">
            <a:avLst/>
          </a:prstGeom>
          <a:noFill/>
          <a:ln/>
        </p:spPr>
        <p:txBody>
          <a:bodyPr wrap="square" lIns="0" tIns="0" rIns="0" bIns="0" rtlCol="0" anchor="t"/>
          <a:lstStyle/>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authorizes_deletion</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request_type</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language</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rationale</a:t>
            </a:r>
            <a:endParaRPr lang="en-US" sz="1200" dirty="0"/>
          </a:p>
        </p:txBody>
      </p:sp>
      <p:sp>
        <p:nvSpPr>
          <p:cNvPr id="11" name="Text 7"/>
          <p:cNvSpPr txBox="1"/>
          <p:nvPr/>
        </p:nvSpPr>
        <p:spPr>
          <a:xfrm>
            <a:off x="3657600" y="4206240"/>
            <a:ext cx="2145640" cy="320040"/>
          </a:xfrm>
          <a:prstGeom prst="rect">
            <a:avLst/>
          </a:prstGeom>
          <a:noFill/>
          <a:ln/>
        </p:spPr>
        <p:txBody>
          <a:bodyPr wrap="square" lIns="0" tIns="0" rIns="0" bIns="0" rtlCol="0" anchor="t"/>
          <a:lstStyle/>
          <a:p>
            <a:pPr algn="r" indent="0" marL="0">
              <a:buNone/>
            </a:pPr>
            <a:r>
              <a:rPr lang="en-US" sz="1200" dirty="0">
                <a:solidFill>
                  <a:schemeClr val="accent4"/>
                </a:solidFill>
              </a:rPr>
              <a:t>prompt y esquema: </a:t>
            </a:r>
            <a:pPr algn="r" indent="0" marL="0">
              <a:buNone/>
            </a:pPr>
            <a:r>
              <a:rPr lang="en-US" sz="1200" b="1" dirty="0">
                <a:solidFill>
                  <a:schemeClr val="tx1"/>
                </a:solidFill>
                <a:latin typeface="Courier New" pitchFamily="34" charset="0"/>
                <a:ea typeface="Courier New" pitchFamily="34" charset="-122"/>
                <a:cs typeface="Courier New" pitchFamily="34" charset="-120"/>
              </a:rPr>
              <a:t>intent.py</a:t>
            </a:r>
            <a:endParaRPr lang="en-US" sz="1200" dirty="0"/>
          </a:p>
        </p:txBody>
      </p:sp>
      <p:sp>
        <p:nvSpPr>
          <p:cNvPr id="12" name="Shape 8"/>
          <p:cNvSpPr/>
          <p:nvPr/>
        </p:nvSpPr>
        <p:spPr>
          <a:xfrm>
            <a:off x="6205576" y="1325880"/>
            <a:ext cx="5437480" cy="3337560"/>
          </a:xfrm>
          <a:prstGeom prst="roundRect">
            <a:avLst>
              <a:gd name="adj" fmla="val 2740"/>
            </a:avLst>
          </a:prstGeom>
          <a:solidFill>
            <a:schemeClr val="bg2"/>
          </a:solidFill>
          <a:ln w="9525">
            <a:solidFill>
              <a:schemeClr val="bg2"/>
            </a:solidFill>
            <a:prstDash val="solid"/>
          </a:ln>
        </p:spPr>
      </p:sp>
      <p:sp>
        <p:nvSpPr>
          <p:cNvPr id="13" name="Shape 9"/>
          <p:cNvSpPr/>
          <p:nvPr/>
        </p:nvSpPr>
        <p:spPr>
          <a:xfrm>
            <a:off x="6434176" y="1508760"/>
            <a:ext cx="685800" cy="685800"/>
          </a:xfrm>
          <a:prstGeom prst="ellipse">
            <a:avLst/>
          </a:prstGeom>
          <a:solidFill>
            <a:schemeClr val="accent3"/>
          </a:solidFill>
          <a:ln w="12700">
            <a:solidFill>
              <a:schemeClr val="accent3"/>
            </a:solidFill>
            <a:prstDash val="solid"/>
          </a:ln>
        </p:spPr>
      </p:sp>
      <p:pic>
        <p:nvPicPr>
          <p:cNvPr id="14" name="Image 1" descr="preencoded.png">    </p:cNvPr>
          <p:cNvPicPr>
            <a:picLocks noChangeAspect="1"/>
          </p:cNvPicPr>
          <p:nvPr/>
        </p:nvPicPr>
        <p:blipFill>
          <a:blip r:embed="rId2"/>
          <a:stretch>
            <a:fillRect/>
          </a:stretch>
        </p:blipFill>
        <p:spPr>
          <a:xfrm>
            <a:off x="6585052" y="1659636"/>
            <a:ext cx="384048" cy="384048"/>
          </a:xfrm>
          <a:prstGeom prst="rect">
            <a:avLst/>
          </a:prstGeom>
        </p:spPr>
      </p:pic>
      <p:sp>
        <p:nvSpPr>
          <p:cNvPr id="15" name="Text 10"/>
          <p:cNvSpPr txBox="1"/>
          <p:nvPr/>
        </p:nvSpPr>
        <p:spPr>
          <a:xfrm>
            <a:off x="7302856" y="1481328"/>
            <a:ext cx="4157320" cy="777240"/>
          </a:xfrm>
          <a:prstGeom prst="rect">
            <a:avLst/>
          </a:prstGeom>
          <a:noFill/>
          <a:ln/>
        </p:spPr>
        <p:txBody>
          <a:bodyPr wrap="square" lIns="0" tIns="0" rIns="0" bIns="0" rtlCol="0" anchor="t"/>
          <a:lstStyle/>
          <a:p>
            <a:pPr indent="0" marL="0">
              <a:buNone/>
            </a:pPr>
            <a:r>
              <a:rPr lang="en-US" sz="2000" b="1" dirty="0">
                <a:solidFill>
                  <a:schemeClr val="tx1"/>
                </a:solidFill>
              </a:rPr>
              <a:t>Visión</a:t>
            </a:r>
            <a:endParaRPr lang="en-US" sz="1400" dirty="0"/>
          </a:p>
          <a:p>
            <a:pPr indent="0" marL="0">
              <a:buNone/>
            </a:pPr>
            <a:r>
              <a:rPr lang="en-US" sz="1300" dirty="0">
                <a:solidFill>
                  <a:schemeClr val="accent4"/>
                </a:solidFill>
              </a:rPr>
              <a:t>11 capturas PNG · 1 llamada por imagen</a:t>
            </a:r>
            <a:endParaRPr lang="en-US" sz="1400" dirty="0"/>
          </a:p>
        </p:txBody>
      </p:sp>
      <p:sp>
        <p:nvSpPr>
          <p:cNvPr id="16" name="Text 11"/>
          <p:cNvSpPr txBox="1"/>
          <p:nvPr/>
        </p:nvSpPr>
        <p:spPr>
          <a:xfrm>
            <a:off x="6434176" y="2377440"/>
            <a:ext cx="4980280" cy="685800"/>
          </a:xfrm>
          <a:prstGeom prst="rect">
            <a:avLst/>
          </a:prstGeom>
          <a:noFill/>
          <a:ln/>
        </p:spPr>
        <p:txBody>
          <a:bodyPr wrap="square" lIns="0" tIns="0" rIns="0" bIns="0" rtlCol="0" anchor="t"/>
          <a:lstStyle/>
          <a:p>
            <a:pPr indent="0" marL="0">
              <a:buNone/>
            </a:pPr>
            <a:r>
              <a:rPr lang="en-US" sz="1400" dirty="0">
                <a:solidFill>
                  <a:schemeClr val="tx2"/>
                </a:solidFill>
              </a:rPr>
              <a:t>Transcribe los registros de consolas internas tal como se ven en pantalla.</a:t>
            </a:r>
            <a:endParaRPr lang="en-US" sz="1400" dirty="0"/>
          </a:p>
        </p:txBody>
      </p:sp>
      <p:sp>
        <p:nvSpPr>
          <p:cNvPr id="17" name="Text 12"/>
          <p:cNvSpPr txBox="1"/>
          <p:nvPr/>
        </p:nvSpPr>
        <p:spPr>
          <a:xfrm>
            <a:off x="6434176" y="3108960"/>
            <a:ext cx="2377440" cy="320040"/>
          </a:xfrm>
          <a:prstGeom prst="rect">
            <a:avLst/>
          </a:prstGeom>
          <a:noFill/>
          <a:ln/>
        </p:spPr>
        <p:txBody>
          <a:bodyPr wrap="square" lIns="0" tIns="0" rIns="0" bIns="0" rtlCol="0" anchor="t"/>
          <a:lstStyle/>
          <a:p>
            <a:pPr indent="0" marL="0">
              <a:buNone/>
            </a:pPr>
            <a:r>
              <a:rPr lang="en-US" sz="1250" b="1" dirty="0">
                <a:solidFill>
                  <a:schemeClr val="tx2"/>
                </a:solidFill>
              </a:rPr>
              <a:t>Devuelve JSON con:</a:t>
            </a:r>
            <a:endParaRPr lang="en-US" sz="1250" dirty="0"/>
          </a:p>
        </p:txBody>
      </p:sp>
      <p:sp>
        <p:nvSpPr>
          <p:cNvPr id="18" name="Text 13"/>
          <p:cNvSpPr txBox="1"/>
          <p:nvPr/>
        </p:nvSpPr>
        <p:spPr>
          <a:xfrm>
            <a:off x="6434176" y="3429000"/>
            <a:ext cx="3017520" cy="1143000"/>
          </a:xfrm>
          <a:prstGeom prst="rect">
            <a:avLst/>
          </a:prstGeom>
          <a:noFill/>
          <a:ln/>
        </p:spPr>
        <p:txBody>
          <a:bodyPr wrap="square" lIns="0" tIns="0" rIns="0" bIns="0" rtlCol="0" anchor="t"/>
          <a:lstStyle/>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labels, record_type</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emails, phones, names</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state</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flow</a:t>
            </a:r>
            <a:endParaRPr lang="en-US" sz="1200" dirty="0"/>
          </a:p>
        </p:txBody>
      </p:sp>
      <p:sp>
        <p:nvSpPr>
          <p:cNvPr id="19" name="Text 14"/>
          <p:cNvSpPr txBox="1"/>
          <p:nvPr/>
        </p:nvSpPr>
        <p:spPr>
          <a:xfrm>
            <a:off x="9314536" y="4206240"/>
            <a:ext cx="2145640" cy="320040"/>
          </a:xfrm>
          <a:prstGeom prst="rect">
            <a:avLst/>
          </a:prstGeom>
          <a:noFill/>
          <a:ln/>
        </p:spPr>
        <p:txBody>
          <a:bodyPr wrap="square" lIns="0" tIns="0" rIns="0" bIns="0" rtlCol="0" anchor="t"/>
          <a:lstStyle/>
          <a:p>
            <a:pPr algn="r" indent="0" marL="0">
              <a:buNone/>
            </a:pPr>
            <a:r>
              <a:rPr lang="en-US" sz="1200" dirty="0">
                <a:solidFill>
                  <a:schemeClr val="accent4"/>
                </a:solidFill>
              </a:rPr>
              <a:t>prompt y esquema: </a:t>
            </a:r>
            <a:pPr algn="r" indent="0" marL="0">
              <a:buNone/>
            </a:pPr>
            <a:r>
              <a:rPr lang="en-US" sz="1200" b="1" dirty="0">
                <a:solidFill>
                  <a:schemeClr val="tx1"/>
                </a:solidFill>
                <a:latin typeface="Courier New" pitchFamily="34" charset="0"/>
                <a:ea typeface="Courier New" pitchFamily="34" charset="-122"/>
                <a:cs typeface="Courier New" pitchFamily="34" charset="-120"/>
              </a:rPr>
              <a:t>media.py</a:t>
            </a:r>
            <a:endParaRPr lang="en-US" sz="1200" dirty="0"/>
          </a:p>
        </p:txBody>
      </p:sp>
      <p:sp>
        <p:nvSpPr>
          <p:cNvPr id="20" name="Text 15"/>
          <p:cNvSpPr txBox="1"/>
          <p:nvPr/>
        </p:nvSpPr>
        <p:spPr>
          <a:xfrm>
            <a:off x="548640" y="4846320"/>
            <a:ext cx="2602154"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409</a:t>
            </a:r>
            <a:endParaRPr lang="en-US" sz="2800" dirty="0"/>
          </a:p>
        </p:txBody>
      </p:sp>
      <p:sp>
        <p:nvSpPr>
          <p:cNvPr id="21" name="Text 16"/>
          <p:cNvSpPr txBox="1"/>
          <p:nvPr/>
        </p:nvSpPr>
        <p:spPr>
          <a:xfrm>
            <a:off x="548640" y="5394960"/>
            <a:ext cx="2602154" cy="320040"/>
          </a:xfrm>
          <a:prstGeom prst="rect">
            <a:avLst/>
          </a:prstGeom>
          <a:noFill/>
          <a:ln/>
        </p:spPr>
        <p:txBody>
          <a:bodyPr wrap="square" lIns="0" tIns="0" rIns="0" bIns="0" rtlCol="0" anchor="t"/>
          <a:lstStyle/>
          <a:p>
            <a:pPr indent="0" marL="0">
              <a:buNone/>
            </a:pPr>
            <a:r>
              <a:rPr lang="en-US" sz="1300" dirty="0">
                <a:solidFill>
                  <a:schemeClr val="accent4"/>
                </a:solidFill>
              </a:rPr>
              <a:t>llamadas</a:t>
            </a:r>
            <a:endParaRPr lang="en-US" sz="1300" dirty="0"/>
          </a:p>
        </p:txBody>
      </p:sp>
      <p:sp>
        <p:nvSpPr>
          <p:cNvPr id="22" name="Text 17"/>
          <p:cNvSpPr txBox="1"/>
          <p:nvPr/>
        </p:nvSpPr>
        <p:spPr>
          <a:xfrm>
            <a:off x="3379394" y="4846320"/>
            <a:ext cx="2602154"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311.344</a:t>
            </a:r>
            <a:endParaRPr lang="en-US" sz="2800" dirty="0"/>
          </a:p>
        </p:txBody>
      </p:sp>
      <p:sp>
        <p:nvSpPr>
          <p:cNvPr id="23" name="Text 18"/>
          <p:cNvSpPr txBox="1"/>
          <p:nvPr/>
        </p:nvSpPr>
        <p:spPr>
          <a:xfrm>
            <a:off x="3379394" y="5394960"/>
            <a:ext cx="2602154" cy="320040"/>
          </a:xfrm>
          <a:prstGeom prst="rect">
            <a:avLst/>
          </a:prstGeom>
          <a:noFill/>
          <a:ln/>
        </p:spPr>
        <p:txBody>
          <a:bodyPr wrap="square" lIns="0" tIns="0" rIns="0" bIns="0" rtlCol="0" anchor="t"/>
          <a:lstStyle/>
          <a:p>
            <a:pPr indent="0" marL="0">
              <a:buNone/>
            </a:pPr>
            <a:r>
              <a:rPr lang="en-US" sz="1300" dirty="0">
                <a:solidFill>
                  <a:schemeClr val="accent4"/>
                </a:solidFill>
              </a:rPr>
              <a:t>tokens de entrada</a:t>
            </a:r>
            <a:endParaRPr lang="en-US" sz="1300" dirty="0"/>
          </a:p>
        </p:txBody>
      </p:sp>
      <p:sp>
        <p:nvSpPr>
          <p:cNvPr id="24" name="Text 19"/>
          <p:cNvSpPr txBox="1"/>
          <p:nvPr/>
        </p:nvSpPr>
        <p:spPr>
          <a:xfrm>
            <a:off x="6210148" y="4846320"/>
            <a:ext cx="2602154"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39.099</a:t>
            </a:r>
            <a:endParaRPr lang="en-US" sz="2800" dirty="0"/>
          </a:p>
        </p:txBody>
      </p:sp>
      <p:sp>
        <p:nvSpPr>
          <p:cNvPr id="25" name="Text 20"/>
          <p:cNvSpPr txBox="1"/>
          <p:nvPr/>
        </p:nvSpPr>
        <p:spPr>
          <a:xfrm>
            <a:off x="6210148" y="5394960"/>
            <a:ext cx="2602154" cy="320040"/>
          </a:xfrm>
          <a:prstGeom prst="rect">
            <a:avLst/>
          </a:prstGeom>
          <a:noFill/>
          <a:ln/>
        </p:spPr>
        <p:txBody>
          <a:bodyPr wrap="square" lIns="0" tIns="0" rIns="0" bIns="0" rtlCol="0" anchor="t"/>
          <a:lstStyle/>
          <a:p>
            <a:pPr indent="0" marL="0">
              <a:buNone/>
            </a:pPr>
            <a:r>
              <a:rPr lang="en-US" sz="1300" dirty="0">
                <a:solidFill>
                  <a:schemeClr val="accent4"/>
                </a:solidFill>
              </a:rPr>
              <a:t>tokens de salida</a:t>
            </a:r>
            <a:endParaRPr lang="en-US" sz="1300" dirty="0"/>
          </a:p>
        </p:txBody>
      </p:sp>
      <p:sp>
        <p:nvSpPr>
          <p:cNvPr id="26" name="Text 21"/>
          <p:cNvSpPr txBox="1"/>
          <p:nvPr/>
        </p:nvSpPr>
        <p:spPr>
          <a:xfrm>
            <a:off x="9040901" y="4846320"/>
            <a:ext cx="2602154"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$0,0507</a:t>
            </a:r>
            <a:endParaRPr lang="en-US" sz="2800" dirty="0"/>
          </a:p>
        </p:txBody>
      </p:sp>
      <p:sp>
        <p:nvSpPr>
          <p:cNvPr id="27" name="Text 22"/>
          <p:cNvSpPr txBox="1"/>
          <p:nvPr/>
        </p:nvSpPr>
        <p:spPr>
          <a:xfrm>
            <a:off x="9040901" y="5394960"/>
            <a:ext cx="2602154" cy="320040"/>
          </a:xfrm>
          <a:prstGeom prst="rect">
            <a:avLst/>
          </a:prstGeom>
          <a:noFill/>
          <a:ln/>
        </p:spPr>
        <p:txBody>
          <a:bodyPr wrap="square" lIns="0" tIns="0" rIns="0" bIns="0" rtlCol="0" anchor="t"/>
          <a:lstStyle/>
          <a:p>
            <a:pPr indent="0" marL="0">
              <a:buNone/>
            </a:pPr>
            <a:r>
              <a:rPr lang="en-US" sz="1300" dirty="0">
                <a:solidFill>
                  <a:schemeClr val="accent4"/>
                </a:solidFill>
              </a:rPr>
              <a:t>costo total</a:t>
            </a:r>
            <a:endParaRPr lang="en-US" sz="1300" dirty="0"/>
          </a:p>
        </p:txBody>
      </p:sp>
      <p:sp>
        <p:nvSpPr>
          <p:cNvPr id="28" name="Text 23"/>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500" b="1" dirty="0">
                <a:solidFill>
                  <a:schemeClr val="accent2"/>
                </a:solidFill>
              </a:rPr>
              <a:t>Lo que Claude no hace: </a:t>
            </a:r>
            <a:pPr indent="0" marL="0">
              <a:buNone/>
            </a:pPr>
            <a:r>
              <a:rPr lang="en-US" sz="1500" dirty="0">
                <a:solidFill>
                  <a:schemeClr val="tx2"/>
                </a:solidFill>
              </a:rPr>
              <a:t>decidir estados, elegir evidencia ni escribir pasos.</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Intención: Claude y una red de seguridad</a:t>
            </a:r>
            <a:endParaRPr lang="en-US" sz="3200" dirty="0"/>
          </a:p>
        </p:txBody>
      </p:sp>
      <p:sp>
        <p:nvSpPr>
          <p:cNvPr id="4" name="Text 1"/>
          <p:cNvSpPr/>
          <p:nvPr/>
        </p:nvSpPr>
        <p:spPr>
          <a:xfrm>
            <a:off x="548640" y="1417320"/>
            <a:ext cx="548640" cy="54864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2"/>
          <p:cNvSpPr txBox="1"/>
          <p:nvPr/>
        </p:nvSpPr>
        <p:spPr>
          <a:xfrm>
            <a:off x="1325880" y="1371600"/>
            <a:ext cx="5120640" cy="1188720"/>
          </a:xfrm>
          <a:prstGeom prst="rect">
            <a:avLst/>
          </a:prstGeom>
          <a:noFill/>
          <a:ln/>
        </p:spPr>
        <p:txBody>
          <a:bodyPr wrap="square" lIns="0" tIns="0" rIns="0" bIns="0" rtlCol="0" anchor="t"/>
          <a:lstStyle/>
          <a:p>
            <a:pPr indent="0" marL="0">
              <a:buNone/>
            </a:pPr>
            <a:r>
              <a:rPr lang="en-US" sz="1700" b="1" dirty="0">
                <a:solidFill>
                  <a:schemeClr val="tx1"/>
                </a:solidFill>
              </a:rPr>
              <a:t>Claude decide</a:t>
            </a:r>
            <a:endParaRPr lang="en-US" sz="1400" dirty="0"/>
          </a:p>
          <a:p>
            <a:pPr indent="0" marL="0">
              <a:buNone/>
            </a:pPr>
            <a:r>
              <a:rPr lang="en-US" sz="1400" dirty="0">
                <a:solidFill>
                  <a:schemeClr val="tx2"/>
                </a:solidFill>
              </a:rPr>
              <a:t>Prompt de política y JSON con esquema fijo: authorizes_deletion, request_type, language, rationale.</a:t>
            </a:r>
            <a:endParaRPr lang="en-US" sz="1400" dirty="0"/>
          </a:p>
        </p:txBody>
      </p:sp>
      <p:sp>
        <p:nvSpPr>
          <p:cNvPr id="6" name="Text 3"/>
          <p:cNvSpPr/>
          <p:nvPr/>
        </p:nvSpPr>
        <p:spPr>
          <a:xfrm>
            <a:off x="548640" y="2743200"/>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325880" y="2697480"/>
            <a:ext cx="5120640" cy="1188720"/>
          </a:xfrm>
          <a:prstGeom prst="rect">
            <a:avLst/>
          </a:prstGeom>
          <a:noFill/>
          <a:ln/>
        </p:spPr>
        <p:txBody>
          <a:bodyPr wrap="square" lIns="0" tIns="0" rIns="0" bIns="0" rtlCol="0" anchor="t"/>
          <a:lstStyle/>
          <a:p>
            <a:pPr indent="0" marL="0">
              <a:buNone/>
            </a:pPr>
            <a:r>
              <a:rPr lang="en-US" sz="1700" b="1" dirty="0">
                <a:solidFill>
                  <a:schemeClr val="tx1"/>
                </a:solidFill>
              </a:rPr>
              <a:t>Las palabras clave vigilan</a:t>
            </a:r>
            <a:endParaRPr lang="en-US" sz="1400" dirty="0"/>
          </a:p>
          <a:p>
            <a:pPr indent="0" marL="0">
              <a:buNone/>
            </a:pPr>
            <a:r>
              <a:rPr lang="en-US" sz="1400" dirty="0">
                <a:solidFill>
                  <a:schemeClr val="tx2"/>
                </a:solidFill>
              </a:rPr>
              <a:t>Primero frases de «no borrar» en 7 idiomas; después verbos de borrado multilingües.</a:t>
            </a:r>
            <a:endParaRPr lang="en-US" sz="1400" dirty="0"/>
          </a:p>
        </p:txBody>
      </p:sp>
      <p:sp>
        <p:nvSpPr>
          <p:cNvPr id="8" name="Text 5"/>
          <p:cNvSpPr/>
          <p:nvPr/>
        </p:nvSpPr>
        <p:spPr>
          <a:xfrm>
            <a:off x="548640" y="4069080"/>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325880" y="4023360"/>
            <a:ext cx="5120640" cy="1188720"/>
          </a:xfrm>
          <a:prstGeom prst="rect">
            <a:avLst/>
          </a:prstGeom>
          <a:noFill/>
          <a:ln/>
        </p:spPr>
        <p:txBody>
          <a:bodyPr wrap="square" lIns="0" tIns="0" rIns="0" bIns="0" rtlCol="0" anchor="t"/>
          <a:lstStyle/>
          <a:p>
            <a:pPr indent="0" marL="0">
              <a:buNone/>
            </a:pPr>
            <a:r>
              <a:rPr lang="en-US" sz="1700" b="1" dirty="0">
                <a:solidFill>
                  <a:schemeClr val="tx1"/>
                </a:solidFill>
              </a:rPr>
              <a:t>Si falla o discrepa</a:t>
            </a:r>
            <a:endParaRPr lang="en-US" sz="1400" dirty="0"/>
          </a:p>
          <a:p>
            <a:pPr indent="0" marL="0">
              <a:buNone/>
            </a:pPr>
            <a:r>
              <a:rPr lang="en-US" sz="1400" dirty="0">
                <a:solidFill>
                  <a:schemeClr val="tx2"/>
                </a:solidFill>
              </a:rPr>
              <a:t>Sin respuesta del modelo decide el respaldo; una discrepancia queda anotada en la traza.</a:t>
            </a:r>
            <a:endParaRPr lang="en-US" sz="1400" dirty="0"/>
          </a:p>
        </p:txBody>
      </p:sp>
      <p:sp>
        <p:nvSpPr>
          <p:cNvPr id="10" name="Shape 7"/>
          <p:cNvSpPr/>
          <p:nvPr/>
        </p:nvSpPr>
        <p:spPr>
          <a:xfrm>
            <a:off x="548640" y="5440680"/>
            <a:ext cx="5852160" cy="777240"/>
          </a:xfrm>
          <a:prstGeom prst="roundRect">
            <a:avLst>
              <a:gd name="adj" fmla="val 11765"/>
            </a:avLst>
          </a:prstGeom>
          <a:solidFill>
            <a:schemeClr val="bg2"/>
          </a:solidFill>
          <a:ln w="9525">
            <a:solidFill>
              <a:schemeClr val="bg2"/>
            </a:solidFill>
            <a:prstDash val="solid"/>
          </a:ln>
        </p:spPr>
      </p:sp>
      <p:sp>
        <p:nvSpPr>
          <p:cNvPr id="11" name="Text 8"/>
          <p:cNvSpPr txBox="1"/>
          <p:nvPr/>
        </p:nvSpPr>
        <p:spPr>
          <a:xfrm>
            <a:off x="777240" y="5440680"/>
            <a:ext cx="5486400" cy="777240"/>
          </a:xfrm>
          <a:prstGeom prst="rect">
            <a:avLst/>
          </a:prstGeom>
          <a:noFill/>
          <a:ln/>
        </p:spPr>
        <p:txBody>
          <a:bodyPr wrap="square" lIns="0" tIns="0" rIns="0" bIns="0" rtlCol="0" anchor="ctr"/>
          <a:lstStyle/>
          <a:p>
            <a:pPr indent="0" marL="0">
              <a:buNone/>
            </a:pPr>
            <a:r>
              <a:rPr lang="en-US" sz="1800" b="1" dirty="0">
                <a:solidFill>
                  <a:schemeClr val="accent2"/>
                </a:solidFill>
              </a:rPr>
              <a:t>10 de 518 </a:t>
            </a:r>
            <a:pPr indent="0" marL="0">
              <a:buNone/>
            </a:pPr>
            <a:r>
              <a:rPr lang="en-US" sz="1300" dirty="0">
                <a:solidFill>
                  <a:schemeClr val="tx2"/>
                </a:solidFill>
              </a:rPr>
              <a:t>no autorizan borrar: correcciones, baja de marketing, exportación, acceso y facturas, ayuda de login.</a:t>
            </a:r>
            <a:endParaRPr lang="en-US" sz="1300" dirty="0"/>
          </a:p>
        </p:txBody>
      </p:sp>
      <p:sp>
        <p:nvSpPr>
          <p:cNvPr id="12" name="Shape 9"/>
          <p:cNvSpPr/>
          <p:nvPr/>
        </p:nvSpPr>
        <p:spPr>
          <a:xfrm>
            <a:off x="6720840" y="1325880"/>
            <a:ext cx="4919472" cy="4892040"/>
          </a:xfrm>
          <a:prstGeom prst="roundRect">
            <a:avLst>
              <a:gd name="adj" fmla="val 1869"/>
            </a:avLst>
          </a:prstGeom>
          <a:solidFill>
            <a:schemeClr val="tx1"/>
          </a:solidFill>
          <a:ln w="9525">
            <a:solidFill>
              <a:schemeClr val="tx1"/>
            </a:solidFill>
            <a:prstDash val="solid"/>
          </a:ln>
        </p:spPr>
      </p:sp>
      <p:sp>
        <p:nvSpPr>
          <p:cNvPr id="13" name="Text 10"/>
          <p:cNvSpPr txBox="1"/>
          <p:nvPr/>
        </p:nvSpPr>
        <p:spPr>
          <a:xfrm>
            <a:off x="6995160" y="1554480"/>
            <a:ext cx="4389120" cy="365760"/>
          </a:xfrm>
          <a:prstGeom prst="rect">
            <a:avLst/>
          </a:prstGeom>
          <a:noFill/>
          <a:ln/>
        </p:spPr>
        <p:txBody>
          <a:bodyPr wrap="square" lIns="0" tIns="0" rIns="0" bIns="0" rtlCol="0" anchor="t"/>
          <a:lstStyle/>
          <a:p>
            <a:pPr indent="0" marL="0">
              <a:buNone/>
            </a:pPr>
            <a:r>
              <a:rPr lang="en-US" sz="1400" b="1" dirty="0">
                <a:solidFill>
                  <a:schemeClr val="accent5"/>
                </a:solidFill>
              </a:rPr>
              <a:t>Caso propio custom_01</a:t>
            </a:r>
            <a:endParaRPr lang="en-US" sz="1400" dirty="0"/>
          </a:p>
        </p:txBody>
      </p:sp>
      <p:sp>
        <p:nvSpPr>
          <p:cNvPr id="14" name="Text 11"/>
          <p:cNvSpPr txBox="1"/>
          <p:nvPr/>
        </p:nvSpPr>
        <p:spPr>
          <a:xfrm>
            <a:off x="6995160" y="2011680"/>
            <a:ext cx="4389120" cy="1463040"/>
          </a:xfrm>
          <a:prstGeom prst="rect">
            <a:avLst/>
          </a:prstGeom>
          <a:noFill/>
          <a:ln/>
        </p:spPr>
        <p:txBody>
          <a:bodyPr wrap="square" lIns="0" tIns="0" rIns="0" bIns="0" rtlCol="0" anchor="t"/>
          <a:lstStyle/>
          <a:p>
            <a:pPr indent="0" marL="0">
              <a:buNone/>
            </a:pPr>
            <a:r>
              <a:rPr lang="en-US" sz="1800" i="1" dirty="0">
                <a:solidFill>
                  <a:schemeClr val="bg1"/>
                </a:solidFill>
              </a:rPr>
              <a:t>«¿Pueden enviarme una copia de los datos personales que tienen sobre mí? No quiero borrar la cuenta.»</a:t>
            </a:r>
            <a:endParaRPr lang="en-US" sz="1800" dirty="0"/>
          </a:p>
        </p:txBody>
      </p:sp>
      <p:sp>
        <p:nvSpPr>
          <p:cNvPr id="15" name="Text 12"/>
          <p:cNvSpPr txBox="1"/>
          <p:nvPr/>
        </p:nvSpPr>
        <p:spPr>
          <a:xfrm>
            <a:off x="6995160" y="3657600"/>
            <a:ext cx="4389120" cy="1097280"/>
          </a:xfrm>
          <a:prstGeom prst="rect">
            <a:avLst/>
          </a:prstGeom>
          <a:noFill/>
          <a:ln/>
        </p:spPr>
        <p:txBody>
          <a:bodyPr wrap="square" lIns="0" tIns="0" rIns="0" bIns="0" rtlCol="0" anchor="t"/>
          <a:lstStyle/>
          <a:p>
            <a:pPr indent="0" marL="0">
              <a:buNone/>
            </a:pPr>
            <a:r>
              <a:rPr lang="en-US" sz="1400" dirty="0">
                <a:solidFill>
                  <a:schemeClr val="bg2"/>
                </a:solidFill>
              </a:rPr>
              <a:t>Contiene «borrar», pero es una solicitud de acceso que rechaza el borrado.</a:t>
            </a:r>
            <a:endParaRPr lang="en-US" sz="1400" dirty="0"/>
          </a:p>
          <a:p>
            <a:pPr indent="0" marL="0">
              <a:buNone/>
            </a:pPr>
            <a:r>
              <a:rPr lang="en-US" sz="1400" b="1" dirty="0">
                <a:solidFill>
                  <a:schemeClr val="accent3"/>
                </a:solidFill>
                <a:latin typeface="Courier New" pitchFamily="34" charset="0"/>
                <a:ea typeface="Courier New" pitchFamily="34" charset="-122"/>
                <a:cs typeface="Courier New" pitchFamily="34" charset="-120"/>
              </a:rPr>
              <a:t>→ NOT_APPLICABLE, []</a:t>
            </a:r>
            <a:endParaRPr lang="en-US" sz="1400" dirty="0"/>
          </a:p>
        </p:txBody>
      </p:sp>
      <p:sp>
        <p:nvSpPr>
          <p:cNvPr id="16" name="Text 13"/>
          <p:cNvSpPr txBox="1"/>
          <p:nvPr/>
        </p:nvSpPr>
        <p:spPr>
          <a:xfrm>
            <a:off x="6995160" y="4937760"/>
            <a:ext cx="4389120" cy="1097280"/>
          </a:xfrm>
          <a:prstGeom prst="rect">
            <a:avLst/>
          </a:prstGeom>
          <a:noFill/>
          <a:ln/>
        </p:spPr>
        <p:txBody>
          <a:bodyPr wrap="square" lIns="0" tIns="0" rIns="0" bIns="0" rtlCol="0" anchor="t"/>
          <a:lstStyle/>
          <a:p>
            <a:pPr indent="0" marL="0">
              <a:buNone/>
            </a:pPr>
            <a:r>
              <a:rPr lang="en-US" sz="1300" dirty="0">
                <a:solidFill>
                  <a:schemeClr val="accent5"/>
                </a:solidFill>
              </a:rPr>
              <a:t>La primera versión del respaldo fallaba aquí. Ahora las negaciones se revisan antes que los verbos.</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Visión: de una captura a observaciones</a:t>
            </a:r>
            <a:endParaRPr lang="en-US" sz="3200" dirty="0"/>
          </a:p>
        </p:txBody>
      </p:sp>
      <p:sp>
        <p:nvSpPr>
          <p:cNvPr id="4" name="Shape 1"/>
          <p:cNvSpPr/>
          <p:nvPr/>
        </p:nvSpPr>
        <p:spPr>
          <a:xfrm>
            <a:off x="548640" y="1325880"/>
            <a:ext cx="1965960" cy="822960"/>
          </a:xfrm>
          <a:prstGeom prst="roundRect">
            <a:avLst>
              <a:gd name="adj" fmla="val 11111"/>
            </a:avLst>
          </a:prstGeom>
          <a:solidFill>
            <a:schemeClr val="tx2"/>
          </a:solidFill>
          <a:ln w="9525">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685800" y="1508760"/>
            <a:ext cx="457200" cy="457200"/>
          </a:xfrm>
          <a:prstGeom prst="rect">
            <a:avLst/>
          </a:prstGeom>
        </p:spPr>
      </p:pic>
      <p:sp>
        <p:nvSpPr>
          <p:cNvPr id="6" name="Text 2"/>
          <p:cNvSpPr txBox="1"/>
          <p:nvPr/>
        </p:nvSpPr>
        <p:spPr>
          <a:xfrm>
            <a:off x="1234440" y="1325880"/>
            <a:ext cx="1188720" cy="822960"/>
          </a:xfrm>
          <a:prstGeom prst="rect">
            <a:avLst/>
          </a:prstGeom>
          <a:noFill/>
          <a:ln/>
        </p:spPr>
        <p:txBody>
          <a:bodyPr wrap="square" lIns="0" tIns="0" rIns="0" bIns="0" rtlCol="0" anchor="ctr"/>
          <a:lstStyle/>
          <a:p>
            <a:pPr indent="0" marL="0">
              <a:buNone/>
            </a:pPr>
            <a:r>
              <a:rPr lang="en-US" sz="1350" b="1" dirty="0">
                <a:solidFill>
                  <a:schemeClr val="bg1"/>
                </a:solidFill>
              </a:rPr>
              <a:t>Captura PNG</a:t>
            </a:r>
            <a:endParaRPr lang="en-US" sz="1350" dirty="0"/>
          </a:p>
        </p:txBody>
      </p:sp>
      <p:sp>
        <p:nvSpPr>
          <p:cNvPr id="7" name="Shape 3"/>
          <p:cNvSpPr/>
          <p:nvPr/>
        </p:nvSpPr>
        <p:spPr>
          <a:xfrm>
            <a:off x="2542032" y="1737360"/>
            <a:ext cx="261290" cy="0"/>
          </a:xfrm>
          <a:prstGeom prst="line">
            <a:avLst/>
          </a:prstGeom>
          <a:noFill/>
          <a:ln w="25400">
            <a:solidFill>
              <a:schemeClr val="accent4"/>
            </a:solidFill>
            <a:prstDash val="solid"/>
            <a:tailEnd type="triangle"/>
          </a:ln>
        </p:spPr>
      </p:sp>
      <p:sp>
        <p:nvSpPr>
          <p:cNvPr id="8" name="Shape 4"/>
          <p:cNvSpPr/>
          <p:nvPr/>
        </p:nvSpPr>
        <p:spPr>
          <a:xfrm>
            <a:off x="2830754" y="1325880"/>
            <a:ext cx="1965960" cy="822960"/>
          </a:xfrm>
          <a:prstGeom prst="roundRect">
            <a:avLst>
              <a:gd name="adj" fmla="val 11111"/>
            </a:avLst>
          </a:prstGeom>
          <a:solidFill>
            <a:schemeClr val="accent3"/>
          </a:solidFill>
          <a:ln w="9525">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2967914" y="1508760"/>
            <a:ext cx="457200" cy="457200"/>
          </a:xfrm>
          <a:prstGeom prst="rect">
            <a:avLst/>
          </a:prstGeom>
        </p:spPr>
      </p:pic>
      <p:sp>
        <p:nvSpPr>
          <p:cNvPr id="10" name="Text 5"/>
          <p:cNvSpPr txBox="1"/>
          <p:nvPr/>
        </p:nvSpPr>
        <p:spPr>
          <a:xfrm>
            <a:off x="3516554" y="1325880"/>
            <a:ext cx="1188720" cy="822960"/>
          </a:xfrm>
          <a:prstGeom prst="rect">
            <a:avLst/>
          </a:prstGeom>
          <a:noFill/>
          <a:ln/>
        </p:spPr>
        <p:txBody>
          <a:bodyPr wrap="square" lIns="0" tIns="0" rIns="0" bIns="0" rtlCol="0" anchor="ctr"/>
          <a:lstStyle/>
          <a:p>
            <a:pPr indent="0" marL="0">
              <a:buNone/>
            </a:pPr>
            <a:r>
              <a:rPr lang="en-US" sz="1350" b="1" dirty="0">
                <a:solidFill>
                  <a:schemeClr val="tx1"/>
                </a:solidFill>
              </a:rPr>
              <a:t>Claude visión</a:t>
            </a:r>
            <a:endParaRPr lang="en-US" sz="1350" dirty="0"/>
          </a:p>
        </p:txBody>
      </p:sp>
      <p:sp>
        <p:nvSpPr>
          <p:cNvPr id="11" name="Shape 6"/>
          <p:cNvSpPr/>
          <p:nvPr/>
        </p:nvSpPr>
        <p:spPr>
          <a:xfrm>
            <a:off x="4824146" y="1737360"/>
            <a:ext cx="261290" cy="0"/>
          </a:xfrm>
          <a:prstGeom prst="line">
            <a:avLst/>
          </a:prstGeom>
          <a:noFill/>
          <a:ln w="25400">
            <a:solidFill>
              <a:schemeClr val="accent4"/>
            </a:solidFill>
            <a:prstDash val="solid"/>
            <a:tailEnd type="triangle"/>
          </a:ln>
        </p:spPr>
      </p:sp>
      <p:sp>
        <p:nvSpPr>
          <p:cNvPr id="12" name="Shape 7"/>
          <p:cNvSpPr/>
          <p:nvPr/>
        </p:nvSpPr>
        <p:spPr>
          <a:xfrm>
            <a:off x="5112868" y="1325880"/>
            <a:ext cx="1965960" cy="822960"/>
          </a:xfrm>
          <a:prstGeom prst="roundRect">
            <a:avLst>
              <a:gd name="adj" fmla="val 11111"/>
            </a:avLst>
          </a:prstGeom>
          <a:solidFill>
            <a:schemeClr val="tx2"/>
          </a:solidFill>
          <a:ln w="9525">
            <a:solidFill>
              <a:schemeClr val="tx2"/>
            </a:solidFill>
            <a:prstDash val="solid"/>
          </a:ln>
        </p:spPr>
      </p:sp>
      <p:pic>
        <p:nvPicPr>
          <p:cNvPr id="13" name="Image 2" descr="preencoded.png">    </p:cNvPr>
          <p:cNvPicPr>
            <a:picLocks noChangeAspect="1"/>
          </p:cNvPicPr>
          <p:nvPr/>
        </p:nvPicPr>
        <p:blipFill>
          <a:blip r:embed="rId3"/>
          <a:stretch>
            <a:fillRect/>
          </a:stretch>
        </p:blipFill>
        <p:spPr>
          <a:xfrm>
            <a:off x="5250028" y="1508760"/>
            <a:ext cx="457200" cy="457200"/>
          </a:xfrm>
          <a:prstGeom prst="rect">
            <a:avLst/>
          </a:prstGeom>
        </p:spPr>
      </p:pic>
      <p:sp>
        <p:nvSpPr>
          <p:cNvPr id="14" name="Text 8"/>
          <p:cNvSpPr txBox="1"/>
          <p:nvPr/>
        </p:nvSpPr>
        <p:spPr>
          <a:xfrm>
            <a:off x="5798668" y="1325880"/>
            <a:ext cx="1188720" cy="822960"/>
          </a:xfrm>
          <a:prstGeom prst="rect">
            <a:avLst/>
          </a:prstGeom>
          <a:noFill/>
          <a:ln/>
        </p:spPr>
        <p:txBody>
          <a:bodyPr wrap="square" lIns="0" tIns="0" rIns="0" bIns="0" rtlCol="0" anchor="ctr"/>
          <a:lstStyle/>
          <a:p>
            <a:pPr indent="0" marL="0">
              <a:buNone/>
            </a:pPr>
            <a:r>
              <a:rPr lang="en-US" sz="1350" b="1" dirty="0">
                <a:solidFill>
                  <a:schemeClr val="bg1"/>
                </a:solidFill>
              </a:rPr>
              <a:t>JSON con esquema</a:t>
            </a:r>
            <a:endParaRPr lang="en-US" sz="1350" dirty="0"/>
          </a:p>
        </p:txBody>
      </p:sp>
      <p:sp>
        <p:nvSpPr>
          <p:cNvPr id="15" name="Shape 9"/>
          <p:cNvSpPr/>
          <p:nvPr/>
        </p:nvSpPr>
        <p:spPr>
          <a:xfrm>
            <a:off x="7106260" y="1737360"/>
            <a:ext cx="261290" cy="0"/>
          </a:xfrm>
          <a:prstGeom prst="line">
            <a:avLst/>
          </a:prstGeom>
          <a:noFill/>
          <a:ln w="25400">
            <a:solidFill>
              <a:schemeClr val="accent4"/>
            </a:solidFill>
            <a:prstDash val="solid"/>
            <a:tailEnd type="triangle"/>
          </a:ln>
        </p:spPr>
      </p:sp>
      <p:sp>
        <p:nvSpPr>
          <p:cNvPr id="16" name="Shape 10"/>
          <p:cNvSpPr/>
          <p:nvPr/>
        </p:nvSpPr>
        <p:spPr>
          <a:xfrm>
            <a:off x="7394981" y="1325880"/>
            <a:ext cx="1965960" cy="822960"/>
          </a:xfrm>
          <a:prstGeom prst="roundRect">
            <a:avLst>
              <a:gd name="adj" fmla="val 11111"/>
            </a:avLst>
          </a:prstGeom>
          <a:solidFill>
            <a:schemeClr val="accent1"/>
          </a:solidFill>
          <a:ln w="9525">
            <a:solidFill>
              <a:schemeClr val="accent1"/>
            </a:solidFill>
            <a:prstDash val="solid"/>
          </a:ln>
        </p:spPr>
      </p:sp>
      <p:pic>
        <p:nvPicPr>
          <p:cNvPr id="17" name="Image 3" descr="preencoded.png">    </p:cNvPr>
          <p:cNvPicPr>
            <a:picLocks noChangeAspect="1"/>
          </p:cNvPicPr>
          <p:nvPr/>
        </p:nvPicPr>
        <p:blipFill>
          <a:blip r:embed="rId4"/>
          <a:stretch>
            <a:fillRect/>
          </a:stretch>
        </p:blipFill>
        <p:spPr>
          <a:xfrm>
            <a:off x="7532141" y="1508760"/>
            <a:ext cx="457200" cy="457200"/>
          </a:xfrm>
          <a:prstGeom prst="rect">
            <a:avLst/>
          </a:prstGeom>
        </p:spPr>
      </p:pic>
      <p:sp>
        <p:nvSpPr>
          <p:cNvPr id="18" name="Text 11"/>
          <p:cNvSpPr txBox="1"/>
          <p:nvPr/>
        </p:nvSpPr>
        <p:spPr>
          <a:xfrm>
            <a:off x="8080781" y="1325880"/>
            <a:ext cx="1188720" cy="822960"/>
          </a:xfrm>
          <a:prstGeom prst="rect">
            <a:avLst/>
          </a:prstGeom>
          <a:noFill/>
          <a:ln/>
        </p:spPr>
        <p:txBody>
          <a:bodyPr wrap="square" lIns="0" tIns="0" rIns="0" bIns="0" rtlCol="0" anchor="ctr"/>
          <a:lstStyle/>
          <a:p>
            <a:pPr indent="0" marL="0">
              <a:buNone/>
            </a:pPr>
            <a:r>
              <a:rPr lang="en-US" sz="1350" b="1" dirty="0">
                <a:solidFill>
                  <a:schemeClr val="bg1"/>
                </a:solidFill>
              </a:rPr>
              <a:t>record_state() valida</a:t>
            </a:r>
            <a:endParaRPr lang="en-US" sz="1350" dirty="0"/>
          </a:p>
        </p:txBody>
      </p:sp>
      <p:sp>
        <p:nvSpPr>
          <p:cNvPr id="19" name="Shape 12"/>
          <p:cNvSpPr/>
          <p:nvPr/>
        </p:nvSpPr>
        <p:spPr>
          <a:xfrm>
            <a:off x="9388373" y="1737360"/>
            <a:ext cx="261290" cy="0"/>
          </a:xfrm>
          <a:prstGeom prst="line">
            <a:avLst/>
          </a:prstGeom>
          <a:noFill/>
          <a:ln w="25400">
            <a:solidFill>
              <a:schemeClr val="accent4"/>
            </a:solidFill>
            <a:prstDash val="solid"/>
            <a:tailEnd type="triangle"/>
          </a:ln>
        </p:spPr>
      </p:sp>
      <p:sp>
        <p:nvSpPr>
          <p:cNvPr id="20" name="Shape 13"/>
          <p:cNvSpPr/>
          <p:nvPr/>
        </p:nvSpPr>
        <p:spPr>
          <a:xfrm>
            <a:off x="9677095" y="1325880"/>
            <a:ext cx="1965960" cy="822960"/>
          </a:xfrm>
          <a:prstGeom prst="roundRect">
            <a:avLst>
              <a:gd name="adj" fmla="val 11111"/>
            </a:avLst>
          </a:prstGeom>
          <a:solidFill>
            <a:schemeClr val="accent1"/>
          </a:solidFill>
          <a:ln w="9525">
            <a:solidFill>
              <a:schemeClr val="accent1"/>
            </a:solidFill>
            <a:prstDash val="solid"/>
          </a:ln>
        </p:spPr>
      </p:sp>
      <p:pic>
        <p:nvPicPr>
          <p:cNvPr id="21" name="Image 4" descr="preencoded.png">    </p:cNvPr>
          <p:cNvPicPr>
            <a:picLocks noChangeAspect="1"/>
          </p:cNvPicPr>
          <p:nvPr/>
        </p:nvPicPr>
        <p:blipFill>
          <a:blip r:embed="rId5"/>
          <a:stretch>
            <a:fillRect/>
          </a:stretch>
        </p:blipFill>
        <p:spPr>
          <a:xfrm>
            <a:off x="9814255" y="1508760"/>
            <a:ext cx="457200" cy="457200"/>
          </a:xfrm>
          <a:prstGeom prst="rect">
            <a:avLst/>
          </a:prstGeom>
        </p:spPr>
      </p:pic>
      <p:sp>
        <p:nvSpPr>
          <p:cNvPr id="22" name="Text 14"/>
          <p:cNvSpPr txBox="1"/>
          <p:nvPr/>
        </p:nvSpPr>
        <p:spPr>
          <a:xfrm>
            <a:off x="10362895" y="1325880"/>
            <a:ext cx="1188720" cy="822960"/>
          </a:xfrm>
          <a:prstGeom prst="rect">
            <a:avLst/>
          </a:prstGeom>
          <a:noFill/>
          <a:ln/>
        </p:spPr>
        <p:txBody>
          <a:bodyPr wrap="square" lIns="0" tIns="0" rIns="0" bIns="0" rtlCol="0" anchor="ctr"/>
          <a:lstStyle/>
          <a:p>
            <a:pPr indent="0" marL="0">
              <a:buNone/>
            </a:pPr>
            <a:r>
              <a:rPr lang="en-US" sz="1350" b="1" dirty="0">
                <a:solidFill>
                  <a:schemeClr val="bg1"/>
                </a:solidFill>
              </a:rPr>
              <a:t>Observation</a:t>
            </a:r>
            <a:endParaRPr lang="en-US" sz="13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1097280"/>
                <a:gridCol w="2286000"/>
                <a:gridCol w="4480560"/>
                <a:gridCol w="3200400"/>
              </a:tblGrid>
              <a:tr h="457200">
                <a:tc>
                  <a:txBody>
                    <a:bodyPr/>
                    <a:lstStyle/>
                    <a:p>
                      <a:pPr indent="0" marL="0">
                        <a:buNone/>
                      </a:pPr>
                      <a:r>
                        <a:rPr lang="en-US" sz="1250" b="1" dirty="0">
                          <a:solidFill>
                            <a:schemeClr val="bg1"/>
                          </a:solidFill>
                        </a:rPr>
                        <a:t>Caso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Pantalla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Lo que se lee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Resultado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45720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case_34</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consola de cuentas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account_5762 en vivo con email y teléfono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REPORT_REMAINING_RECORD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5720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case_39</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consola de conectores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data_flow_1121 sano y sincronizando a la persona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REPORT_ACTIVE_DATA_FLOW</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case_46</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registro de referencias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el tombstone conserva solo user_17</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VERIFY_RECORD_REDACTED</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5720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case_53</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consola de soporte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support_1034 muestra nombre y email</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REPORT_EXPOSED_PII</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5720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case_55</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consola de backups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backup_9287 guarda la cuenta sin bloqueo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REPORT_RESTORE_RISK</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bl>
          </a:graphicData>
        </a:graphic>
      </p:graphicFrame>
      <p:sp>
        <p:nvSpPr>
          <p:cNvPr id="24" name="Shape 15"/>
          <p:cNvSpPr/>
          <p:nvPr/>
        </p:nvSpPr>
        <p:spPr>
          <a:xfrm>
            <a:off x="548640" y="5349240"/>
            <a:ext cx="11094415" cy="868680"/>
          </a:xfrm>
          <a:prstGeom prst="roundRect">
            <a:avLst>
              <a:gd name="adj" fmla="val 10526"/>
            </a:avLst>
          </a:prstGeom>
          <a:solidFill>
            <a:schemeClr val="bg2"/>
          </a:solidFill>
          <a:ln w="9525">
            <a:solidFill>
              <a:schemeClr val="bg2"/>
            </a:solidFill>
            <a:prstDash val="solid"/>
          </a:ln>
        </p:spPr>
      </p:sp>
      <p:sp>
        <p:nvSpPr>
          <p:cNvPr id="25" name="Shape 16"/>
          <p:cNvSpPr/>
          <p:nvPr/>
        </p:nvSpPr>
        <p:spPr>
          <a:xfrm>
            <a:off x="731520" y="5486400"/>
            <a:ext cx="548640" cy="548640"/>
          </a:xfrm>
          <a:prstGeom prst="ellipse">
            <a:avLst/>
          </a:prstGeom>
          <a:solidFill>
            <a:schemeClr val="accent1"/>
          </a:solidFill>
          <a:ln w="12700">
            <a:solidFill>
              <a:schemeClr val="accent1"/>
            </a:solidFill>
            <a:prstDash val="solid"/>
          </a:ln>
        </p:spPr>
      </p:sp>
      <p:pic>
        <p:nvPicPr>
          <p:cNvPr id="26" name="Image 5" descr="preencoded.png">    </p:cNvPr>
          <p:cNvPicPr>
            <a:picLocks noChangeAspect="1"/>
          </p:cNvPicPr>
          <p:nvPr/>
        </p:nvPicPr>
        <p:blipFill>
          <a:blip r:embed="rId6"/>
          <a:stretch>
            <a:fillRect/>
          </a:stretch>
        </p:blipFill>
        <p:spPr>
          <a:xfrm>
            <a:off x="852221" y="5607101"/>
            <a:ext cx="307238" cy="307238"/>
          </a:xfrm>
          <a:prstGeom prst="rect">
            <a:avLst/>
          </a:prstGeom>
        </p:spPr>
      </p:pic>
      <p:sp>
        <p:nvSpPr>
          <p:cNvPr id="27" name="Text 17"/>
          <p:cNvSpPr txBox="1"/>
          <p:nvPr/>
        </p:nvSpPr>
        <p:spPr>
          <a:xfrm>
            <a:off x="1463040" y="5349240"/>
            <a:ext cx="9997135" cy="868680"/>
          </a:xfrm>
          <a:prstGeom prst="rect">
            <a:avLst/>
          </a:prstGeom>
          <a:noFill/>
          <a:ln/>
        </p:spPr>
        <p:txBody>
          <a:bodyPr wrap="square" lIns="0" tIns="0" rIns="0" bIns="0" rtlCol="0" anchor="ctr"/>
          <a:lstStyle/>
          <a:p>
            <a:pPr indent="0" marL="0">
              <a:buNone/>
            </a:pPr>
            <a:r>
              <a:rPr lang="en-US" sz="1300" b="1" dirty="0">
                <a:solidFill>
                  <a:schemeClr val="tx2"/>
                </a:solidFill>
              </a:rPr>
              <a:t>Catálogo: </a:t>
            </a:r>
            <a:pPr indent="0" marL="0">
              <a:buNone/>
            </a:pPr>
            <a:r>
              <a:rPr lang="en-US" sz="1300" dirty="0">
                <a:solidFill>
                  <a:schemeClr val="tx2"/>
                </a:solidFill>
              </a:rPr>
              <a:t>cuando una pantalla o un PDF nombra el registro por una referencia (NST-2026-0718-1842, user_17), LINK_RESOURCE_IDENTITY la une con su resource_id y con la persona. 12 casos de evaluación dependen de esto.</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Caché, modos y reproducibilidad</a:t>
            </a:r>
            <a:endParaRPr lang="en-US" sz="3200" dirty="0"/>
          </a:p>
        </p:txBody>
      </p:sp>
      <p:sp>
        <p:nvSpPr>
          <p:cNvPr id="4"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700" b="1" dirty="0">
                <a:solidFill>
                  <a:schemeClr val="tx1"/>
                </a:solidFill>
              </a:rPr>
              <a:t>La llave de la caché</a:t>
            </a:r>
            <a:endParaRPr lang="en-US" sz="1700" dirty="0"/>
          </a:p>
        </p:txBody>
      </p:sp>
      <p:sp>
        <p:nvSpPr>
          <p:cNvPr id="5" name="Shape 2"/>
          <p:cNvSpPr/>
          <p:nvPr/>
        </p:nvSpPr>
        <p:spPr>
          <a:xfrm>
            <a:off x="548640" y="1783080"/>
            <a:ext cx="5486400" cy="2148840"/>
          </a:xfrm>
          <a:prstGeom prst="roundRect">
            <a:avLst>
              <a:gd name="adj" fmla="val 3404"/>
            </a:avLst>
          </a:prstGeom>
          <a:solidFill>
            <a:schemeClr val="tx1"/>
          </a:solidFill>
          <a:ln w="9525">
            <a:solidFill>
              <a:schemeClr val="tx1"/>
            </a:solidFill>
            <a:prstDash val="solid"/>
          </a:ln>
        </p:spPr>
      </p:sp>
      <p:sp>
        <p:nvSpPr>
          <p:cNvPr id="6" name="Text 3"/>
          <p:cNvSpPr txBox="1"/>
          <p:nvPr/>
        </p:nvSpPr>
        <p:spPr>
          <a:xfrm>
            <a:off x="731520" y="1920240"/>
            <a:ext cx="5120640" cy="1874520"/>
          </a:xfrm>
          <a:prstGeom prst="rect">
            <a:avLst/>
          </a:prstGeom>
          <a:noFill/>
          <a:ln/>
        </p:spPr>
        <p:txBody>
          <a:bodyPr wrap="square" lIns="0" tIns="0" rIns="0" bIns="0" rtlCol="0" anchor="t"/>
          <a:lstStyle/>
          <a:p>
            <a:pPr indent="0" marL="0">
              <a:buNone/>
            </a:pPr>
            <a:r>
              <a:rPr lang="en-US" sz="1250" dirty="0">
                <a:solidFill>
                  <a:schemeClr val="bg2"/>
                </a:solidFill>
                <a:latin typeface="Courier New" pitchFamily="34" charset="0"/>
                <a:ea typeface="Courier New" pitchFamily="34" charset="-122"/>
                <a:cs typeface="Courier New" pitchFamily="34" charset="-120"/>
              </a:rPr>
              <a:t>llave = sha256(modelo, prompt,</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contenido,  </a:t>
            </a:r>
            <a:pPr indent="0" marL="0">
              <a:buNone/>
            </a:pPr>
            <a:r>
              <a:rPr lang="en-US" sz="1250" dirty="0">
                <a:solidFill>
                  <a:schemeClr val="accent5"/>
                </a:solidFill>
                <a:latin typeface="Courier New" pitchFamily="34" charset="0"/>
                <a:ea typeface="Courier New" pitchFamily="34" charset="-122"/>
                <a:cs typeface="Courier New" pitchFamily="34" charset="-120"/>
              </a:rPr>
              <a:t># imagen: su sha256</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esquema, max_tokens)</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code/cache/llm/ab/abcd….json</a:t>
            </a:r>
            <a:endParaRPr lang="en-US" sz="1250" dirty="0"/>
          </a:p>
          <a:p>
            <a:pPr indent="0" marL="0">
              <a:buNone/>
            </a:pPr>
            <a:r>
              <a:rPr lang="en-US" sz="1250" dirty="0">
                <a:solidFill>
                  <a:schemeClr val="bg2"/>
                </a:solidFill>
                <a:latin typeface="Courier New" pitchFamily="34" charset="0"/>
                <a:ea typeface="Courier New" pitchFamily="34" charset="-122"/>
                <a:cs typeface="Courier New" pitchFamily="34" charset="-120"/>
              </a:rPr>
              <a:t>  { model, purpose, usage, output }</a:t>
            </a:r>
            <a:endParaRPr lang="en-US" sz="1250" dirty="0"/>
          </a:p>
        </p:txBody>
      </p:sp>
      <p:sp>
        <p:nvSpPr>
          <p:cNvPr id="7" name="Shape 4"/>
          <p:cNvSpPr/>
          <p:nvPr/>
        </p:nvSpPr>
        <p:spPr>
          <a:xfrm>
            <a:off x="548640" y="4160520"/>
            <a:ext cx="5486400" cy="2057400"/>
          </a:xfrm>
          <a:prstGeom prst="roundRect">
            <a:avLst>
              <a:gd name="adj" fmla="val 4444"/>
            </a:avLst>
          </a:prstGeom>
          <a:solidFill>
            <a:schemeClr val="bg2"/>
          </a:solidFill>
          <a:ln w="9525">
            <a:solidFill>
              <a:schemeClr val="bg2"/>
            </a:solidFill>
            <a:prstDash val="solid"/>
          </a:ln>
        </p:spPr>
      </p:sp>
      <p:sp>
        <p:nvSpPr>
          <p:cNvPr id="8" name="Shape 5"/>
          <p:cNvSpPr/>
          <p:nvPr/>
        </p:nvSpPr>
        <p:spPr>
          <a:xfrm>
            <a:off x="777240" y="4343400"/>
            <a:ext cx="548640" cy="54864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897941" y="4464101"/>
            <a:ext cx="307238" cy="307238"/>
          </a:xfrm>
          <a:prstGeom prst="rect">
            <a:avLst/>
          </a:prstGeom>
        </p:spPr>
      </p:pic>
      <p:sp>
        <p:nvSpPr>
          <p:cNvPr id="10" name="Text 6"/>
          <p:cNvSpPr txBox="1"/>
          <p:nvPr/>
        </p:nvSpPr>
        <p:spPr>
          <a:xfrm>
            <a:off x="1508760" y="4343400"/>
            <a:ext cx="4297680" cy="548640"/>
          </a:xfrm>
          <a:prstGeom prst="rect">
            <a:avLst/>
          </a:prstGeom>
          <a:noFill/>
          <a:ln/>
        </p:spPr>
        <p:txBody>
          <a:bodyPr wrap="square" lIns="0" tIns="0" rIns="0" bIns="0" rtlCol="0" anchor="ctr"/>
          <a:lstStyle/>
          <a:p>
            <a:pPr indent="0" marL="0">
              <a:buNone/>
            </a:pPr>
            <a:r>
              <a:rPr lang="en-US" sz="1700" b="1" dirty="0">
                <a:solidFill>
                  <a:schemeClr val="tx1"/>
                </a:solidFill>
              </a:rPr>
              <a:t>Byte a byte</a:t>
            </a:r>
            <a:endParaRPr lang="en-US" sz="1700" dirty="0"/>
          </a:p>
        </p:txBody>
      </p:sp>
      <p:sp>
        <p:nvSpPr>
          <p:cNvPr id="11" name="Text 7"/>
          <p:cNvSpPr txBox="1"/>
          <p:nvPr/>
        </p:nvSpPr>
        <p:spPr>
          <a:xfrm>
            <a:off x="777240" y="4983480"/>
            <a:ext cx="5029200" cy="1188720"/>
          </a:xfrm>
          <a:prstGeom prst="rect">
            <a:avLst/>
          </a:prstGeom>
          <a:noFill/>
          <a:ln/>
        </p:spPr>
        <p:txBody>
          <a:bodyPr wrap="square" lIns="0" tIns="0" rIns="0" bIns="0" rtlCol="0" anchor="t"/>
          <a:lstStyle/>
          <a:p>
            <a:pPr indent="0" marL="0">
              <a:buNone/>
            </a:pPr>
            <a:r>
              <a:rPr lang="en-US" sz="1300" dirty="0">
                <a:solidFill>
                  <a:schemeClr val="tx2"/>
                </a:solidFill>
              </a:rPr>
              <a:t>Un bucle sobre un set hacía depender 12 filas de PYTHONHASHSEED. Ahora todos los desempates iteran en orden: misma salida con semillas 0 a 5, verificado por una prueba.</a:t>
            </a:r>
            <a:endParaRPr lang="en-US" sz="1300" dirty="0"/>
          </a:p>
        </p:txBody>
      </p:sp>
      <p:sp>
        <p:nvSpPr>
          <p:cNvPr id="12" name="Shape 8"/>
          <p:cNvSpPr/>
          <p:nvPr/>
        </p:nvSpPr>
        <p:spPr>
          <a:xfrm>
            <a:off x="6355080" y="1325880"/>
            <a:ext cx="2542032" cy="2286000"/>
          </a:xfrm>
          <a:prstGeom prst="roundRect">
            <a:avLst>
              <a:gd name="adj" fmla="val 4000"/>
            </a:avLst>
          </a:prstGeom>
          <a:solidFill>
            <a:schemeClr val="bg1"/>
          </a:solidFill>
          <a:ln w="12700">
            <a:solidFill>
              <a:srgbClr val="D3DCE1"/>
            </a:solidFill>
            <a:prstDash val="solid"/>
          </a:ln>
        </p:spPr>
      </p:sp>
      <p:sp>
        <p:nvSpPr>
          <p:cNvPr id="13" name="Shape 9"/>
          <p:cNvSpPr/>
          <p:nvPr/>
        </p:nvSpPr>
        <p:spPr>
          <a:xfrm>
            <a:off x="6537960" y="1508760"/>
            <a:ext cx="548640" cy="54864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6658661" y="1629461"/>
            <a:ext cx="307238" cy="307238"/>
          </a:xfrm>
          <a:prstGeom prst="rect">
            <a:avLst/>
          </a:prstGeom>
        </p:spPr>
      </p:pic>
      <p:sp>
        <p:nvSpPr>
          <p:cNvPr id="15" name="Text 10"/>
          <p:cNvSpPr txBox="1"/>
          <p:nvPr/>
        </p:nvSpPr>
        <p:spPr>
          <a:xfrm>
            <a:off x="6537960" y="2194560"/>
            <a:ext cx="2176272"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--llm auto</a:t>
            </a:r>
            <a:endParaRPr lang="en-US" sz="1500" dirty="0"/>
          </a:p>
        </p:txBody>
      </p:sp>
      <p:sp>
        <p:nvSpPr>
          <p:cNvPr id="16" name="Text 11"/>
          <p:cNvSpPr txBox="1"/>
          <p:nvPr/>
        </p:nvSpPr>
        <p:spPr>
          <a:xfrm>
            <a:off x="6537960" y="2606040"/>
            <a:ext cx="2176272" cy="914400"/>
          </a:xfrm>
          <a:prstGeom prst="rect">
            <a:avLst/>
          </a:prstGeom>
          <a:noFill/>
          <a:ln/>
        </p:spPr>
        <p:txBody>
          <a:bodyPr wrap="square" lIns="0" tIns="0" rIns="0" bIns="0" rtlCol="0" anchor="t"/>
          <a:lstStyle/>
          <a:p>
            <a:pPr indent="0" marL="0">
              <a:buNone/>
            </a:pPr>
            <a:r>
              <a:rPr lang="en-US" sz="1300" dirty="0">
                <a:solidFill>
                  <a:schemeClr val="tx2"/>
                </a:solidFill>
              </a:rPr>
              <a:t>API si hay clave; si no, caché. Es el modo por defecto.</a:t>
            </a:r>
            <a:endParaRPr lang="en-US" sz="1300" dirty="0"/>
          </a:p>
        </p:txBody>
      </p:sp>
      <p:sp>
        <p:nvSpPr>
          <p:cNvPr id="17" name="Shape 12"/>
          <p:cNvSpPr/>
          <p:nvPr/>
        </p:nvSpPr>
        <p:spPr>
          <a:xfrm>
            <a:off x="9052560" y="1325880"/>
            <a:ext cx="2542032" cy="2286000"/>
          </a:xfrm>
          <a:prstGeom prst="roundRect">
            <a:avLst>
              <a:gd name="adj" fmla="val 4000"/>
            </a:avLst>
          </a:prstGeom>
          <a:solidFill>
            <a:schemeClr val="bg1"/>
          </a:solidFill>
          <a:ln w="12700">
            <a:solidFill>
              <a:srgbClr val="D3DCE1"/>
            </a:solidFill>
            <a:prstDash val="solid"/>
          </a:ln>
        </p:spPr>
      </p:sp>
      <p:sp>
        <p:nvSpPr>
          <p:cNvPr id="18" name="Shape 13"/>
          <p:cNvSpPr/>
          <p:nvPr/>
        </p:nvSpPr>
        <p:spPr>
          <a:xfrm>
            <a:off x="9235440" y="1508760"/>
            <a:ext cx="548640" cy="548640"/>
          </a:xfrm>
          <a:prstGeom prst="ellipse">
            <a:avLst/>
          </a:prstGeom>
          <a:solidFill>
            <a:schemeClr val="tx2"/>
          </a:solidFill>
          <a:ln w="12700">
            <a:solidFill>
              <a:schemeClr val="tx2"/>
            </a:solidFill>
            <a:prstDash val="solid"/>
          </a:ln>
        </p:spPr>
      </p:sp>
      <p:pic>
        <p:nvPicPr>
          <p:cNvPr id="19" name="Image 2" descr="preencoded.png">    </p:cNvPr>
          <p:cNvPicPr>
            <a:picLocks noChangeAspect="1"/>
          </p:cNvPicPr>
          <p:nvPr/>
        </p:nvPicPr>
        <p:blipFill>
          <a:blip r:embed="rId3"/>
          <a:stretch>
            <a:fillRect/>
          </a:stretch>
        </p:blipFill>
        <p:spPr>
          <a:xfrm>
            <a:off x="9356141" y="1629461"/>
            <a:ext cx="307238" cy="307238"/>
          </a:xfrm>
          <a:prstGeom prst="rect">
            <a:avLst/>
          </a:prstGeom>
        </p:spPr>
      </p:pic>
      <p:sp>
        <p:nvSpPr>
          <p:cNvPr id="20" name="Text 14"/>
          <p:cNvSpPr txBox="1"/>
          <p:nvPr/>
        </p:nvSpPr>
        <p:spPr>
          <a:xfrm>
            <a:off x="9235440" y="2194560"/>
            <a:ext cx="2176272"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--llm cache</a:t>
            </a:r>
            <a:endParaRPr lang="en-US" sz="1500" dirty="0"/>
          </a:p>
        </p:txBody>
      </p:sp>
      <p:sp>
        <p:nvSpPr>
          <p:cNvPr id="21" name="Text 15"/>
          <p:cNvSpPr txBox="1"/>
          <p:nvPr/>
        </p:nvSpPr>
        <p:spPr>
          <a:xfrm>
            <a:off x="9235440" y="2606040"/>
            <a:ext cx="2176272" cy="914400"/>
          </a:xfrm>
          <a:prstGeom prst="rect">
            <a:avLst/>
          </a:prstGeom>
          <a:noFill/>
          <a:ln/>
        </p:spPr>
        <p:txBody>
          <a:bodyPr wrap="square" lIns="0" tIns="0" rIns="0" bIns="0" rtlCol="0" anchor="t"/>
          <a:lstStyle/>
          <a:p>
            <a:pPr indent="0" marL="0">
              <a:buNone/>
            </a:pPr>
            <a:r>
              <a:rPr lang="en-US" sz="1300" dirty="0">
                <a:solidFill>
                  <a:schemeClr val="tx2"/>
                </a:solidFill>
              </a:rPr>
              <a:t>Nunca llama a la API. Reproduce la entrega sin clave.</a:t>
            </a:r>
            <a:endParaRPr lang="en-US" sz="1300" dirty="0"/>
          </a:p>
        </p:txBody>
      </p:sp>
      <p:sp>
        <p:nvSpPr>
          <p:cNvPr id="22" name="Shape 16"/>
          <p:cNvSpPr/>
          <p:nvPr/>
        </p:nvSpPr>
        <p:spPr>
          <a:xfrm>
            <a:off x="6355080" y="3794760"/>
            <a:ext cx="2542032" cy="2286000"/>
          </a:xfrm>
          <a:prstGeom prst="roundRect">
            <a:avLst>
              <a:gd name="adj" fmla="val 4000"/>
            </a:avLst>
          </a:prstGeom>
          <a:solidFill>
            <a:schemeClr val="bg1"/>
          </a:solidFill>
          <a:ln w="12700">
            <a:solidFill>
              <a:srgbClr val="D3DCE1"/>
            </a:solidFill>
            <a:prstDash val="solid"/>
          </a:ln>
        </p:spPr>
      </p:sp>
      <p:sp>
        <p:nvSpPr>
          <p:cNvPr id="23" name="Shape 17"/>
          <p:cNvSpPr/>
          <p:nvPr/>
        </p:nvSpPr>
        <p:spPr>
          <a:xfrm>
            <a:off x="6537960" y="3977640"/>
            <a:ext cx="548640" cy="548640"/>
          </a:xfrm>
          <a:prstGeom prst="ellipse">
            <a:avLst/>
          </a:prstGeom>
          <a:solidFill>
            <a:schemeClr val="accent3"/>
          </a:solidFill>
          <a:ln w="12700">
            <a:solidFill>
              <a:schemeClr val="accent3"/>
            </a:solidFill>
            <a:prstDash val="solid"/>
          </a:ln>
        </p:spPr>
      </p:sp>
      <p:pic>
        <p:nvPicPr>
          <p:cNvPr id="24" name="Image 3" descr="preencoded.png">    </p:cNvPr>
          <p:cNvPicPr>
            <a:picLocks noChangeAspect="1"/>
          </p:cNvPicPr>
          <p:nvPr/>
        </p:nvPicPr>
        <p:blipFill>
          <a:blip r:embed="rId4"/>
          <a:stretch>
            <a:fillRect/>
          </a:stretch>
        </p:blipFill>
        <p:spPr>
          <a:xfrm>
            <a:off x="6658661" y="4098341"/>
            <a:ext cx="307238" cy="307238"/>
          </a:xfrm>
          <a:prstGeom prst="rect">
            <a:avLst/>
          </a:prstGeom>
        </p:spPr>
      </p:pic>
      <p:sp>
        <p:nvSpPr>
          <p:cNvPr id="25" name="Text 18"/>
          <p:cNvSpPr txBox="1"/>
          <p:nvPr/>
        </p:nvSpPr>
        <p:spPr>
          <a:xfrm>
            <a:off x="6537960" y="4663440"/>
            <a:ext cx="2176272"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--llm live</a:t>
            </a:r>
            <a:endParaRPr lang="en-US" sz="1500" dirty="0"/>
          </a:p>
        </p:txBody>
      </p:sp>
      <p:sp>
        <p:nvSpPr>
          <p:cNvPr id="26" name="Text 19"/>
          <p:cNvSpPr txBox="1"/>
          <p:nvPr/>
        </p:nvSpPr>
        <p:spPr>
          <a:xfrm>
            <a:off x="6537960" y="5074920"/>
            <a:ext cx="2176272" cy="914400"/>
          </a:xfrm>
          <a:prstGeom prst="rect">
            <a:avLst/>
          </a:prstGeom>
          <a:noFill/>
          <a:ln/>
        </p:spPr>
        <p:txBody>
          <a:bodyPr wrap="square" lIns="0" tIns="0" rIns="0" bIns="0" rtlCol="0" anchor="t"/>
          <a:lstStyle/>
          <a:p>
            <a:pPr indent="0" marL="0">
              <a:buNone/>
            </a:pPr>
            <a:r>
              <a:rPr lang="en-US" sz="1300" dirty="0">
                <a:solidFill>
                  <a:schemeClr val="tx2"/>
                </a:solidFill>
              </a:rPr>
              <a:t>Exige la clave. Se usó para llenar la caché.</a:t>
            </a:r>
            <a:endParaRPr lang="en-US" sz="1300" dirty="0"/>
          </a:p>
        </p:txBody>
      </p:sp>
      <p:sp>
        <p:nvSpPr>
          <p:cNvPr id="27" name="Shape 20"/>
          <p:cNvSpPr/>
          <p:nvPr/>
        </p:nvSpPr>
        <p:spPr>
          <a:xfrm>
            <a:off x="9052560" y="3794760"/>
            <a:ext cx="2542032" cy="2286000"/>
          </a:xfrm>
          <a:prstGeom prst="roundRect">
            <a:avLst>
              <a:gd name="adj" fmla="val 4000"/>
            </a:avLst>
          </a:prstGeom>
          <a:solidFill>
            <a:schemeClr val="bg1"/>
          </a:solidFill>
          <a:ln w="12700">
            <a:solidFill>
              <a:srgbClr val="D3DCE1"/>
            </a:solidFill>
            <a:prstDash val="solid"/>
          </a:ln>
        </p:spPr>
      </p:sp>
      <p:sp>
        <p:nvSpPr>
          <p:cNvPr id="28" name="Shape 21"/>
          <p:cNvSpPr/>
          <p:nvPr/>
        </p:nvSpPr>
        <p:spPr>
          <a:xfrm>
            <a:off x="9235440" y="3977640"/>
            <a:ext cx="548640" cy="548640"/>
          </a:xfrm>
          <a:prstGeom prst="ellipse">
            <a:avLst/>
          </a:prstGeom>
          <a:solidFill>
            <a:schemeClr val="accent4"/>
          </a:solidFill>
          <a:ln w="12700">
            <a:solidFill>
              <a:schemeClr val="accent4"/>
            </a:solidFill>
            <a:prstDash val="solid"/>
          </a:ln>
        </p:spPr>
      </p:sp>
      <p:pic>
        <p:nvPicPr>
          <p:cNvPr id="29" name="Image 4" descr="preencoded.png">    </p:cNvPr>
          <p:cNvPicPr>
            <a:picLocks noChangeAspect="1"/>
          </p:cNvPicPr>
          <p:nvPr/>
        </p:nvPicPr>
        <p:blipFill>
          <a:blip r:embed="rId5"/>
          <a:stretch>
            <a:fillRect/>
          </a:stretch>
        </p:blipFill>
        <p:spPr>
          <a:xfrm>
            <a:off x="9356141" y="4098341"/>
            <a:ext cx="307238" cy="307238"/>
          </a:xfrm>
          <a:prstGeom prst="rect">
            <a:avLst/>
          </a:prstGeom>
        </p:spPr>
      </p:pic>
      <p:sp>
        <p:nvSpPr>
          <p:cNvPr id="30" name="Text 22"/>
          <p:cNvSpPr txBox="1"/>
          <p:nvPr/>
        </p:nvSpPr>
        <p:spPr>
          <a:xfrm>
            <a:off x="9235440" y="4663440"/>
            <a:ext cx="2176272"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--llm off</a:t>
            </a:r>
            <a:endParaRPr lang="en-US" sz="1500" dirty="0"/>
          </a:p>
        </p:txBody>
      </p:sp>
      <p:sp>
        <p:nvSpPr>
          <p:cNvPr id="31" name="Text 23"/>
          <p:cNvSpPr txBox="1"/>
          <p:nvPr/>
        </p:nvSpPr>
        <p:spPr>
          <a:xfrm>
            <a:off x="9235440" y="5074920"/>
            <a:ext cx="2176272" cy="914400"/>
          </a:xfrm>
          <a:prstGeom prst="rect">
            <a:avLst/>
          </a:prstGeom>
          <a:noFill/>
          <a:ln/>
        </p:spPr>
        <p:txBody>
          <a:bodyPr wrap="square" lIns="0" tIns="0" rIns="0" bIns="0" rtlCol="0" anchor="t"/>
          <a:lstStyle/>
          <a:p>
            <a:pPr indent="0" marL="0">
              <a:buNone/>
            </a:pPr>
            <a:r>
              <a:rPr lang="en-US" sz="1300" dirty="0">
                <a:solidFill>
                  <a:schemeClr val="tx2"/>
                </a:solidFill>
              </a:rPr>
              <a:t>Sin modelo: palabras clave y solo PDFs. Salida válida igual.</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06</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Evaluación y resultados</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Cómo se mide, qué tan bien funciona en las 32 muestras, los casos propios y la historia de fallos y mejoras.</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Resultados en las 32 muestras públicas</a:t>
            </a:r>
            <a:endParaRPr lang="en-US" sz="3200" dirty="0"/>
          </a:p>
        </p:txBody>
      </p:sp>
      <p:sp>
        <p:nvSpPr>
          <p:cNvPr id="4" name="Shape 1"/>
          <p:cNvSpPr/>
          <p:nvPr/>
        </p:nvSpPr>
        <p:spPr>
          <a:xfrm>
            <a:off x="548640" y="1371600"/>
            <a:ext cx="2602154" cy="2880360"/>
          </a:xfrm>
          <a:prstGeom prst="roundRect">
            <a:avLst>
              <a:gd name="adj" fmla="val 3514"/>
            </a:avLst>
          </a:prstGeom>
          <a:solidFill>
            <a:schemeClr val="bg2"/>
          </a:solidFill>
          <a:ln w="9525">
            <a:solidFill>
              <a:schemeClr val="bg2"/>
            </a:solidFill>
            <a:prstDash val="solid"/>
          </a:ln>
        </p:spPr>
      </p:sp>
      <p:sp>
        <p:nvSpPr>
          <p:cNvPr id="5" name="Text 2"/>
          <p:cNvSpPr txBox="1"/>
          <p:nvPr/>
        </p:nvSpPr>
        <p:spPr>
          <a:xfrm>
            <a:off x="777240" y="1600200"/>
            <a:ext cx="2144954" cy="9144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100 %</a:t>
            </a:r>
            <a:endParaRPr lang="en-US" sz="4400" dirty="0"/>
          </a:p>
        </p:txBody>
      </p:sp>
      <p:sp>
        <p:nvSpPr>
          <p:cNvPr id="6" name="Text 3"/>
          <p:cNvSpPr txBox="1"/>
          <p:nvPr/>
        </p:nvSpPr>
        <p:spPr>
          <a:xfrm>
            <a:off x="777240" y="2606040"/>
            <a:ext cx="2144954" cy="411480"/>
          </a:xfrm>
          <a:prstGeom prst="rect">
            <a:avLst/>
          </a:prstGeom>
          <a:noFill/>
          <a:ln/>
        </p:spPr>
        <p:txBody>
          <a:bodyPr wrap="square" lIns="0" tIns="0" rIns="0" bIns="0" rtlCol="0" anchor="t"/>
          <a:lstStyle/>
          <a:p>
            <a:pPr indent="0" marL="0">
              <a:buNone/>
            </a:pPr>
            <a:r>
              <a:rPr lang="en-US" sz="1700" b="1" dirty="0">
                <a:solidFill>
                  <a:schemeClr val="tx1"/>
                </a:solidFill>
              </a:rPr>
              <a:t>exactitud de estado</a:t>
            </a:r>
            <a:endParaRPr lang="en-US" sz="1700" dirty="0"/>
          </a:p>
        </p:txBody>
      </p:sp>
      <p:sp>
        <p:nvSpPr>
          <p:cNvPr id="7" name="Text 4"/>
          <p:cNvSpPr txBox="1"/>
          <p:nvPr/>
        </p:nvSpPr>
        <p:spPr>
          <a:xfrm>
            <a:off x="777240" y="3063240"/>
            <a:ext cx="2144954" cy="1097280"/>
          </a:xfrm>
          <a:prstGeom prst="rect">
            <a:avLst/>
          </a:prstGeom>
          <a:noFill/>
          <a:ln/>
        </p:spPr>
        <p:txBody>
          <a:bodyPr wrap="square" lIns="0" tIns="0" rIns="0" bIns="0" rtlCol="0" anchor="t"/>
          <a:lstStyle/>
          <a:p>
            <a:pPr indent="0" marL="0">
              <a:buNone/>
            </a:pPr>
            <a:r>
              <a:rPr lang="en-US" sz="1450" dirty="0">
                <a:solidFill>
                  <a:schemeClr val="tx2"/>
                </a:solidFill>
              </a:rPr>
              <a:t>32 de 32 casos con el estado correcto</a:t>
            </a:r>
            <a:endParaRPr lang="en-US" sz="1450" dirty="0"/>
          </a:p>
        </p:txBody>
      </p:sp>
      <p:sp>
        <p:nvSpPr>
          <p:cNvPr id="8" name="Shape 5"/>
          <p:cNvSpPr/>
          <p:nvPr/>
        </p:nvSpPr>
        <p:spPr>
          <a:xfrm>
            <a:off x="3379394" y="1371600"/>
            <a:ext cx="2602154" cy="2880360"/>
          </a:xfrm>
          <a:prstGeom prst="roundRect">
            <a:avLst>
              <a:gd name="adj" fmla="val 3514"/>
            </a:avLst>
          </a:prstGeom>
          <a:solidFill>
            <a:schemeClr val="bg2"/>
          </a:solidFill>
          <a:ln w="9525">
            <a:solidFill>
              <a:schemeClr val="bg2"/>
            </a:solidFill>
            <a:prstDash val="solid"/>
          </a:ln>
        </p:spPr>
      </p:sp>
      <p:sp>
        <p:nvSpPr>
          <p:cNvPr id="9" name="Text 6"/>
          <p:cNvSpPr txBox="1"/>
          <p:nvPr/>
        </p:nvSpPr>
        <p:spPr>
          <a:xfrm>
            <a:off x="3607994" y="1600200"/>
            <a:ext cx="2144954" cy="9144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98,7 %</a:t>
            </a:r>
            <a:endParaRPr lang="en-US" sz="4400" dirty="0"/>
          </a:p>
        </p:txBody>
      </p:sp>
      <p:sp>
        <p:nvSpPr>
          <p:cNvPr id="10" name="Text 7"/>
          <p:cNvSpPr txBox="1"/>
          <p:nvPr/>
        </p:nvSpPr>
        <p:spPr>
          <a:xfrm>
            <a:off x="3607994" y="2606040"/>
            <a:ext cx="2144954" cy="411480"/>
          </a:xfrm>
          <a:prstGeom prst="rect">
            <a:avLst/>
          </a:prstGeom>
          <a:noFill/>
          <a:ln/>
        </p:spPr>
        <p:txBody>
          <a:bodyPr wrap="square" lIns="0" tIns="0" rIns="0" bIns="0" rtlCol="0" anchor="t"/>
          <a:lstStyle/>
          <a:p>
            <a:pPr indent="0" marL="0">
              <a:buNone/>
            </a:pPr>
            <a:r>
              <a:rPr lang="en-US" sz="1700" b="1" dirty="0">
                <a:solidFill>
                  <a:schemeClr val="tx1"/>
                </a:solidFill>
              </a:rPr>
              <a:t>F1 de pasos</a:t>
            </a:r>
            <a:endParaRPr lang="en-US" sz="1700" dirty="0"/>
          </a:p>
        </p:txBody>
      </p:sp>
      <p:sp>
        <p:nvSpPr>
          <p:cNvPr id="11" name="Text 8"/>
          <p:cNvSpPr txBox="1"/>
          <p:nvPr/>
        </p:nvSpPr>
        <p:spPr>
          <a:xfrm>
            <a:off x="3607994" y="3063240"/>
            <a:ext cx="2144954" cy="1097280"/>
          </a:xfrm>
          <a:prstGeom prst="rect">
            <a:avLst/>
          </a:prstGeom>
          <a:noFill/>
          <a:ln/>
        </p:spPr>
        <p:txBody>
          <a:bodyPr wrap="square" lIns="0" tIns="0" rIns="0" bIns="0" rtlCol="0" anchor="t"/>
          <a:lstStyle/>
          <a:p>
            <a:pPr indent="0" marL="0">
              <a:buNone/>
            </a:pPr>
            <a:r>
              <a:rPr lang="en-US" sz="1450" dirty="0">
                <a:solidFill>
                  <a:schemeClr val="tx2"/>
                </a:solidFill>
              </a:rPr>
              <a:t>precisión 99,5 % · recall 97,9 % · 189 de 193</a:t>
            </a:r>
            <a:endParaRPr lang="en-US" sz="1450" dirty="0"/>
          </a:p>
        </p:txBody>
      </p:sp>
      <p:sp>
        <p:nvSpPr>
          <p:cNvPr id="12" name="Shape 9"/>
          <p:cNvSpPr/>
          <p:nvPr/>
        </p:nvSpPr>
        <p:spPr>
          <a:xfrm>
            <a:off x="6210148" y="1371600"/>
            <a:ext cx="2602154" cy="2880360"/>
          </a:xfrm>
          <a:prstGeom prst="roundRect">
            <a:avLst>
              <a:gd name="adj" fmla="val 3514"/>
            </a:avLst>
          </a:prstGeom>
          <a:solidFill>
            <a:schemeClr val="bg2"/>
          </a:solidFill>
          <a:ln w="9525">
            <a:solidFill>
              <a:schemeClr val="bg2"/>
            </a:solidFill>
            <a:prstDash val="solid"/>
          </a:ln>
        </p:spPr>
      </p:sp>
      <p:sp>
        <p:nvSpPr>
          <p:cNvPr id="13" name="Text 10"/>
          <p:cNvSpPr txBox="1"/>
          <p:nvPr/>
        </p:nvSpPr>
        <p:spPr>
          <a:xfrm>
            <a:off x="6438748" y="1600200"/>
            <a:ext cx="2144954" cy="91440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87,5 %</a:t>
            </a:r>
            <a:endParaRPr lang="en-US" sz="4400" dirty="0"/>
          </a:p>
        </p:txBody>
      </p:sp>
      <p:sp>
        <p:nvSpPr>
          <p:cNvPr id="14" name="Text 11"/>
          <p:cNvSpPr txBox="1"/>
          <p:nvPr/>
        </p:nvSpPr>
        <p:spPr>
          <a:xfrm>
            <a:off x="6438748" y="2606040"/>
            <a:ext cx="2144954" cy="411480"/>
          </a:xfrm>
          <a:prstGeom prst="rect">
            <a:avLst/>
          </a:prstGeom>
          <a:noFill/>
          <a:ln/>
        </p:spPr>
        <p:txBody>
          <a:bodyPr wrap="square" lIns="0" tIns="0" rIns="0" bIns="0" rtlCol="0" anchor="t"/>
          <a:lstStyle/>
          <a:p>
            <a:pPr indent="0" marL="0">
              <a:buNone/>
            </a:pPr>
            <a:r>
              <a:rPr lang="en-US" sz="1700" b="1" dirty="0">
                <a:solidFill>
                  <a:schemeClr val="tx1"/>
                </a:solidFill>
              </a:rPr>
              <a:t>secuencia exacta</a:t>
            </a:r>
            <a:endParaRPr lang="en-US" sz="1700" dirty="0"/>
          </a:p>
        </p:txBody>
      </p:sp>
      <p:sp>
        <p:nvSpPr>
          <p:cNvPr id="15" name="Text 12"/>
          <p:cNvSpPr txBox="1"/>
          <p:nvPr/>
        </p:nvSpPr>
        <p:spPr>
          <a:xfrm>
            <a:off x="6438748" y="3063240"/>
            <a:ext cx="2144954" cy="1097280"/>
          </a:xfrm>
          <a:prstGeom prst="rect">
            <a:avLst/>
          </a:prstGeom>
          <a:noFill/>
          <a:ln/>
        </p:spPr>
        <p:txBody>
          <a:bodyPr wrap="square" lIns="0" tIns="0" rIns="0" bIns="0" rtlCol="0" anchor="t"/>
          <a:lstStyle/>
          <a:p>
            <a:pPr indent="0" marL="0">
              <a:buNone/>
            </a:pPr>
            <a:r>
              <a:rPr lang="en-US" sz="1450" dirty="0">
                <a:solidFill>
                  <a:schemeClr val="tx2"/>
                </a:solidFill>
              </a:rPr>
              <a:t>28 de 32 arrays idénticos, orden y step_no incluidos</a:t>
            </a:r>
            <a:endParaRPr lang="en-US" sz="1450" dirty="0"/>
          </a:p>
        </p:txBody>
      </p:sp>
      <p:sp>
        <p:nvSpPr>
          <p:cNvPr id="16" name="Shape 13"/>
          <p:cNvSpPr/>
          <p:nvPr/>
        </p:nvSpPr>
        <p:spPr>
          <a:xfrm>
            <a:off x="9040901" y="1371600"/>
            <a:ext cx="2602154" cy="2880360"/>
          </a:xfrm>
          <a:prstGeom prst="roundRect">
            <a:avLst>
              <a:gd name="adj" fmla="val 3514"/>
            </a:avLst>
          </a:prstGeom>
          <a:solidFill>
            <a:schemeClr val="bg2"/>
          </a:solidFill>
          <a:ln w="9525">
            <a:solidFill>
              <a:schemeClr val="bg2"/>
            </a:solidFill>
            <a:prstDash val="solid"/>
          </a:ln>
        </p:spPr>
      </p:sp>
      <p:sp>
        <p:nvSpPr>
          <p:cNvPr id="17" name="Text 14"/>
          <p:cNvSpPr txBox="1"/>
          <p:nvPr/>
        </p:nvSpPr>
        <p:spPr>
          <a:xfrm>
            <a:off x="9269501" y="1600200"/>
            <a:ext cx="2144954" cy="91440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100 %</a:t>
            </a:r>
            <a:endParaRPr lang="en-US" sz="4400" dirty="0"/>
          </a:p>
        </p:txBody>
      </p:sp>
      <p:sp>
        <p:nvSpPr>
          <p:cNvPr id="18" name="Text 15"/>
          <p:cNvSpPr txBox="1"/>
          <p:nvPr/>
        </p:nvSpPr>
        <p:spPr>
          <a:xfrm>
            <a:off x="9269501" y="2606040"/>
            <a:ext cx="2144954" cy="411480"/>
          </a:xfrm>
          <a:prstGeom prst="rect">
            <a:avLst/>
          </a:prstGeom>
          <a:noFill/>
          <a:ln/>
        </p:spPr>
        <p:txBody>
          <a:bodyPr wrap="square" lIns="0" tIns="0" rIns="0" bIns="0" rtlCol="0" anchor="t"/>
          <a:lstStyle/>
          <a:p>
            <a:pPr indent="0" marL="0">
              <a:buNone/>
            </a:pPr>
            <a:r>
              <a:rPr lang="en-US" sz="1700" b="1" dirty="0">
                <a:solidFill>
                  <a:schemeClr val="tx1"/>
                </a:solidFill>
              </a:rPr>
              <a:t>orden relativo</a:t>
            </a:r>
            <a:endParaRPr lang="en-US" sz="1700" dirty="0"/>
          </a:p>
        </p:txBody>
      </p:sp>
      <p:sp>
        <p:nvSpPr>
          <p:cNvPr id="19" name="Text 16"/>
          <p:cNvSpPr txBox="1"/>
          <p:nvPr/>
        </p:nvSpPr>
        <p:spPr>
          <a:xfrm>
            <a:off x="9269501" y="3063240"/>
            <a:ext cx="2144954" cy="1097280"/>
          </a:xfrm>
          <a:prstGeom prst="rect">
            <a:avLst/>
          </a:prstGeom>
          <a:noFill/>
          <a:ln/>
        </p:spPr>
        <p:txBody>
          <a:bodyPr wrap="square" lIns="0" tIns="0" rIns="0" bIns="0" rtlCol="0" anchor="t"/>
          <a:lstStyle/>
          <a:p>
            <a:pPr indent="0" marL="0">
              <a:buNone/>
            </a:pPr>
            <a:r>
              <a:rPr lang="en-US" sz="1450" dirty="0">
                <a:solidFill>
                  <a:schemeClr val="tx2"/>
                </a:solidFill>
              </a:rPr>
              <a:t>los pasos compartidos siempre en el mismo orden</a:t>
            </a:r>
            <a:endParaRPr lang="en-US" sz="1450" dirty="0"/>
          </a:p>
        </p:txBody>
      </p:sp>
      <p:sp>
        <p:nvSpPr>
          <p:cNvPr id="20" name="Shape 17"/>
          <p:cNvSpPr/>
          <p:nvPr/>
        </p:nvSpPr>
        <p:spPr>
          <a:xfrm>
            <a:off x="548640" y="4526280"/>
            <a:ext cx="11094415" cy="1280160"/>
          </a:xfrm>
          <a:prstGeom prst="roundRect">
            <a:avLst>
              <a:gd name="adj" fmla="val 7143"/>
            </a:avLst>
          </a:prstGeom>
          <a:solidFill>
            <a:schemeClr val="bg1"/>
          </a:solidFill>
          <a:ln w="12700">
            <a:solidFill>
              <a:srgbClr val="D3DCE1"/>
            </a:solidFill>
            <a:prstDash val="solid"/>
          </a:ln>
        </p:spPr>
      </p:sp>
      <p:sp>
        <p:nvSpPr>
          <p:cNvPr id="21" name="Shape 18"/>
          <p:cNvSpPr/>
          <p:nvPr/>
        </p:nvSpPr>
        <p:spPr>
          <a:xfrm>
            <a:off x="777240" y="4818888"/>
            <a:ext cx="685800" cy="685800"/>
          </a:xfrm>
          <a:prstGeom prst="ellipse">
            <a:avLst/>
          </a:prstGeom>
          <a:solidFill>
            <a:schemeClr val="tx2"/>
          </a:solidFill>
          <a:ln w="12700">
            <a:solidFill>
              <a:schemeClr val="tx2"/>
            </a:solidFill>
            <a:prstDash val="solid"/>
          </a:ln>
        </p:spPr>
      </p:sp>
      <p:pic>
        <p:nvPicPr>
          <p:cNvPr id="22" name="Image 0" descr="preencoded.png">    </p:cNvPr>
          <p:cNvPicPr>
            <a:picLocks noChangeAspect="1"/>
          </p:cNvPicPr>
          <p:nvPr/>
        </p:nvPicPr>
        <p:blipFill>
          <a:blip r:embed="rId1"/>
          <a:stretch>
            <a:fillRect/>
          </a:stretch>
        </p:blipFill>
        <p:spPr>
          <a:xfrm>
            <a:off x="928116" y="4969764"/>
            <a:ext cx="384048" cy="384048"/>
          </a:xfrm>
          <a:prstGeom prst="rect">
            <a:avLst/>
          </a:prstGeom>
        </p:spPr>
      </p:pic>
      <p:sp>
        <p:nvSpPr>
          <p:cNvPr id="23" name="Text 19"/>
          <p:cNvSpPr txBox="1"/>
          <p:nvPr/>
        </p:nvSpPr>
        <p:spPr>
          <a:xfrm>
            <a:off x="1691640" y="4526280"/>
            <a:ext cx="9722815" cy="1280160"/>
          </a:xfrm>
          <a:prstGeom prst="rect">
            <a:avLst/>
          </a:prstGeom>
          <a:noFill/>
          <a:ln/>
        </p:spPr>
        <p:txBody>
          <a:bodyPr wrap="square" lIns="0" tIns="0" rIns="0" bIns="0" rtlCol="0" anchor="ctr"/>
          <a:lstStyle/>
          <a:p>
            <a:pPr indent="0" marL="0">
              <a:buNone/>
            </a:pPr>
            <a:r>
              <a:rPr lang="en-US" sz="1500" b="1" dirty="0">
                <a:solidFill>
                  <a:schemeClr val="tx2"/>
                </a:solidFill>
              </a:rPr>
              <a:t>Sin modelo, el mismo resultado. </a:t>
            </a:r>
            <a:pPr indent="0" marL="0">
              <a:buNone/>
            </a:pPr>
            <a:r>
              <a:rPr lang="en-US" sz="1500" dirty="0">
                <a:solidFill>
                  <a:schemeClr val="tx2"/>
                </a:solidFill>
              </a:rPr>
              <a:t>Con --llm off las métricas de las muestras son idénticas: ninguna muestra depende de una captura y todas son de borrado. El aporte de Claude se mide en los casos de evaluación con capturas.</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Precisión por campo y los 4 casos que fallan</a:t>
            </a:r>
            <a:endParaRPr lang="en-US" sz="3200" dirty="0"/>
          </a:p>
        </p:txBody>
      </p:sp>
      <p:graphicFrame>
        <p:nvGraphicFramePr>
          <p:cNvPr id="4" name="Chart 0" descr=""/>
          <p:cNvGraphicFramePr/>
          <p:nvPr/>
        </p:nvGraphicFramePr>
        <p:xfrm>
          <a:off x="548640" y="1280160"/>
          <a:ext cx="5120640" cy="4983480"/>
        </p:xfrm>
        <a:graphic xmlns:a="http://schemas.openxmlformats.org/drawingml/2006/main">
          <a:graphicData uri="http://schemas.openxmlformats.org/drawingml/2006/chart">
            <c:chart xmlns:c="http://schemas.openxmlformats.org/drawingml/2006/chart" r:id="rId1"/>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943600" y="1371600"/>
          <a:ext cx="5696712" cy="914400"/>
        </p:xfrm>
        <a:graphic>
          <a:graphicData uri="http://schemas.openxmlformats.org/drawingml/2006/table">
            <a:tbl>
              <a:tblPr/>
              <a:tblGrid>
                <a:gridCol w="960120"/>
                <a:gridCol w="2377440"/>
                <a:gridCol w="2359152"/>
              </a:tblGrid>
              <a:tr h="749808">
                <a:tc>
                  <a:txBody>
                    <a:bodyPr/>
                    <a:lstStyle/>
                    <a:p>
                      <a:pPr indent="0" marL="0">
                        <a:buNone/>
                      </a:pPr>
                      <a:r>
                        <a:rPr lang="en-US" sz="1250" b="1" dirty="0">
                          <a:solidFill>
                            <a:schemeClr val="bg1"/>
                          </a:solidFill>
                        </a:rPr>
                        <a:t>Caso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Diferencia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Por qué</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74980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case_03</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analytics_9406 esperado, analytics_5589 predicho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dos filas anonimizadas sin identificadores en la misma corrida: un 50/50</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74980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case_04</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falta account_004 VERIFY_RECORD_ABSENT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account_004 no aparece en ningún archivo ni evento visible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74980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case_18</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falta audit_record_6645 VERIFY_RECORD_PRESENT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el id no aparece en ningún archivo visible</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74980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case_20</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falta audit_record_5569 VERIFY_RECORD_PRESENT</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igual que case_18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bl>
          </a:graphicData>
        </a:graphic>
      </p:graphicFrame>
      <p:sp>
        <p:nvSpPr>
          <p:cNvPr id="6" name="Shape 1"/>
          <p:cNvSpPr/>
          <p:nvPr/>
        </p:nvSpPr>
        <p:spPr>
          <a:xfrm>
            <a:off x="5943600" y="5532120"/>
            <a:ext cx="5696712" cy="731520"/>
          </a:xfrm>
          <a:prstGeom prst="roundRect">
            <a:avLst>
              <a:gd name="adj" fmla="val 12500"/>
            </a:avLst>
          </a:prstGeom>
          <a:solidFill>
            <a:schemeClr val="bg2"/>
          </a:solidFill>
          <a:ln w="9525">
            <a:solidFill>
              <a:schemeClr val="bg2"/>
            </a:solidFill>
            <a:prstDash val="solid"/>
          </a:ln>
        </p:spPr>
      </p:sp>
      <p:sp>
        <p:nvSpPr>
          <p:cNvPr id="7" name="Text 2"/>
          <p:cNvSpPr txBox="1"/>
          <p:nvPr/>
        </p:nvSpPr>
        <p:spPr>
          <a:xfrm>
            <a:off x="6126480" y="5532120"/>
            <a:ext cx="5394960" cy="731520"/>
          </a:xfrm>
          <a:prstGeom prst="rect">
            <a:avLst/>
          </a:prstGeom>
          <a:noFill/>
          <a:ln/>
        </p:spPr>
        <p:txBody>
          <a:bodyPr wrap="square" lIns="0" tIns="0" rIns="0" bIns="0" rtlCol="0" anchor="ctr"/>
          <a:lstStyle/>
          <a:p>
            <a:pPr indent="0" marL="0">
              <a:buNone/>
            </a:pPr>
            <a:r>
              <a:rPr lang="en-US" sz="1350" b="1" dirty="0">
                <a:solidFill>
                  <a:schemeClr val="tx2"/>
                </a:solidFill>
              </a:rPr>
              <a:t>No se forzaron reglas para acertarlos: sería sobreajustar a las muestras.</a:t>
            </a:r>
            <a:endParaRPr lang="en-US" sz="13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Casos de evaluación propios</a:t>
            </a:r>
            <a:endParaRPr lang="en-US" sz="3200" dirty="0"/>
          </a:p>
        </p:txBody>
      </p:sp>
      <p:sp>
        <p:nvSpPr>
          <p:cNvPr id="4" name="Shape 1"/>
          <p:cNvSpPr/>
          <p:nvPr/>
        </p:nvSpPr>
        <p:spPr>
          <a:xfrm>
            <a:off x="548640" y="1325880"/>
            <a:ext cx="5437480" cy="1920240"/>
          </a:xfrm>
          <a:prstGeom prst="roundRect">
            <a:avLst>
              <a:gd name="adj" fmla="val 4762"/>
            </a:avLst>
          </a:prstGeom>
          <a:solidFill>
            <a:schemeClr val="bg2"/>
          </a:solidFill>
          <a:ln w="9525">
            <a:solidFill>
              <a:schemeClr val="bg2"/>
            </a:solidFill>
            <a:prstDash val="solid"/>
          </a:ln>
        </p:spPr>
      </p:sp>
      <p:sp>
        <p:nvSpPr>
          <p:cNvPr id="5" name="Shape 2"/>
          <p:cNvSpPr/>
          <p:nvPr/>
        </p:nvSpPr>
        <p:spPr>
          <a:xfrm>
            <a:off x="731520" y="1508760"/>
            <a:ext cx="548640" cy="548640"/>
          </a:xfrm>
          <a:prstGeom prst="ellipse">
            <a:avLst/>
          </a:prstGeom>
          <a:solidFill>
            <a:schemeClr val="accent3"/>
          </a:solidFill>
          <a:ln w="12700">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852221" y="1629461"/>
            <a:ext cx="307238" cy="307238"/>
          </a:xfrm>
          <a:prstGeom prst="rect">
            <a:avLst/>
          </a:prstGeom>
        </p:spPr>
      </p:pic>
      <p:sp>
        <p:nvSpPr>
          <p:cNvPr id="7" name="Text 3"/>
          <p:cNvSpPr txBox="1"/>
          <p:nvPr/>
        </p:nvSpPr>
        <p:spPr>
          <a:xfrm>
            <a:off x="1417320" y="1508760"/>
            <a:ext cx="4431640" cy="548640"/>
          </a:xfrm>
          <a:prstGeom prst="rect">
            <a:avLst/>
          </a:prstGeom>
          <a:noFill/>
          <a:ln/>
        </p:spPr>
        <p:txBody>
          <a:bodyPr wrap="square" lIns="0" tIns="0" rIns="0" bIns="0" rtlCol="0" anchor="ct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custom_01  </a:t>
            </a:r>
            <a:pPr indent="0" marL="0">
              <a:buNone/>
            </a:pPr>
            <a:r>
              <a:rPr lang="en-US" sz="1550" b="1" dirty="0">
                <a:solidFill>
                  <a:schemeClr val="tx1"/>
                </a:solidFill>
              </a:rPr>
              <a:t>Acceso que rechaza el borrado</a:t>
            </a:r>
            <a:endParaRPr lang="en-US" sz="1400" dirty="0"/>
          </a:p>
        </p:txBody>
      </p:sp>
      <p:sp>
        <p:nvSpPr>
          <p:cNvPr id="8" name="Text 4"/>
          <p:cNvSpPr txBox="1"/>
          <p:nvPr/>
        </p:nvSpPr>
        <p:spPr>
          <a:xfrm>
            <a:off x="777240" y="2194560"/>
            <a:ext cx="4980280" cy="594360"/>
          </a:xfrm>
          <a:prstGeom prst="rect">
            <a:avLst/>
          </a:prstGeom>
          <a:noFill/>
          <a:ln/>
        </p:spPr>
        <p:txBody>
          <a:bodyPr wrap="square" lIns="0" tIns="0" rIns="0" bIns="0" rtlCol="0" anchor="t"/>
          <a:lstStyle/>
          <a:p>
            <a:pPr indent="0" marL="0">
              <a:buNone/>
            </a:pPr>
            <a:r>
              <a:rPr lang="en-US" sz="1350" dirty="0">
                <a:solidFill>
                  <a:schemeClr val="tx2"/>
                </a:solidFill>
              </a:rPr>
              <a:t>«… No quiero borrar la cuenta.» Contiene «borrar», pero no autoriza.</a:t>
            </a:r>
            <a:endParaRPr lang="en-US" sz="1350" dirty="0"/>
          </a:p>
        </p:txBody>
      </p:sp>
      <p:sp>
        <p:nvSpPr>
          <p:cNvPr id="9" name="Text 5"/>
          <p:cNvSpPr txBox="1"/>
          <p:nvPr/>
        </p:nvSpPr>
        <p:spPr>
          <a:xfrm>
            <a:off x="777240" y="2807208"/>
            <a:ext cx="4980280" cy="347472"/>
          </a:xfrm>
          <a:prstGeom prst="rect">
            <a:avLst/>
          </a:prstGeom>
          <a:noFill/>
          <a:ln/>
        </p:spPr>
        <p:txBody>
          <a:bodyPr wrap="square" lIns="0" tIns="0" rIns="0" bIns="0" rtlCol="0" anchor="t"/>
          <a:lstStyle/>
          <a:p>
            <a:pPr indent="0" marL="0">
              <a:buNone/>
            </a:pPr>
            <a:r>
              <a:rPr lang="en-US" sz="1250" dirty="0">
                <a:solidFill>
                  <a:schemeClr val="accent4"/>
                </a:solidFill>
              </a:rPr>
              <a:t>esperado: </a:t>
            </a:r>
            <a:pPr indent="0" marL="0">
              <a:buNone/>
            </a:pPr>
            <a:r>
              <a:rPr lang="en-US" sz="1250" b="1" dirty="0">
                <a:solidFill>
                  <a:schemeClr val="tx1"/>
                </a:solidFill>
                <a:latin typeface="Courier New" pitchFamily="34" charset="0"/>
                <a:ea typeface="Courier New" pitchFamily="34" charset="-122"/>
                <a:cs typeface="Courier New" pitchFamily="34" charset="-120"/>
              </a:rPr>
              <a:t>NOT_APPLICABLE</a:t>
            </a:r>
            <a:pPr indent="0" marL="0">
              <a:buNone/>
            </a:pPr>
            <a:r>
              <a:rPr lang="en-US" sz="1250" b="1" dirty="0">
                <a:solidFill>
                  <a:schemeClr val="accent1"/>
                </a:solidFill>
              </a:rPr>
              <a:t>   ✓ acertado</a:t>
            </a:r>
            <a:endParaRPr lang="en-US" sz="1250" dirty="0"/>
          </a:p>
        </p:txBody>
      </p:sp>
      <p:sp>
        <p:nvSpPr>
          <p:cNvPr id="10" name="Shape 6"/>
          <p:cNvSpPr/>
          <p:nvPr/>
        </p:nvSpPr>
        <p:spPr>
          <a:xfrm>
            <a:off x="6205576" y="1325880"/>
            <a:ext cx="5437480" cy="1920240"/>
          </a:xfrm>
          <a:prstGeom prst="roundRect">
            <a:avLst>
              <a:gd name="adj" fmla="val 4762"/>
            </a:avLst>
          </a:prstGeom>
          <a:solidFill>
            <a:schemeClr val="bg2"/>
          </a:solidFill>
          <a:ln w="9525">
            <a:solidFill>
              <a:schemeClr val="bg2"/>
            </a:solidFill>
            <a:prstDash val="solid"/>
          </a:ln>
        </p:spPr>
      </p:sp>
      <p:sp>
        <p:nvSpPr>
          <p:cNvPr id="11" name="Shape 7"/>
          <p:cNvSpPr/>
          <p:nvPr/>
        </p:nvSpPr>
        <p:spPr>
          <a:xfrm>
            <a:off x="6388456" y="1508760"/>
            <a:ext cx="548640" cy="548640"/>
          </a:xfrm>
          <a:prstGeom prst="ellipse">
            <a:avLst/>
          </a:prstGeom>
          <a:solidFill>
            <a:schemeClr val="accent3"/>
          </a:solidFill>
          <a:ln w="12700">
            <a:solidFill>
              <a:schemeClr val="accent3"/>
            </a:solidFill>
            <a:prstDash val="solid"/>
          </a:ln>
        </p:spPr>
      </p:sp>
      <p:pic>
        <p:nvPicPr>
          <p:cNvPr id="12" name="Image 1" descr="preencoded.png">    </p:cNvPr>
          <p:cNvPicPr>
            <a:picLocks noChangeAspect="1"/>
          </p:cNvPicPr>
          <p:nvPr/>
        </p:nvPicPr>
        <p:blipFill>
          <a:blip r:embed="rId2"/>
          <a:stretch>
            <a:fillRect/>
          </a:stretch>
        </p:blipFill>
        <p:spPr>
          <a:xfrm>
            <a:off x="6509156" y="1629461"/>
            <a:ext cx="307238" cy="307238"/>
          </a:xfrm>
          <a:prstGeom prst="rect">
            <a:avLst/>
          </a:prstGeom>
        </p:spPr>
      </p:pic>
      <p:sp>
        <p:nvSpPr>
          <p:cNvPr id="13" name="Text 8"/>
          <p:cNvSpPr txBox="1"/>
          <p:nvPr/>
        </p:nvSpPr>
        <p:spPr>
          <a:xfrm>
            <a:off x="7074256" y="1508760"/>
            <a:ext cx="4431640" cy="548640"/>
          </a:xfrm>
          <a:prstGeom prst="rect">
            <a:avLst/>
          </a:prstGeom>
          <a:noFill/>
          <a:ln/>
        </p:spPr>
        <p:txBody>
          <a:bodyPr wrap="square" lIns="0" tIns="0" rIns="0" bIns="0" rtlCol="0" anchor="ct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custom_02  </a:t>
            </a:r>
            <a:pPr indent="0" marL="0">
              <a:buNone/>
            </a:pPr>
            <a:r>
              <a:rPr lang="en-US" sz="1550" b="1" dirty="0">
                <a:solidFill>
                  <a:schemeClr val="tx1"/>
                </a:solidFill>
              </a:rPr>
              <a:t>Baja de marketing en portugués</a:t>
            </a:r>
            <a:endParaRPr lang="en-US" sz="1400" dirty="0"/>
          </a:p>
        </p:txBody>
      </p:sp>
      <p:sp>
        <p:nvSpPr>
          <p:cNvPr id="14" name="Text 9"/>
          <p:cNvSpPr txBox="1"/>
          <p:nvPr/>
        </p:nvSpPr>
        <p:spPr>
          <a:xfrm>
            <a:off x="6434176" y="2194560"/>
            <a:ext cx="4980280" cy="594360"/>
          </a:xfrm>
          <a:prstGeom prst="rect">
            <a:avLst/>
          </a:prstGeom>
          <a:noFill/>
          <a:ln/>
        </p:spPr>
        <p:txBody>
          <a:bodyPr wrap="square" lIns="0" tIns="0" rIns="0" bIns="0" rtlCol="0" anchor="t"/>
          <a:lstStyle/>
          <a:p>
            <a:pPr indent="0" marL="0">
              <a:buNone/>
            </a:pPr>
            <a:r>
              <a:rPr lang="en-US" sz="1350" dirty="0">
                <a:solidFill>
                  <a:schemeClr val="tx2"/>
                </a:solidFill>
              </a:rPr>
              <a:t>«Não excluam minha conta.» Hay evidencia de la persona, pero no debe usarse.</a:t>
            </a:r>
            <a:endParaRPr lang="en-US" sz="1350" dirty="0"/>
          </a:p>
        </p:txBody>
      </p:sp>
      <p:sp>
        <p:nvSpPr>
          <p:cNvPr id="15" name="Text 10"/>
          <p:cNvSpPr txBox="1"/>
          <p:nvPr/>
        </p:nvSpPr>
        <p:spPr>
          <a:xfrm>
            <a:off x="6434176" y="2807208"/>
            <a:ext cx="4980280" cy="347472"/>
          </a:xfrm>
          <a:prstGeom prst="rect">
            <a:avLst/>
          </a:prstGeom>
          <a:noFill/>
          <a:ln/>
        </p:spPr>
        <p:txBody>
          <a:bodyPr wrap="square" lIns="0" tIns="0" rIns="0" bIns="0" rtlCol="0" anchor="t"/>
          <a:lstStyle/>
          <a:p>
            <a:pPr indent="0" marL="0">
              <a:buNone/>
            </a:pPr>
            <a:r>
              <a:rPr lang="en-US" sz="1250" dirty="0">
                <a:solidFill>
                  <a:schemeClr val="accent4"/>
                </a:solidFill>
              </a:rPr>
              <a:t>esperado: </a:t>
            </a:r>
            <a:pPr indent="0" marL="0">
              <a:buNone/>
            </a:pPr>
            <a:r>
              <a:rPr lang="en-US" sz="1250" b="1" dirty="0">
                <a:solidFill>
                  <a:schemeClr val="tx1"/>
                </a:solidFill>
                <a:latin typeface="Courier New" pitchFamily="34" charset="0"/>
                <a:ea typeface="Courier New" pitchFamily="34" charset="-122"/>
                <a:cs typeface="Courier New" pitchFamily="34" charset="-120"/>
              </a:rPr>
              <a:t>NOT_APPLICABLE</a:t>
            </a:r>
            <a:pPr indent="0" marL="0">
              <a:buNone/>
            </a:pPr>
            <a:r>
              <a:rPr lang="en-US" sz="1250" b="1" dirty="0">
                <a:solidFill>
                  <a:schemeClr val="accent1"/>
                </a:solidFill>
              </a:rPr>
              <a:t>   ✓ acertado</a:t>
            </a:r>
            <a:endParaRPr lang="en-US" sz="1250" dirty="0"/>
          </a:p>
        </p:txBody>
      </p:sp>
      <p:sp>
        <p:nvSpPr>
          <p:cNvPr id="16" name="Shape 11"/>
          <p:cNvSpPr/>
          <p:nvPr/>
        </p:nvSpPr>
        <p:spPr>
          <a:xfrm>
            <a:off x="548640" y="3429000"/>
            <a:ext cx="5437480" cy="1920240"/>
          </a:xfrm>
          <a:prstGeom prst="roundRect">
            <a:avLst>
              <a:gd name="adj" fmla="val 4762"/>
            </a:avLst>
          </a:prstGeom>
          <a:solidFill>
            <a:schemeClr val="bg2"/>
          </a:solidFill>
          <a:ln w="9525">
            <a:solidFill>
              <a:schemeClr val="bg2"/>
            </a:solidFill>
            <a:prstDash val="solid"/>
          </a:ln>
        </p:spPr>
      </p:sp>
      <p:sp>
        <p:nvSpPr>
          <p:cNvPr id="17" name="Shape 12"/>
          <p:cNvSpPr/>
          <p:nvPr/>
        </p:nvSpPr>
        <p:spPr>
          <a:xfrm>
            <a:off x="731520" y="3611880"/>
            <a:ext cx="548640" cy="548640"/>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852221" y="3732581"/>
            <a:ext cx="307238" cy="307238"/>
          </a:xfrm>
          <a:prstGeom prst="rect">
            <a:avLst/>
          </a:prstGeom>
        </p:spPr>
      </p:pic>
      <p:sp>
        <p:nvSpPr>
          <p:cNvPr id="19" name="Text 13"/>
          <p:cNvSpPr txBox="1"/>
          <p:nvPr/>
        </p:nvSpPr>
        <p:spPr>
          <a:xfrm>
            <a:off x="1417320" y="3611880"/>
            <a:ext cx="4431640" cy="548640"/>
          </a:xfrm>
          <a:prstGeom prst="rect">
            <a:avLst/>
          </a:prstGeom>
          <a:noFill/>
          <a:ln/>
        </p:spPr>
        <p:txBody>
          <a:bodyPr wrap="square" lIns="0" tIns="0" rIns="0" bIns="0" rtlCol="0" anchor="ct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custom_03  </a:t>
            </a:r>
            <a:pPr indent="0" marL="0">
              <a:buNone/>
            </a:pPr>
            <a:r>
              <a:rPr lang="en-US" sz="1550" b="1" dirty="0">
                <a:solidFill>
                  <a:schemeClr val="tx1"/>
                </a:solidFill>
              </a:rPr>
              <a:t>Solicitud desde un email histórico</a:t>
            </a:r>
            <a:endParaRPr lang="en-US" sz="1400" dirty="0"/>
          </a:p>
        </p:txBody>
      </p:sp>
      <p:sp>
        <p:nvSpPr>
          <p:cNvPr id="20" name="Text 14"/>
          <p:cNvSpPr txBox="1"/>
          <p:nvPr/>
        </p:nvSpPr>
        <p:spPr>
          <a:xfrm>
            <a:off x="777240" y="4297680"/>
            <a:ext cx="4980280" cy="594360"/>
          </a:xfrm>
          <a:prstGeom prst="rect">
            <a:avLst/>
          </a:prstGeom>
          <a:noFill/>
          <a:ln/>
        </p:spPr>
        <p:txBody>
          <a:bodyPr wrap="square" lIns="0" tIns="0" rIns="0" bIns="0" rtlCol="0" anchor="t"/>
          <a:lstStyle/>
          <a:p>
            <a:pPr indent="0" marL="0">
              <a:buNone/>
            </a:pPr>
            <a:r>
              <a:rPr lang="en-US" sz="1350" dirty="0">
                <a:solidFill>
                  <a:schemeClr val="tx2"/>
                </a:solidFill>
              </a:rPr>
              <a:t>case_12 desde minjun.kim90@gmail.com: debe resolver user_12 por audit_282.</a:t>
            </a:r>
            <a:endParaRPr lang="en-US" sz="1350" dirty="0"/>
          </a:p>
        </p:txBody>
      </p:sp>
      <p:sp>
        <p:nvSpPr>
          <p:cNvPr id="21" name="Text 15"/>
          <p:cNvSpPr txBox="1"/>
          <p:nvPr/>
        </p:nvSpPr>
        <p:spPr>
          <a:xfrm>
            <a:off x="777240" y="4910328"/>
            <a:ext cx="4980280" cy="347472"/>
          </a:xfrm>
          <a:prstGeom prst="rect">
            <a:avLst/>
          </a:prstGeom>
          <a:noFill/>
          <a:ln/>
        </p:spPr>
        <p:txBody>
          <a:bodyPr wrap="square" lIns="0" tIns="0" rIns="0" bIns="0" rtlCol="0" anchor="t"/>
          <a:lstStyle/>
          <a:p>
            <a:pPr indent="0" marL="0">
              <a:buNone/>
            </a:pPr>
            <a:r>
              <a:rPr lang="en-US" sz="1250" dirty="0">
                <a:solidFill>
                  <a:schemeClr val="accent4"/>
                </a:solidFill>
              </a:rPr>
              <a:t>esperado: </a:t>
            </a:r>
            <a:pPr indent="0" marL="0">
              <a:buNone/>
            </a:pPr>
            <a:r>
              <a:rPr lang="en-US" sz="1250" b="1" dirty="0">
                <a:solidFill>
                  <a:schemeClr val="tx1"/>
                </a:solidFill>
                <a:latin typeface="Courier New" pitchFamily="34" charset="0"/>
                <a:ea typeface="Courier New" pitchFamily="34" charset="-122"/>
                <a:cs typeface="Courier New" pitchFamily="34" charset="-120"/>
              </a:rPr>
              <a:t>INCOMPLETE, 5 pasos</a:t>
            </a:r>
            <a:pPr indent="0" marL="0">
              <a:buNone/>
            </a:pPr>
            <a:r>
              <a:rPr lang="en-US" sz="1250" b="1" dirty="0">
                <a:solidFill>
                  <a:schemeClr val="accent1"/>
                </a:solidFill>
              </a:rPr>
              <a:t>   ✓ acertado</a:t>
            </a:r>
            <a:endParaRPr lang="en-US" sz="1250" dirty="0"/>
          </a:p>
        </p:txBody>
      </p:sp>
      <p:sp>
        <p:nvSpPr>
          <p:cNvPr id="22" name="Shape 16"/>
          <p:cNvSpPr/>
          <p:nvPr/>
        </p:nvSpPr>
        <p:spPr>
          <a:xfrm>
            <a:off x="6205576" y="3429000"/>
            <a:ext cx="5437480" cy="1920240"/>
          </a:xfrm>
          <a:prstGeom prst="roundRect">
            <a:avLst>
              <a:gd name="adj" fmla="val 4762"/>
            </a:avLst>
          </a:prstGeom>
          <a:solidFill>
            <a:schemeClr val="bg2"/>
          </a:solidFill>
          <a:ln w="9525">
            <a:solidFill>
              <a:schemeClr val="bg2"/>
            </a:solidFill>
            <a:prstDash val="solid"/>
          </a:ln>
        </p:spPr>
      </p:sp>
      <p:sp>
        <p:nvSpPr>
          <p:cNvPr id="23" name="Shape 17"/>
          <p:cNvSpPr/>
          <p:nvPr/>
        </p:nvSpPr>
        <p:spPr>
          <a:xfrm>
            <a:off x="6388456" y="3611880"/>
            <a:ext cx="548640" cy="548640"/>
          </a:xfrm>
          <a:prstGeom prst="ellipse">
            <a:avLst/>
          </a:prstGeom>
          <a:solidFill>
            <a:schemeClr val="tx2"/>
          </a:solidFill>
          <a:ln w="12700">
            <a:solidFill>
              <a:schemeClr val="tx2"/>
            </a:solidFill>
            <a:prstDash val="solid"/>
          </a:ln>
        </p:spPr>
      </p:sp>
      <p:pic>
        <p:nvPicPr>
          <p:cNvPr id="24" name="Image 3" descr="preencoded.png">    </p:cNvPr>
          <p:cNvPicPr>
            <a:picLocks noChangeAspect="1"/>
          </p:cNvPicPr>
          <p:nvPr/>
        </p:nvPicPr>
        <p:blipFill>
          <a:blip r:embed="rId4"/>
          <a:stretch>
            <a:fillRect/>
          </a:stretch>
        </p:blipFill>
        <p:spPr>
          <a:xfrm>
            <a:off x="6509156" y="3732581"/>
            <a:ext cx="307238" cy="307238"/>
          </a:xfrm>
          <a:prstGeom prst="rect">
            <a:avLst/>
          </a:prstGeom>
        </p:spPr>
      </p:pic>
      <p:sp>
        <p:nvSpPr>
          <p:cNvPr id="25" name="Text 18"/>
          <p:cNvSpPr txBox="1"/>
          <p:nvPr/>
        </p:nvSpPr>
        <p:spPr>
          <a:xfrm>
            <a:off x="7074256" y="3611880"/>
            <a:ext cx="4431640" cy="548640"/>
          </a:xfrm>
          <a:prstGeom prst="rect">
            <a:avLst/>
          </a:prstGeom>
          <a:noFill/>
          <a:ln/>
        </p:spPr>
        <p:txBody>
          <a:bodyPr wrap="square" lIns="0" tIns="0" rIns="0" bIns="0" rtlCol="0" anchor="ct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custom_04  </a:t>
            </a:r>
            <a:pPr indent="0" marL="0">
              <a:buNone/>
            </a:pPr>
            <a:r>
              <a:rPr lang="en-US" sz="1550" b="1" dirty="0">
                <a:solidFill>
                  <a:schemeClr val="tx1"/>
                </a:solidFill>
              </a:rPr>
              <a:t>audit_at más tarde</a:t>
            </a:r>
            <a:endParaRPr lang="en-US" sz="1400" dirty="0"/>
          </a:p>
        </p:txBody>
      </p:sp>
      <p:sp>
        <p:nvSpPr>
          <p:cNvPr id="26" name="Text 19"/>
          <p:cNvSpPr txBox="1"/>
          <p:nvPr/>
        </p:nvSpPr>
        <p:spPr>
          <a:xfrm>
            <a:off x="6434176" y="4297680"/>
            <a:ext cx="4980280" cy="594360"/>
          </a:xfrm>
          <a:prstGeom prst="rect">
            <a:avLst/>
          </a:prstGeom>
          <a:noFill/>
          <a:ln/>
        </p:spPr>
        <p:txBody>
          <a:bodyPr wrap="square" lIns="0" tIns="0" rIns="0" bIns="0" rtlCol="0" anchor="t"/>
          <a:lstStyle/>
          <a:p>
            <a:pPr indent="0" marL="0">
              <a:buNone/>
            </a:pPr>
            <a:r>
              <a:rPr lang="en-US" sz="1350" dirty="0">
                <a:solidFill>
                  <a:schemeClr val="tx2"/>
                </a:solidFill>
              </a:rPr>
              <a:t>case_24 con corte el 18-09: evidence_02 se vuelve citable y entra audit_record_7095.</a:t>
            </a:r>
            <a:endParaRPr lang="en-US" sz="1350" dirty="0"/>
          </a:p>
        </p:txBody>
      </p:sp>
      <p:sp>
        <p:nvSpPr>
          <p:cNvPr id="27" name="Text 20"/>
          <p:cNvSpPr txBox="1"/>
          <p:nvPr/>
        </p:nvSpPr>
        <p:spPr>
          <a:xfrm>
            <a:off x="6434176" y="4910328"/>
            <a:ext cx="4980280" cy="347472"/>
          </a:xfrm>
          <a:prstGeom prst="rect">
            <a:avLst/>
          </a:prstGeom>
          <a:noFill/>
          <a:ln/>
        </p:spPr>
        <p:txBody>
          <a:bodyPr wrap="square" lIns="0" tIns="0" rIns="0" bIns="0" rtlCol="0" anchor="t"/>
          <a:lstStyle/>
          <a:p>
            <a:pPr indent="0" marL="0">
              <a:buNone/>
            </a:pPr>
            <a:r>
              <a:rPr lang="en-US" sz="1250" dirty="0">
                <a:solidFill>
                  <a:schemeClr val="accent4"/>
                </a:solidFill>
              </a:rPr>
              <a:t>esperado: </a:t>
            </a:r>
            <a:pPr indent="0" marL="0">
              <a:buNone/>
            </a:pPr>
            <a:r>
              <a:rPr lang="en-US" sz="1250" b="1" dirty="0">
                <a:solidFill>
                  <a:schemeClr val="tx1"/>
                </a:solidFill>
                <a:latin typeface="Courier New" pitchFamily="34" charset="0"/>
                <a:ea typeface="Courier New" pitchFamily="34" charset="-122"/>
                <a:cs typeface="Courier New" pitchFamily="34" charset="-120"/>
              </a:rPr>
              <a:t>INCOMPLETE, 7 pasos</a:t>
            </a:r>
            <a:pPr indent="0" marL="0">
              <a:buNone/>
            </a:pPr>
            <a:r>
              <a:rPr lang="en-US" sz="1250" b="1" dirty="0">
                <a:solidFill>
                  <a:schemeClr val="accent1"/>
                </a:solidFill>
              </a:rPr>
              <a:t>   ✓ acertado</a:t>
            </a:r>
            <a:endParaRPr lang="en-US" sz="1250" dirty="0"/>
          </a:p>
        </p:txBody>
      </p:sp>
      <p:sp>
        <p:nvSpPr>
          <p:cNvPr id="28" name="Shape 21"/>
          <p:cNvSpPr/>
          <p:nvPr/>
        </p:nvSpPr>
        <p:spPr>
          <a:xfrm>
            <a:off x="548640" y="5623560"/>
            <a:ext cx="11094415" cy="621792"/>
          </a:xfrm>
          <a:prstGeom prst="roundRect">
            <a:avLst>
              <a:gd name="adj" fmla="val 14706"/>
            </a:avLst>
          </a:prstGeom>
          <a:solidFill>
            <a:schemeClr val="tx1"/>
          </a:solidFill>
          <a:ln w="9525">
            <a:solidFill>
              <a:schemeClr val="tx1"/>
            </a:solidFill>
            <a:prstDash val="solid"/>
          </a:ln>
        </p:spPr>
      </p:sp>
      <p:sp>
        <p:nvSpPr>
          <p:cNvPr id="29" name="Text 22"/>
          <p:cNvSpPr txBox="1"/>
          <p:nvPr/>
        </p:nvSpPr>
        <p:spPr>
          <a:xfrm>
            <a:off x="822960" y="5623560"/>
            <a:ext cx="10545775" cy="621792"/>
          </a:xfrm>
          <a:prstGeom prst="rect">
            <a:avLst/>
          </a:prstGeom>
          <a:noFill/>
          <a:ln/>
        </p:spPr>
        <p:txBody>
          <a:bodyPr wrap="square" lIns="0" tIns="0" rIns="0" bIns="0" rtlCol="0" anchor="ctr"/>
          <a:lstStyle/>
          <a:p>
            <a:pPr indent="0" marL="0">
              <a:buNone/>
            </a:pPr>
            <a:r>
              <a:rPr lang="en-US" sz="1500" b="1" dirty="0">
                <a:solidFill>
                  <a:schemeClr val="bg1"/>
                </a:solidFill>
              </a:rPr>
              <a:t>4 de 4 casos propios exactos: estado, pasos, secuencia y cada campo al 100 %.</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Fallos encontrados y mejoras</a:t>
            </a:r>
            <a:endParaRPr lang="en-US" sz="3200" dirty="0"/>
          </a:p>
        </p:txBody>
      </p:sp>
      <p:graphicFrame>
        <p:nvGraphicFramePr>
          <p:cNvPr id="4" name="Chart 0" descr=""/>
          <p:cNvGraphicFramePr/>
          <p:nvPr/>
        </p:nvGraphicFramePr>
        <p:xfrm>
          <a:off x="548640" y="1280160"/>
          <a:ext cx="5669280" cy="49834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6537960" y="1417320"/>
            <a:ext cx="502920" cy="50292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2"/>
          <a:stretch>
            <a:fillRect/>
          </a:stretch>
        </p:blipFill>
        <p:spPr>
          <a:xfrm>
            <a:off x="6648602" y="1527962"/>
            <a:ext cx="281635" cy="281635"/>
          </a:xfrm>
          <a:prstGeom prst="rect">
            <a:avLst/>
          </a:prstGeom>
        </p:spPr>
      </p:pic>
      <p:sp>
        <p:nvSpPr>
          <p:cNvPr id="7" name="Text 2"/>
          <p:cNvSpPr txBox="1"/>
          <p:nvPr/>
        </p:nvSpPr>
        <p:spPr>
          <a:xfrm>
            <a:off x="7223760" y="1371600"/>
            <a:ext cx="4416552" cy="777240"/>
          </a:xfrm>
          <a:prstGeom prst="rect">
            <a:avLst/>
          </a:prstGeom>
          <a:noFill/>
          <a:ln/>
        </p:spPr>
        <p:txBody>
          <a:bodyPr wrap="square" lIns="0" tIns="0" rIns="0" bIns="0" rtlCol="0" anchor="t"/>
          <a:lstStyle/>
          <a:p>
            <a:pPr indent="0" marL="0">
              <a:buNone/>
            </a:pPr>
            <a:r>
              <a:rPr lang="en-US" sz="1500" b="1" dirty="0">
                <a:solidFill>
                  <a:schemeClr val="tx1"/>
                </a:solidFill>
              </a:rPr>
              <a:t>Deriva de réplicas</a:t>
            </a:r>
            <a:endParaRPr lang="en-US" sz="1400" dirty="0"/>
          </a:p>
          <a:p>
            <a:pPr indent="0" marL="0">
              <a:buNone/>
            </a:pPr>
            <a:r>
              <a:rPr lang="en-US" sz="1300" dirty="0">
                <a:solidFill>
                  <a:schemeClr val="tx2"/>
                </a:solidFill>
              </a:rPr>
              <a:t>una foto vacía ya no oculta una réplica</a:t>
            </a:r>
            <a:endParaRPr lang="en-US" sz="1400" dirty="0"/>
          </a:p>
        </p:txBody>
      </p:sp>
      <p:sp>
        <p:nvSpPr>
          <p:cNvPr id="8" name="Shape 3"/>
          <p:cNvSpPr/>
          <p:nvPr/>
        </p:nvSpPr>
        <p:spPr>
          <a:xfrm>
            <a:off x="6537960" y="2231136"/>
            <a:ext cx="502920" cy="502920"/>
          </a:xfrm>
          <a:prstGeom prst="ellipse">
            <a:avLst/>
          </a:prstGeom>
          <a:solidFill>
            <a:schemeClr val="tx2"/>
          </a:solidFill>
          <a:ln w="12700">
            <a:solidFill>
              <a:schemeClr val="tx2"/>
            </a:solidFill>
            <a:prstDash val="solid"/>
          </a:ln>
        </p:spPr>
      </p:sp>
      <p:pic>
        <p:nvPicPr>
          <p:cNvPr id="9" name="Image 1" descr="preencoded.png">    </p:cNvPr>
          <p:cNvPicPr>
            <a:picLocks noChangeAspect="1"/>
          </p:cNvPicPr>
          <p:nvPr/>
        </p:nvPicPr>
        <p:blipFill>
          <a:blip r:embed="rId3"/>
          <a:stretch>
            <a:fillRect/>
          </a:stretch>
        </p:blipFill>
        <p:spPr>
          <a:xfrm>
            <a:off x="6648602" y="2341778"/>
            <a:ext cx="281635" cy="281635"/>
          </a:xfrm>
          <a:prstGeom prst="rect">
            <a:avLst/>
          </a:prstGeom>
        </p:spPr>
      </p:pic>
      <p:sp>
        <p:nvSpPr>
          <p:cNvPr id="10" name="Text 4"/>
          <p:cNvSpPr txBox="1"/>
          <p:nvPr/>
        </p:nvSpPr>
        <p:spPr>
          <a:xfrm>
            <a:off x="7223760" y="2185416"/>
            <a:ext cx="4416552" cy="777240"/>
          </a:xfrm>
          <a:prstGeom prst="rect">
            <a:avLst/>
          </a:prstGeom>
          <a:noFill/>
          <a:ln/>
        </p:spPr>
        <p:txBody>
          <a:bodyPr wrap="square" lIns="0" tIns="0" rIns="0" bIns="0" rtlCol="0" anchor="t"/>
          <a:lstStyle/>
          <a:p>
            <a:pPr indent="0" marL="0">
              <a:buNone/>
            </a:pPr>
            <a:r>
              <a:rPr lang="en-US" sz="1500" b="1" dirty="0">
                <a:solidFill>
                  <a:schemeClr val="tx1"/>
                </a:solidFill>
              </a:rPr>
              <a:t>Atribución por lotes</a:t>
            </a:r>
            <a:endParaRPr lang="en-US" sz="1400" dirty="0"/>
          </a:p>
          <a:p>
            <a:pPr indent="0" marL="0">
              <a:buNone/>
            </a:pPr>
            <a:r>
              <a:rPr lang="en-US" sz="1300" dirty="0">
                <a:solidFill>
                  <a:schemeClr val="tx2"/>
                </a:solidFill>
              </a:rPr>
              <a:t>ventanas por plantilla y el anillo</a:t>
            </a:r>
            <a:endParaRPr lang="en-US" sz="1400" dirty="0"/>
          </a:p>
        </p:txBody>
      </p:sp>
      <p:sp>
        <p:nvSpPr>
          <p:cNvPr id="11" name="Shape 5"/>
          <p:cNvSpPr/>
          <p:nvPr/>
        </p:nvSpPr>
        <p:spPr>
          <a:xfrm>
            <a:off x="6537960" y="3044952"/>
            <a:ext cx="502920" cy="502920"/>
          </a:xfrm>
          <a:prstGeom prst="ellipse">
            <a:avLst/>
          </a:prstGeom>
          <a:solidFill>
            <a:schemeClr val="tx2"/>
          </a:solidFill>
          <a:ln w="12700">
            <a:solidFill>
              <a:schemeClr val="tx2"/>
            </a:solidFill>
            <a:prstDash val="solid"/>
          </a:ln>
        </p:spPr>
      </p:sp>
      <p:pic>
        <p:nvPicPr>
          <p:cNvPr id="12" name="Image 2" descr="preencoded.png">    </p:cNvPr>
          <p:cNvPicPr>
            <a:picLocks noChangeAspect="1"/>
          </p:cNvPicPr>
          <p:nvPr/>
        </p:nvPicPr>
        <p:blipFill>
          <a:blip r:embed="rId4"/>
          <a:stretch>
            <a:fillRect/>
          </a:stretch>
        </p:blipFill>
        <p:spPr>
          <a:xfrm>
            <a:off x="6648602" y="3155594"/>
            <a:ext cx="281635" cy="281635"/>
          </a:xfrm>
          <a:prstGeom prst="rect">
            <a:avLst/>
          </a:prstGeom>
        </p:spPr>
      </p:pic>
      <p:sp>
        <p:nvSpPr>
          <p:cNvPr id="13" name="Text 6"/>
          <p:cNvSpPr txBox="1"/>
          <p:nvPr/>
        </p:nvSpPr>
        <p:spPr>
          <a:xfrm>
            <a:off x="7223760" y="2999232"/>
            <a:ext cx="4416552" cy="777240"/>
          </a:xfrm>
          <a:prstGeom prst="rect">
            <a:avLst/>
          </a:prstGeom>
          <a:noFill/>
          <a:ln/>
        </p:spPr>
        <p:txBody>
          <a:bodyPr wrap="square" lIns="0" tIns="0" rIns="0" bIns="0" rtlCol="0" anchor="t"/>
          <a:lstStyle/>
          <a:p>
            <a:pPr indent="0" marL="0">
              <a:buNone/>
            </a:pPr>
            <a:r>
              <a:rPr lang="en-US" sz="1500" b="1" dirty="0">
                <a:solidFill>
                  <a:schemeClr val="tx1"/>
                </a:solidFill>
              </a:rPr>
              <a:t>Retenidos posteriores</a:t>
            </a:r>
            <a:endParaRPr lang="en-US" sz="1400" dirty="0"/>
          </a:p>
          <a:p>
            <a:pPr indent="0" marL="0">
              <a:buNone/>
            </a:pPr>
            <a:r>
              <a:rPr lang="en-US" sz="1300" dirty="0">
                <a:solidFill>
                  <a:schemeClr val="tx2"/>
                </a:solidFill>
              </a:rPr>
              <a:t>entran en las verificaciones futuras</a:t>
            </a:r>
            <a:endParaRPr lang="en-US" sz="1400" dirty="0"/>
          </a:p>
        </p:txBody>
      </p:sp>
      <p:sp>
        <p:nvSpPr>
          <p:cNvPr id="14" name="Shape 7"/>
          <p:cNvSpPr/>
          <p:nvPr/>
        </p:nvSpPr>
        <p:spPr>
          <a:xfrm>
            <a:off x="6537960" y="3858768"/>
            <a:ext cx="502920" cy="502920"/>
          </a:xfrm>
          <a:prstGeom prst="ellipse">
            <a:avLst/>
          </a:prstGeom>
          <a:solidFill>
            <a:schemeClr val="tx2"/>
          </a:solidFill>
          <a:ln w="12700">
            <a:solidFill>
              <a:schemeClr val="tx2"/>
            </a:solidFill>
            <a:prstDash val="solid"/>
          </a:ln>
        </p:spPr>
      </p:sp>
      <p:pic>
        <p:nvPicPr>
          <p:cNvPr id="15" name="Image 3" descr="preencoded.png">    </p:cNvPr>
          <p:cNvPicPr>
            <a:picLocks noChangeAspect="1"/>
          </p:cNvPicPr>
          <p:nvPr/>
        </p:nvPicPr>
        <p:blipFill>
          <a:blip r:embed="rId5"/>
          <a:stretch>
            <a:fillRect/>
          </a:stretch>
        </p:blipFill>
        <p:spPr>
          <a:xfrm>
            <a:off x="6648602" y="3969410"/>
            <a:ext cx="281635" cy="281635"/>
          </a:xfrm>
          <a:prstGeom prst="rect">
            <a:avLst/>
          </a:prstGeom>
        </p:spPr>
      </p:pic>
      <p:sp>
        <p:nvSpPr>
          <p:cNvPr id="16" name="Text 8"/>
          <p:cNvSpPr txBox="1"/>
          <p:nvPr/>
        </p:nvSpPr>
        <p:spPr>
          <a:xfrm>
            <a:off x="7223760" y="3813048"/>
            <a:ext cx="4416552" cy="777240"/>
          </a:xfrm>
          <a:prstGeom prst="rect">
            <a:avLst/>
          </a:prstGeom>
          <a:noFill/>
          <a:ln/>
        </p:spPr>
        <p:txBody>
          <a:bodyPr wrap="square" lIns="0" tIns="0" rIns="0" bIns="0" rtlCol="0" anchor="t"/>
          <a:lstStyle/>
          <a:p>
            <a:pPr indent="0" marL="0">
              <a:buNone/>
            </a:pPr>
            <a:r>
              <a:rPr lang="en-US" sz="1500" b="1" dirty="0">
                <a:solidFill>
                  <a:schemeClr val="tx1"/>
                </a:solidFill>
              </a:rPr>
              <a:t>PDFs y catálogo</a:t>
            </a:r>
            <a:endParaRPr lang="en-US" sz="1400" dirty="0"/>
          </a:p>
          <a:p>
            <a:pPr indent="0" marL="0">
              <a:buNone/>
            </a:pPr>
            <a:r>
              <a:rPr lang="en-US" sz="1300" dirty="0">
                <a:solidFill>
                  <a:schemeClr val="tx2"/>
                </a:solidFill>
              </a:rPr>
              <a:t>documentos y capturas enlazados</a:t>
            </a:r>
            <a:endParaRPr lang="en-US" sz="1400" dirty="0"/>
          </a:p>
        </p:txBody>
      </p:sp>
      <p:sp>
        <p:nvSpPr>
          <p:cNvPr id="17" name="Shape 9"/>
          <p:cNvSpPr/>
          <p:nvPr/>
        </p:nvSpPr>
        <p:spPr>
          <a:xfrm>
            <a:off x="6537960" y="4672584"/>
            <a:ext cx="502920" cy="502920"/>
          </a:xfrm>
          <a:prstGeom prst="ellipse">
            <a:avLst/>
          </a:prstGeom>
          <a:solidFill>
            <a:schemeClr val="accent3"/>
          </a:solidFill>
          <a:ln w="12700">
            <a:solidFill>
              <a:schemeClr val="accent3"/>
            </a:solidFill>
            <a:prstDash val="solid"/>
          </a:ln>
        </p:spPr>
      </p:sp>
      <p:pic>
        <p:nvPicPr>
          <p:cNvPr id="18" name="Image 4" descr="preencoded.png">    </p:cNvPr>
          <p:cNvPicPr>
            <a:picLocks noChangeAspect="1"/>
          </p:cNvPicPr>
          <p:nvPr/>
        </p:nvPicPr>
        <p:blipFill>
          <a:blip r:embed="rId6"/>
          <a:stretch>
            <a:fillRect/>
          </a:stretch>
        </p:blipFill>
        <p:spPr>
          <a:xfrm>
            <a:off x="6648602" y="4783226"/>
            <a:ext cx="281635" cy="281635"/>
          </a:xfrm>
          <a:prstGeom prst="rect">
            <a:avLst/>
          </a:prstGeom>
        </p:spPr>
      </p:pic>
      <p:sp>
        <p:nvSpPr>
          <p:cNvPr id="19" name="Text 10"/>
          <p:cNvSpPr txBox="1"/>
          <p:nvPr/>
        </p:nvSpPr>
        <p:spPr>
          <a:xfrm>
            <a:off x="7223760" y="4626864"/>
            <a:ext cx="4416552" cy="777240"/>
          </a:xfrm>
          <a:prstGeom prst="rect">
            <a:avLst/>
          </a:prstGeom>
          <a:noFill/>
          <a:ln/>
        </p:spPr>
        <p:txBody>
          <a:bodyPr wrap="square" lIns="0" tIns="0" rIns="0" bIns="0" rtlCol="0" anchor="t"/>
          <a:lstStyle/>
          <a:p>
            <a:pPr indent="0" marL="0">
              <a:buNone/>
            </a:pPr>
            <a:r>
              <a:rPr lang="en-US" sz="1500" b="1" dirty="0">
                <a:solidFill>
                  <a:schemeClr val="tx1"/>
                </a:solidFill>
              </a:rPr>
              <a:t>Negaciones multilingües</a:t>
            </a:r>
            <a:endParaRPr lang="en-US" sz="1400" dirty="0"/>
          </a:p>
          <a:p>
            <a:pPr indent="0" marL="0">
              <a:buNone/>
            </a:pPr>
            <a:r>
              <a:rPr lang="en-US" sz="1300" dirty="0">
                <a:solidFill>
                  <a:schemeClr val="tx2"/>
                </a:solidFill>
              </a:rPr>
              <a:t>«no quiero borrar» ya no es borrado</a:t>
            </a:r>
            <a:endParaRPr lang="en-US" sz="1400" dirty="0"/>
          </a:p>
        </p:txBody>
      </p:sp>
      <p:sp>
        <p:nvSpPr>
          <p:cNvPr id="20" name="Shape 11"/>
          <p:cNvSpPr/>
          <p:nvPr/>
        </p:nvSpPr>
        <p:spPr>
          <a:xfrm>
            <a:off x="6537960" y="5486400"/>
            <a:ext cx="502920" cy="502920"/>
          </a:xfrm>
          <a:prstGeom prst="ellipse">
            <a:avLst/>
          </a:prstGeom>
          <a:solidFill>
            <a:schemeClr val="tx2"/>
          </a:solidFill>
          <a:ln w="12700">
            <a:solidFill>
              <a:schemeClr val="tx2"/>
            </a:solidFill>
            <a:prstDash val="solid"/>
          </a:ln>
        </p:spPr>
      </p:sp>
      <p:pic>
        <p:nvPicPr>
          <p:cNvPr id="21" name="Image 5" descr="preencoded.png">    </p:cNvPr>
          <p:cNvPicPr>
            <a:picLocks noChangeAspect="1"/>
          </p:cNvPicPr>
          <p:nvPr/>
        </p:nvPicPr>
        <p:blipFill>
          <a:blip r:embed="rId7"/>
          <a:stretch>
            <a:fillRect/>
          </a:stretch>
        </p:blipFill>
        <p:spPr>
          <a:xfrm>
            <a:off x="6648602" y="5597042"/>
            <a:ext cx="281635" cy="281635"/>
          </a:xfrm>
          <a:prstGeom prst="rect">
            <a:avLst/>
          </a:prstGeom>
        </p:spPr>
      </p:pic>
      <p:sp>
        <p:nvSpPr>
          <p:cNvPr id="22" name="Text 12"/>
          <p:cNvSpPr txBox="1"/>
          <p:nvPr/>
        </p:nvSpPr>
        <p:spPr>
          <a:xfrm>
            <a:off x="7223760" y="5440680"/>
            <a:ext cx="4416552" cy="777240"/>
          </a:xfrm>
          <a:prstGeom prst="rect">
            <a:avLst/>
          </a:prstGeom>
          <a:noFill/>
          <a:ln/>
        </p:spPr>
        <p:txBody>
          <a:bodyPr wrap="square" lIns="0" tIns="0" rIns="0" bIns="0" rtlCol="0" anchor="t"/>
          <a:lstStyle/>
          <a:p>
            <a:pPr indent="0" marL="0">
              <a:buNone/>
            </a:pPr>
            <a:r>
              <a:rPr lang="en-US" sz="1500" b="1" dirty="0">
                <a:solidFill>
                  <a:schemeClr val="tx1"/>
                </a:solidFill>
              </a:rPr>
              <a:t>Orden determinista</a:t>
            </a:r>
            <a:endParaRPr lang="en-US" sz="1400" dirty="0"/>
          </a:p>
          <a:p>
            <a:pPr indent="0" marL="0">
              <a:buNone/>
            </a:pPr>
            <a:r>
              <a:rPr lang="en-US" sz="1300" dirty="0">
                <a:solidFill>
                  <a:schemeClr val="tx2"/>
                </a:solidFill>
              </a:rPr>
              <a:t>misma salida con cualquier semilla</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Resultado en las 518 solicitudes</a:t>
            </a:r>
            <a:endParaRPr lang="en-US" sz="3200" dirty="0"/>
          </a:p>
        </p:txBody>
      </p:sp>
      <p:graphicFrame>
        <p:nvGraphicFramePr>
          <p:cNvPr id="4" name="Chart 0" descr=""/>
          <p:cNvGraphicFramePr/>
          <p:nvPr/>
        </p:nvGraphicFramePr>
        <p:xfrm>
          <a:off x="548640" y="1280160"/>
          <a:ext cx="42062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983480" y="1280160"/>
          <a:ext cx="6656832" cy="393192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5394960"/>
            <a:ext cx="2602154" cy="868680"/>
          </a:xfrm>
          <a:prstGeom prst="roundRect">
            <a:avLst>
              <a:gd name="adj" fmla="val 10526"/>
            </a:avLst>
          </a:prstGeom>
          <a:solidFill>
            <a:schemeClr val="bg2"/>
          </a:solidFill>
          <a:ln w="9525">
            <a:solidFill>
              <a:schemeClr val="bg2"/>
            </a:solidFill>
            <a:prstDash val="solid"/>
          </a:ln>
        </p:spPr>
      </p:sp>
      <p:sp>
        <p:nvSpPr>
          <p:cNvPr id="7" name="Text 2"/>
          <p:cNvSpPr txBox="1"/>
          <p:nvPr/>
        </p:nvSpPr>
        <p:spPr>
          <a:xfrm>
            <a:off x="731520" y="5394960"/>
            <a:ext cx="1188720" cy="8686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3.257</a:t>
            </a:r>
            <a:endParaRPr lang="en-US" sz="2400" dirty="0"/>
          </a:p>
        </p:txBody>
      </p:sp>
      <p:sp>
        <p:nvSpPr>
          <p:cNvPr id="8" name="Text 3"/>
          <p:cNvSpPr txBox="1"/>
          <p:nvPr/>
        </p:nvSpPr>
        <p:spPr>
          <a:xfrm>
            <a:off x="1965960" y="5394960"/>
            <a:ext cx="1047674" cy="868680"/>
          </a:xfrm>
          <a:prstGeom prst="rect">
            <a:avLst/>
          </a:prstGeom>
          <a:noFill/>
          <a:ln/>
        </p:spPr>
        <p:txBody>
          <a:bodyPr wrap="square" lIns="0" tIns="0" rIns="0" bIns="0" rtlCol="0" anchor="ctr"/>
          <a:lstStyle/>
          <a:p>
            <a:pPr indent="0" marL="0">
              <a:buNone/>
            </a:pPr>
            <a:r>
              <a:rPr lang="en-US" sz="1300" dirty="0">
                <a:solidFill>
                  <a:schemeClr val="tx2"/>
                </a:solidFill>
              </a:rPr>
              <a:t>pasos (6,3 por caso, máx. 14)</a:t>
            </a:r>
            <a:endParaRPr lang="en-US" sz="1300" dirty="0"/>
          </a:p>
        </p:txBody>
      </p:sp>
      <p:sp>
        <p:nvSpPr>
          <p:cNvPr id="9" name="Shape 4"/>
          <p:cNvSpPr/>
          <p:nvPr/>
        </p:nvSpPr>
        <p:spPr>
          <a:xfrm>
            <a:off x="3379394" y="5394960"/>
            <a:ext cx="2602154" cy="868680"/>
          </a:xfrm>
          <a:prstGeom prst="roundRect">
            <a:avLst>
              <a:gd name="adj" fmla="val 10526"/>
            </a:avLst>
          </a:prstGeom>
          <a:solidFill>
            <a:schemeClr val="bg2"/>
          </a:solidFill>
          <a:ln w="9525">
            <a:solidFill>
              <a:schemeClr val="bg2"/>
            </a:solidFill>
            <a:prstDash val="solid"/>
          </a:ln>
        </p:spPr>
      </p:sp>
      <p:sp>
        <p:nvSpPr>
          <p:cNvPr id="10" name="Text 5"/>
          <p:cNvSpPr txBox="1"/>
          <p:nvPr/>
        </p:nvSpPr>
        <p:spPr>
          <a:xfrm>
            <a:off x="3562274" y="5394960"/>
            <a:ext cx="457200" cy="8686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0</a:t>
            </a:r>
            <a:endParaRPr lang="en-US" sz="2400" dirty="0"/>
          </a:p>
        </p:txBody>
      </p:sp>
      <p:sp>
        <p:nvSpPr>
          <p:cNvPr id="11" name="Text 6"/>
          <p:cNvSpPr txBox="1"/>
          <p:nvPr/>
        </p:nvSpPr>
        <p:spPr>
          <a:xfrm>
            <a:off x="4065194" y="5394960"/>
            <a:ext cx="1779194" cy="868680"/>
          </a:xfrm>
          <a:prstGeom prst="rect">
            <a:avLst/>
          </a:prstGeom>
          <a:noFill/>
          <a:ln/>
        </p:spPr>
        <p:txBody>
          <a:bodyPr wrap="square" lIns="0" tIns="0" rIns="0" bIns="0" rtlCol="0" anchor="ctr"/>
          <a:lstStyle/>
          <a:p>
            <a:pPr indent="0" marL="0">
              <a:buNone/>
            </a:pPr>
            <a:r>
              <a:rPr lang="en-US" sz="1300" dirty="0">
                <a:solidFill>
                  <a:schemeClr val="tx2"/>
                </a:solidFill>
              </a:rPr>
              <a:t>violaciones del contrato</a:t>
            </a:r>
            <a:endParaRPr lang="en-US" sz="1300" dirty="0"/>
          </a:p>
        </p:txBody>
      </p:sp>
      <p:sp>
        <p:nvSpPr>
          <p:cNvPr id="12" name="Shape 7"/>
          <p:cNvSpPr/>
          <p:nvPr/>
        </p:nvSpPr>
        <p:spPr>
          <a:xfrm>
            <a:off x="6210148" y="5394960"/>
            <a:ext cx="2602154" cy="868680"/>
          </a:xfrm>
          <a:prstGeom prst="roundRect">
            <a:avLst>
              <a:gd name="adj" fmla="val 10526"/>
            </a:avLst>
          </a:prstGeom>
          <a:solidFill>
            <a:schemeClr val="bg2"/>
          </a:solidFill>
          <a:ln w="9525">
            <a:solidFill>
              <a:schemeClr val="bg2"/>
            </a:solidFill>
            <a:prstDash val="solid"/>
          </a:ln>
        </p:spPr>
      </p:sp>
      <p:sp>
        <p:nvSpPr>
          <p:cNvPr id="13" name="Text 8"/>
          <p:cNvSpPr txBox="1"/>
          <p:nvPr/>
        </p:nvSpPr>
        <p:spPr>
          <a:xfrm>
            <a:off x="6393028" y="5394960"/>
            <a:ext cx="640080" cy="8686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39</a:t>
            </a:r>
            <a:endParaRPr lang="en-US" sz="2400" dirty="0"/>
          </a:p>
        </p:txBody>
      </p:sp>
      <p:sp>
        <p:nvSpPr>
          <p:cNvPr id="14" name="Text 9"/>
          <p:cNvSpPr txBox="1"/>
          <p:nvPr/>
        </p:nvSpPr>
        <p:spPr>
          <a:xfrm>
            <a:off x="7078828" y="5394960"/>
            <a:ext cx="1596314" cy="868680"/>
          </a:xfrm>
          <a:prstGeom prst="rect">
            <a:avLst/>
          </a:prstGeom>
          <a:noFill/>
          <a:ln/>
        </p:spPr>
        <p:txBody>
          <a:bodyPr wrap="square" lIns="0" tIns="0" rIns="0" bIns="0" rtlCol="0" anchor="ctr"/>
          <a:lstStyle/>
          <a:p>
            <a:pPr indent="0" marL="0">
              <a:buNone/>
            </a:pPr>
            <a:r>
              <a:rPr lang="en-US" sz="1300" dirty="0">
                <a:solidFill>
                  <a:schemeClr val="tx2"/>
                </a:solidFill>
              </a:rPr>
              <a:t>asignaciones batch-guess</a:t>
            </a:r>
            <a:endParaRPr lang="en-US" sz="1300" dirty="0"/>
          </a:p>
        </p:txBody>
      </p:sp>
      <p:sp>
        <p:nvSpPr>
          <p:cNvPr id="15" name="Shape 10"/>
          <p:cNvSpPr/>
          <p:nvPr/>
        </p:nvSpPr>
        <p:spPr>
          <a:xfrm>
            <a:off x="9040901" y="5394960"/>
            <a:ext cx="2602154" cy="868680"/>
          </a:xfrm>
          <a:prstGeom prst="roundRect">
            <a:avLst>
              <a:gd name="adj" fmla="val 10526"/>
            </a:avLst>
          </a:prstGeom>
          <a:solidFill>
            <a:schemeClr val="bg2"/>
          </a:solidFill>
          <a:ln w="9525">
            <a:solidFill>
              <a:schemeClr val="bg2"/>
            </a:solidFill>
            <a:prstDash val="solid"/>
          </a:ln>
        </p:spPr>
      </p:sp>
      <p:sp>
        <p:nvSpPr>
          <p:cNvPr id="16" name="Text 11"/>
          <p:cNvSpPr txBox="1"/>
          <p:nvPr/>
        </p:nvSpPr>
        <p:spPr>
          <a:xfrm>
            <a:off x="9223781" y="5394960"/>
            <a:ext cx="640080" cy="8686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39</a:t>
            </a:r>
            <a:endParaRPr lang="en-US" sz="2400" dirty="0"/>
          </a:p>
        </p:txBody>
      </p:sp>
      <p:sp>
        <p:nvSpPr>
          <p:cNvPr id="17" name="Text 12"/>
          <p:cNvSpPr txBox="1"/>
          <p:nvPr/>
        </p:nvSpPr>
        <p:spPr>
          <a:xfrm>
            <a:off x="9909581" y="5394960"/>
            <a:ext cx="1596314" cy="868680"/>
          </a:xfrm>
          <a:prstGeom prst="rect">
            <a:avLst/>
          </a:prstGeom>
          <a:noFill/>
          <a:ln/>
        </p:spPr>
        <p:txBody>
          <a:bodyPr wrap="square" lIns="0" tIns="0" rIns="0" bIns="0" rtlCol="0" anchor="ctr"/>
          <a:lstStyle/>
          <a:p>
            <a:pPr indent="0" marL="0">
              <a:buNone/>
            </a:pPr>
            <a:r>
              <a:rPr lang="en-US" sz="1300" dirty="0">
                <a:solidFill>
                  <a:schemeClr val="tx2"/>
                </a:solidFill>
              </a:rPr>
              <a:t>pruebas en ~3 s</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07</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Haiku 5.5 vs Opus 5.5</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Se repitió la corrida completa con el modelo grande para ver si cambiaba algo. No cambió nada, salvo el costo.</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Haiku vs Opus: misma salida, 40 veces el costo</a:t>
            </a:r>
            <a:endParaRPr lang="en-US" sz="3200" dirty="0"/>
          </a:p>
        </p:txBody>
      </p:sp>
      <p:graphicFrame>
        <p:nvGraphicFramePr>
          <p:cNvPr id="4" name="Chart 0" descr=""/>
          <p:cNvGraphicFramePr/>
          <p:nvPr/>
        </p:nvGraphicFramePr>
        <p:xfrm>
          <a:off x="548640" y="1280160"/>
          <a:ext cx="4023360" cy="4983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6793992" cy="914400"/>
        </p:xfrm>
        <a:graphic>
          <a:graphicData uri="http://schemas.openxmlformats.org/drawingml/2006/table">
            <a:tbl>
              <a:tblPr/>
              <a:tblGrid>
                <a:gridCol w="2514600"/>
                <a:gridCol w="1417320"/>
                <a:gridCol w="1417320"/>
                <a:gridCol w="1444752"/>
              </a:tblGrid>
              <a:tr h="420624">
                <a:tc>
                  <a:txBody>
                    <a:bodyPr/>
                    <a:lstStyle/>
                    <a:p>
                      <a:pPr indent="0" marL="0">
                        <a:buNone/>
                      </a:pP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Haiku 5.5</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Opus 5.5</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Coincidencia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tx2"/>
                    </a:solidFill>
                  </a:tcPr>
                </a:tc>
              </a:tr>
              <a:tr h="420624">
                <a:tc>
                  <a:txBody>
                    <a:bodyPr/>
                    <a:lstStyle/>
                    <a:p>
                      <a:pPr indent="0" marL="0">
                        <a:buNone/>
                      </a:pPr>
                      <a:r>
                        <a:rPr lang="en-US" sz="1250" dirty="0">
                          <a:solidFill>
                            <a:schemeClr val="tx1"/>
                          </a:solidFill>
                        </a:rPr>
                        <a:t>Llamadas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409</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409</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iguales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20624">
                <a:tc>
                  <a:txBody>
                    <a:bodyPr/>
                    <a:lstStyle/>
                    <a:p>
                      <a:pPr indent="0" marL="0">
                        <a:buNone/>
                      </a:pPr>
                      <a:r>
                        <a:rPr lang="en-US" sz="1250" dirty="0">
                          <a:solidFill>
                            <a:schemeClr val="tx1"/>
                          </a:solidFill>
                        </a:rPr>
                        <a:t>Tokens de entrada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311.344</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311.753</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casi iguales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20624">
                <a:tc>
                  <a:txBody>
                    <a:bodyPr/>
                    <a:lstStyle/>
                    <a:p>
                      <a:pPr indent="0" marL="0">
                        <a:buNone/>
                      </a:pPr>
                      <a:r>
                        <a:rPr lang="en-US" sz="1250" dirty="0">
                          <a:solidFill>
                            <a:schemeClr val="tx1"/>
                          </a:solidFill>
                        </a:rPr>
                        <a:t>Tokens de salida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39.099</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38.075</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casi iguales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20624">
                <a:tc>
                  <a:txBody>
                    <a:bodyPr/>
                    <a:lstStyle/>
                    <a:p>
                      <a:pPr indent="0" marL="0">
                        <a:buNone/>
                      </a:pPr>
                      <a:r>
                        <a:rPr lang="en-US" sz="1250" dirty="0">
                          <a:solidFill>
                            <a:schemeClr val="tx1"/>
                          </a:solidFill>
                        </a:rPr>
                        <a:t>Costo</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1"/>
                          </a:solidFill>
                        </a:rPr>
                        <a:t>$0,0507</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2"/>
                          </a:solidFill>
                        </a:rPr>
                        <a:t>$2,0085</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40 veces más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20624">
                <a:tc>
                  <a:txBody>
                    <a:bodyPr/>
                    <a:lstStyle/>
                    <a:p>
                      <a:pPr indent="0" marL="0">
                        <a:buNone/>
                      </a:pPr>
                      <a:r>
                        <a:rPr lang="en-US" sz="1250" dirty="0">
                          <a:solidFill>
                            <a:schemeClr val="tx1"/>
                          </a:solidFill>
                        </a:rPr>
                        <a:t>Tiempo de la corrida</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582 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1.193 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2 veces más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20624">
                <a:tc>
                  <a:txBody>
                    <a:bodyPr/>
                    <a:lstStyle/>
                    <a:p>
                      <a:pPr indent="0" marL="0">
                        <a:buNone/>
                      </a:pPr>
                      <a:r>
                        <a:rPr lang="en-US" sz="1250" dirty="0">
                          <a:solidFill>
                            <a:schemeClr val="tx1"/>
                          </a:solidFill>
                        </a:rPr>
                        <a:t>Decisión de intención</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388 / 398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388 / 398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1"/>
                          </a:solidFill>
                        </a:rPr>
                        <a:t>398 / 398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20624">
                <a:tc>
                  <a:txBody>
                    <a:bodyPr/>
                    <a:lstStyle/>
                    <a:p>
                      <a:pPr indent="0" marL="0">
                        <a:buNone/>
                      </a:pPr>
                      <a:r>
                        <a:rPr lang="en-US" sz="1250" dirty="0">
                          <a:solidFill>
                            <a:schemeClr val="tx1"/>
                          </a:solidFill>
                        </a:rPr>
                        <a:t>Lectura de capturas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11</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11</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1"/>
                          </a:solidFill>
                        </a:rPr>
                        <a:t>11 / 11</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r h="420624">
                <a:tc>
                  <a:txBody>
                    <a:bodyPr/>
                    <a:lstStyle/>
                    <a:p>
                      <a:pPr indent="0" marL="0">
                        <a:buNone/>
                      </a:pPr>
                      <a:r>
                        <a:rPr lang="en-US" sz="1250" dirty="0">
                          <a:solidFill>
                            <a:schemeClr val="tx1"/>
                          </a:solidFill>
                        </a:rPr>
                        <a:t>Filas de output.csv</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518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518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50" b="1" dirty="0">
                          <a:solidFill>
                            <a:schemeClr val="accent1"/>
                          </a:solidFill>
                        </a:rPr>
                        <a:t>518 / 518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1"/>
                    </a:solidFill>
                  </a:tcPr>
                </a:tc>
              </a:tr>
              <a:tr h="420624">
                <a:tc>
                  <a:txBody>
                    <a:bodyPr/>
                    <a:lstStyle/>
                    <a:p>
                      <a:pPr indent="0" marL="0">
                        <a:buNone/>
                      </a:pPr>
                      <a:r>
                        <a:rPr lang="en-US" sz="1250" dirty="0">
                          <a:solidFill>
                            <a:schemeClr val="tx1"/>
                          </a:solidFill>
                        </a:rPr>
                        <a:t>Muestras: estado · F1 · exactas</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32 · 98,7 % · 28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32 · 98,7 % · 28</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1"/>
                          </a:solidFill>
                        </a:rPr>
                        <a:t>igual</a:t>
                      </a:r>
                      <a:endParaRPr lang="en-US" sz="1250" dirty="0"/>
                    </a:p>
                  </a:txBody>
                  <a:tcPr marL="76200" marR="76200" marT="38100" marB="38100" anchor="ctr">
                    <a:lnL w="6350" cap="flat" cmpd="sng" algn="ctr">
                      <a:solidFill>
                        <a:srgbClr val="D3DCE1"/>
                      </a:solidFill>
                      <a:prstDash val="solid"/>
                      <a:round/>
                      <a:headEnd type="none" w="med" len="med"/>
                      <a:tailEnd type="none" w="med" len="med"/>
                    </a:lnL>
                    <a:lnR w="6350" cap="flat" cmpd="sng" algn="ctr">
                      <a:solidFill>
                        <a:srgbClr val="D3DCE1"/>
                      </a:solidFill>
                      <a:prstDash val="solid"/>
                      <a:round/>
                      <a:headEnd type="none" w="med" len="med"/>
                      <a:tailEnd type="none" w="med" len="med"/>
                    </a:lnR>
                    <a:lnT w="6350" cap="flat" cmpd="sng" algn="ctr">
                      <a:solidFill>
                        <a:srgbClr val="D3DCE1"/>
                      </a:solidFill>
                      <a:prstDash val="solid"/>
                      <a:round/>
                      <a:headEnd type="none" w="med" len="med"/>
                      <a:tailEnd type="none" w="med" len="med"/>
                    </a:lnT>
                    <a:lnB w="6350" cap="flat" cmpd="sng" algn="ctr">
                      <a:solidFill>
                        <a:srgbClr val="D3DCE1"/>
                      </a:solidFill>
                      <a:prstDash val="solid"/>
                      <a:round/>
                      <a:headEnd type="none" w="med" len="med"/>
                      <a:tailEnd type="none" w="med" len="med"/>
                    </a:lnB>
                    <a:solidFill>
                      <a:schemeClr val="bg2"/>
                    </a:solidFill>
                  </a:tcPr>
                </a:tc>
              </a:tr>
            </a:tbl>
          </a:graphicData>
        </a:graphic>
      </p:graphicFrame>
      <p:sp>
        <p:nvSpPr>
          <p:cNvPr id="6" name="Shape 1"/>
          <p:cNvSpPr/>
          <p:nvPr/>
        </p:nvSpPr>
        <p:spPr>
          <a:xfrm>
            <a:off x="4846320" y="5669280"/>
            <a:ext cx="6793992" cy="594360"/>
          </a:xfrm>
          <a:prstGeom prst="roundRect">
            <a:avLst>
              <a:gd name="adj" fmla="val 15385"/>
            </a:avLst>
          </a:prstGeom>
          <a:solidFill>
            <a:schemeClr val="bg2"/>
          </a:solidFill>
          <a:ln w="9525">
            <a:solidFill>
              <a:schemeClr val="bg2"/>
            </a:solidFill>
            <a:prstDash val="solid"/>
          </a:ln>
        </p:spPr>
      </p:sp>
      <p:sp>
        <p:nvSpPr>
          <p:cNvPr id="7" name="Text 2"/>
          <p:cNvSpPr txBox="1"/>
          <p:nvPr/>
        </p:nvSpPr>
        <p:spPr>
          <a:xfrm>
            <a:off x="5029200" y="5669280"/>
            <a:ext cx="6492240" cy="594360"/>
          </a:xfrm>
          <a:prstGeom prst="rect">
            <a:avLst/>
          </a:prstGeom>
          <a:noFill/>
          <a:ln/>
        </p:spPr>
        <p:txBody>
          <a:bodyPr wrap="square" lIns="0" tIns="0" rIns="0" bIns="0" rtlCol="0" anchor="ctr"/>
          <a:lstStyle/>
          <a:p>
            <a:pPr indent="0" marL="0">
              <a:buNone/>
            </a:pPr>
            <a:r>
              <a:rPr lang="en-US" sz="1350" b="1" dirty="0">
                <a:solidFill>
                  <a:schemeClr val="tx2"/>
                </a:solidFill>
              </a:rPr>
              <a:t>Las dos tareas del modelo tienen una sola respuesta clara: el modelo pequeño basta.</a:t>
            </a:r>
            <a:endParaRPr lang="en-US" sz="13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indent="0" marL="0">
              <a:buNone/>
            </a:pPr>
            <a:r>
              <a:rPr lang="en-US" sz="6000" b="1" dirty="0">
                <a:solidFill>
                  <a:schemeClr val="accent5"/>
                </a:solidFill>
              </a:rPr>
              <a:t>08</a:t>
            </a:r>
            <a:endParaRPr lang="en-US" sz="6000" dirty="0"/>
          </a:p>
        </p:txBody>
      </p:sp>
      <p:sp>
        <p:nvSpPr>
          <p:cNvPr id="3" name="Text 0"/>
          <p:cNvSpPr/>
          <p:nvPr>
            <p:ph idx="101" type="title" hasCustomPrompt="1"/>
          </p:nvPr>
        </p:nvSpPr>
        <p:spPr>
          <a:xfrm>
            <a:off x="731520" y="2834640"/>
            <a:ext cx="7498080" cy="914400"/>
          </a:xfrm>
          <a:prstGeom prst="rect">
            <a:avLst/>
          </a:prstGeom>
          <a:noFill/>
          <a:ln/>
        </p:spPr>
        <p:txBody>
          <a:bodyPr wrap="square" lIns="0" tIns="0" rIns="0" bIns="0" rtlCol="0" anchor="t"/>
          <a:lstStyle/>
          <a:p>
            <a:pPr algn="l" indent="0" marL="0">
              <a:buNone/>
            </a:pPr>
            <a:r>
              <a:rPr lang="en-US" sz="4000" b="1" dirty="0">
                <a:solidFill>
                  <a:schemeClr val="bg1"/>
                </a:solidFill>
              </a:rPr>
              <a:t>Preparación para la entrevista</a:t>
            </a:r>
            <a:endParaRPr lang="en-US" sz="4000" dirty="0"/>
          </a:p>
        </p:txBody>
      </p:sp>
      <p:sp>
        <p:nvSpPr>
          <p:cNvPr id="4" name="Text 0"/>
          <p:cNvSpPr/>
          <p:nvPr>
            <p:ph idx="102" type="body" hasCustomPrompt="1"/>
          </p:nvPr>
        </p:nvSpPr>
        <p:spPr>
          <a:xfrm>
            <a:off x="731520" y="3886200"/>
            <a:ext cx="7315200" cy="1280160"/>
          </a:xfrm>
          <a:prstGeom prst="rect">
            <a:avLst/>
          </a:prstGeom>
          <a:noFill/>
          <a:ln/>
        </p:spPr>
        <p:txBody>
          <a:bodyPr wrap="square" lIns="0" tIns="0" rIns="0" bIns="0" rtlCol="0" anchor="t"/>
          <a:lstStyle/>
          <a:p>
            <a:pPr indent="0" marL="0">
              <a:buNone/>
            </a:pPr>
            <a:r>
              <a:rPr lang="en-US" sz="1800" dirty="0">
                <a:solidFill>
                  <a:schemeClr val="bg2"/>
                </a:solidFill>
              </a:rPr>
              <a:t>Las decisiones de diseño y sus costos, los límites conocidos y las preguntas que probablemente hará el AI Judge.</a:t>
            </a:r>
            <a:endParaRPr lang="en-US" sz="1800" dirty="0"/>
          </a:p>
        </p:txBody>
      </p:sp>
      <p:pic>
        <p:nvPicPr>
          <p:cNvPr id="5" name="Image 0" descr="preencoded.png">    </p:cNvPr>
          <p:cNvPicPr>
            <a:picLocks noChangeAspect="1"/>
          </p:cNvPicPr>
          <p:nvPr/>
        </p:nvPicPr>
        <p:blipFill>
          <a:blip r:embed="rId1">
            <a:alphaModFix amt="70000"/>
          </a:blip>
          <a:stretch>
            <a:fillRect/>
          </a:stretch>
        </p:blipFill>
        <p:spPr>
          <a:xfrm>
            <a:off x="8778240" y="1920240"/>
            <a:ext cx="2651760" cy="265176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Decisiones de diseño y sus compromisos</a:t>
            </a:r>
            <a:endParaRPr lang="en-US" sz="3200" dirty="0"/>
          </a:p>
        </p:txBody>
      </p:sp>
      <p:sp>
        <p:nvSpPr>
          <p:cNvPr id="4" name="Shape 1"/>
          <p:cNvSpPr/>
          <p:nvPr/>
        </p:nvSpPr>
        <p:spPr>
          <a:xfrm>
            <a:off x="548640" y="1325880"/>
            <a:ext cx="3545738" cy="2286000"/>
          </a:xfrm>
          <a:prstGeom prst="roundRect">
            <a:avLst>
              <a:gd name="adj" fmla="val 4000"/>
            </a:avLst>
          </a:prstGeom>
          <a:solidFill>
            <a:schemeClr val="bg2"/>
          </a:solidFill>
          <a:ln w="9525">
            <a:solidFill>
              <a:schemeClr val="bg2"/>
            </a:solidFill>
            <a:prstDash val="solid"/>
          </a:ln>
        </p:spPr>
      </p:sp>
      <p:sp>
        <p:nvSpPr>
          <p:cNvPr id="5" name="Shape 2"/>
          <p:cNvSpPr/>
          <p:nvPr/>
        </p:nvSpPr>
        <p:spPr>
          <a:xfrm>
            <a:off x="777240" y="1554480"/>
            <a:ext cx="594360" cy="5943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07999" y="1685239"/>
            <a:ext cx="332842" cy="332842"/>
          </a:xfrm>
          <a:prstGeom prst="rect">
            <a:avLst/>
          </a:prstGeom>
        </p:spPr>
      </p:pic>
      <p:sp>
        <p:nvSpPr>
          <p:cNvPr id="7" name="Text 3"/>
          <p:cNvSpPr txBox="1"/>
          <p:nvPr/>
        </p:nvSpPr>
        <p:spPr>
          <a:xfrm>
            <a:off x="1508760" y="1554480"/>
            <a:ext cx="2448458" cy="594360"/>
          </a:xfrm>
          <a:prstGeom prst="rect">
            <a:avLst/>
          </a:prstGeom>
          <a:noFill/>
          <a:ln/>
        </p:spPr>
        <p:txBody>
          <a:bodyPr wrap="square" lIns="0" tIns="0" rIns="0" bIns="0" rtlCol="0" anchor="ctr"/>
          <a:lstStyle/>
          <a:p>
            <a:pPr indent="0" marL="0">
              <a:buNone/>
            </a:pPr>
            <a:r>
              <a:rPr lang="en-US" sz="1600" b="1" dirty="0">
                <a:solidFill>
                  <a:schemeClr val="tx1"/>
                </a:solidFill>
              </a:rPr>
              <a:t>Núcleo determinista</a:t>
            </a:r>
            <a:endParaRPr lang="en-US" sz="1600" dirty="0"/>
          </a:p>
        </p:txBody>
      </p:sp>
      <p:sp>
        <p:nvSpPr>
          <p:cNvPr id="8" name="Text 4"/>
          <p:cNvSpPr txBox="1"/>
          <p:nvPr/>
        </p:nvSpPr>
        <p:spPr>
          <a:xfrm>
            <a:off x="777240" y="2331720"/>
            <a:ext cx="3088538" cy="1188720"/>
          </a:xfrm>
          <a:prstGeom prst="rect">
            <a:avLst/>
          </a:prstGeom>
          <a:noFill/>
          <a:ln/>
        </p:spPr>
        <p:txBody>
          <a:bodyPr wrap="square" lIns="0" tIns="0" rIns="0" bIns="0" rtlCol="0" anchor="t"/>
          <a:lstStyle/>
          <a:p>
            <a:pPr indent="0" marL="0">
              <a:buNone/>
            </a:pPr>
            <a:r>
              <a:rPr lang="en-US" sz="1500" dirty="0">
                <a:solidFill>
                  <a:schemeClr val="tx2"/>
                </a:solidFill>
              </a:rPr>
              <a:t>Reproducible, auditable y barato. Costo: los parsers dependen de los formatos vistos.</a:t>
            </a:r>
            <a:endParaRPr lang="en-US" sz="1500" dirty="0"/>
          </a:p>
        </p:txBody>
      </p:sp>
      <p:sp>
        <p:nvSpPr>
          <p:cNvPr id="9" name="Shape 5"/>
          <p:cNvSpPr/>
          <p:nvPr/>
        </p:nvSpPr>
        <p:spPr>
          <a:xfrm>
            <a:off x="4322978" y="1325880"/>
            <a:ext cx="3545738" cy="2286000"/>
          </a:xfrm>
          <a:prstGeom prst="roundRect">
            <a:avLst>
              <a:gd name="adj" fmla="val 4000"/>
            </a:avLst>
          </a:prstGeom>
          <a:solidFill>
            <a:schemeClr val="bg2"/>
          </a:solidFill>
          <a:ln w="9525">
            <a:solidFill>
              <a:schemeClr val="bg2"/>
            </a:solidFill>
            <a:prstDash val="solid"/>
          </a:ln>
        </p:spPr>
      </p:sp>
      <p:sp>
        <p:nvSpPr>
          <p:cNvPr id="10" name="Shape 6"/>
          <p:cNvSpPr/>
          <p:nvPr/>
        </p:nvSpPr>
        <p:spPr>
          <a:xfrm>
            <a:off x="4551578" y="1554480"/>
            <a:ext cx="594360" cy="59436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4682338" y="1685239"/>
            <a:ext cx="332842" cy="332842"/>
          </a:xfrm>
          <a:prstGeom prst="rect">
            <a:avLst/>
          </a:prstGeom>
        </p:spPr>
      </p:pic>
      <p:sp>
        <p:nvSpPr>
          <p:cNvPr id="12" name="Text 7"/>
          <p:cNvSpPr txBox="1"/>
          <p:nvPr/>
        </p:nvSpPr>
        <p:spPr>
          <a:xfrm>
            <a:off x="5283098" y="1554480"/>
            <a:ext cx="2448458" cy="594360"/>
          </a:xfrm>
          <a:prstGeom prst="rect">
            <a:avLst/>
          </a:prstGeom>
          <a:noFill/>
          <a:ln/>
        </p:spPr>
        <p:txBody>
          <a:bodyPr wrap="square" lIns="0" tIns="0" rIns="0" bIns="0" rtlCol="0" anchor="ctr"/>
          <a:lstStyle/>
          <a:p>
            <a:pPr indent="0" marL="0">
              <a:buNone/>
            </a:pPr>
            <a:r>
              <a:rPr lang="en-US" sz="1600" b="1" dirty="0">
                <a:solidFill>
                  <a:schemeClr val="tx1"/>
                </a:solidFill>
              </a:rPr>
              <a:t>Una sola Observation</a:t>
            </a:r>
            <a:endParaRPr lang="en-US" sz="1600" dirty="0"/>
          </a:p>
        </p:txBody>
      </p:sp>
      <p:sp>
        <p:nvSpPr>
          <p:cNvPr id="13" name="Text 8"/>
          <p:cNvSpPr txBox="1"/>
          <p:nvPr/>
        </p:nvSpPr>
        <p:spPr>
          <a:xfrm>
            <a:off x="4551578" y="2331720"/>
            <a:ext cx="3088538" cy="1188720"/>
          </a:xfrm>
          <a:prstGeom prst="rect">
            <a:avLst/>
          </a:prstGeom>
          <a:noFill/>
          <a:ln/>
        </p:spPr>
        <p:txBody>
          <a:bodyPr wrap="square" lIns="0" tIns="0" rIns="0" bIns="0" rtlCol="0" anchor="t"/>
          <a:lstStyle/>
          <a:p>
            <a:pPr indent="0" marL="0">
              <a:buNone/>
            </a:pPr>
            <a:r>
              <a:rPr lang="en-US" sz="1500" dirty="0">
                <a:solidFill>
                  <a:schemeClr val="tx2"/>
                </a:solidFill>
              </a:rPr>
              <a:t>Todos los formatos hablan el mismo idioma; añadir uno no toca el resto.</a:t>
            </a:r>
            <a:endParaRPr lang="en-US" sz="1500" dirty="0"/>
          </a:p>
        </p:txBody>
      </p:sp>
      <p:sp>
        <p:nvSpPr>
          <p:cNvPr id="14" name="Shape 9"/>
          <p:cNvSpPr/>
          <p:nvPr/>
        </p:nvSpPr>
        <p:spPr>
          <a:xfrm>
            <a:off x="8097317" y="1325880"/>
            <a:ext cx="3545738" cy="2286000"/>
          </a:xfrm>
          <a:prstGeom prst="roundRect">
            <a:avLst>
              <a:gd name="adj" fmla="val 4000"/>
            </a:avLst>
          </a:prstGeom>
          <a:solidFill>
            <a:schemeClr val="bg2"/>
          </a:solidFill>
          <a:ln w="9525">
            <a:solidFill>
              <a:schemeClr val="bg2"/>
            </a:solidFill>
            <a:prstDash val="solid"/>
          </a:ln>
        </p:spPr>
      </p:sp>
      <p:sp>
        <p:nvSpPr>
          <p:cNvPr id="15" name="Shape 10"/>
          <p:cNvSpPr/>
          <p:nvPr/>
        </p:nvSpPr>
        <p:spPr>
          <a:xfrm>
            <a:off x="8325917" y="1554480"/>
            <a:ext cx="594360" cy="59436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8456676" y="1685239"/>
            <a:ext cx="332842" cy="332842"/>
          </a:xfrm>
          <a:prstGeom prst="rect">
            <a:avLst/>
          </a:prstGeom>
        </p:spPr>
      </p:pic>
      <p:sp>
        <p:nvSpPr>
          <p:cNvPr id="17" name="Text 11"/>
          <p:cNvSpPr txBox="1"/>
          <p:nvPr/>
        </p:nvSpPr>
        <p:spPr>
          <a:xfrm>
            <a:off x="9057437" y="1554480"/>
            <a:ext cx="2448458" cy="594360"/>
          </a:xfrm>
          <a:prstGeom prst="rect">
            <a:avLst/>
          </a:prstGeom>
          <a:noFill/>
          <a:ln/>
        </p:spPr>
        <p:txBody>
          <a:bodyPr wrap="square" lIns="0" tIns="0" rIns="0" bIns="0" rtlCol="0" anchor="ctr"/>
          <a:lstStyle/>
          <a:p>
            <a:pPr indent="0" marL="0">
              <a:buNone/>
            </a:pPr>
            <a:r>
              <a:rPr lang="en-US" sz="1600" b="1" dirty="0">
                <a:solidFill>
                  <a:schemeClr val="tx1"/>
                </a:solidFill>
              </a:rPr>
              <a:t>Afirmación ≠ prueba</a:t>
            </a:r>
            <a:endParaRPr lang="en-US" sz="1600" dirty="0"/>
          </a:p>
        </p:txBody>
      </p:sp>
      <p:sp>
        <p:nvSpPr>
          <p:cNvPr id="18" name="Text 12"/>
          <p:cNvSpPr txBox="1"/>
          <p:nvPr/>
        </p:nvSpPr>
        <p:spPr>
          <a:xfrm>
            <a:off x="8325917" y="2331720"/>
            <a:ext cx="3088538" cy="1188720"/>
          </a:xfrm>
          <a:prstGeom prst="rect">
            <a:avLst/>
          </a:prstGeom>
          <a:noFill/>
          <a:ln/>
        </p:spPr>
        <p:txBody>
          <a:bodyPr wrap="square" lIns="0" tIns="0" rIns="0" bIns="0" rtlCol="0" anchor="t"/>
          <a:lstStyle/>
          <a:p>
            <a:pPr indent="0" marL="0">
              <a:buNone/>
            </a:pPr>
            <a:r>
              <a:rPr lang="en-US" sz="1500" dirty="0">
                <a:solidFill>
                  <a:schemeClr val="tx2"/>
                </a:solidFill>
              </a:rPr>
              <a:t>Ningún SUCCESS ni COMPLETE decide un estado; solo lo observado.</a:t>
            </a:r>
            <a:endParaRPr lang="en-US" sz="1500" dirty="0"/>
          </a:p>
        </p:txBody>
      </p:sp>
      <p:sp>
        <p:nvSpPr>
          <p:cNvPr id="19" name="Shape 13"/>
          <p:cNvSpPr/>
          <p:nvPr/>
        </p:nvSpPr>
        <p:spPr>
          <a:xfrm>
            <a:off x="548640" y="3794760"/>
            <a:ext cx="3545738" cy="2286000"/>
          </a:xfrm>
          <a:prstGeom prst="roundRect">
            <a:avLst>
              <a:gd name="adj" fmla="val 4000"/>
            </a:avLst>
          </a:prstGeom>
          <a:solidFill>
            <a:schemeClr val="bg2"/>
          </a:solidFill>
          <a:ln w="9525">
            <a:solidFill>
              <a:schemeClr val="bg2"/>
            </a:solidFill>
            <a:prstDash val="solid"/>
          </a:ln>
        </p:spPr>
      </p:sp>
      <p:sp>
        <p:nvSpPr>
          <p:cNvPr id="20" name="Shape 14"/>
          <p:cNvSpPr/>
          <p:nvPr/>
        </p:nvSpPr>
        <p:spPr>
          <a:xfrm>
            <a:off x="777240" y="4023360"/>
            <a:ext cx="594360" cy="594360"/>
          </a:xfrm>
          <a:prstGeom prst="ellipse">
            <a:avLst/>
          </a:prstGeom>
          <a:solidFill>
            <a:schemeClr val="accent2"/>
          </a:solidFill>
          <a:ln w="12700">
            <a:solidFill>
              <a:schemeClr val="accent2"/>
            </a:solidFill>
            <a:prstDash val="solid"/>
          </a:ln>
        </p:spPr>
      </p:sp>
      <p:pic>
        <p:nvPicPr>
          <p:cNvPr id="21" name="Image 3" descr="preencoded.png">    </p:cNvPr>
          <p:cNvPicPr>
            <a:picLocks noChangeAspect="1"/>
          </p:cNvPicPr>
          <p:nvPr/>
        </p:nvPicPr>
        <p:blipFill>
          <a:blip r:embed="rId4"/>
          <a:stretch>
            <a:fillRect/>
          </a:stretch>
        </p:blipFill>
        <p:spPr>
          <a:xfrm>
            <a:off x="907999" y="4154119"/>
            <a:ext cx="332842" cy="332842"/>
          </a:xfrm>
          <a:prstGeom prst="rect">
            <a:avLst/>
          </a:prstGeom>
        </p:spPr>
      </p:pic>
      <p:sp>
        <p:nvSpPr>
          <p:cNvPr id="22" name="Text 15"/>
          <p:cNvSpPr txBox="1"/>
          <p:nvPr/>
        </p:nvSpPr>
        <p:spPr>
          <a:xfrm>
            <a:off x="1508760" y="4023360"/>
            <a:ext cx="2448458" cy="594360"/>
          </a:xfrm>
          <a:prstGeom prst="rect">
            <a:avLst/>
          </a:prstGeom>
          <a:noFill/>
          <a:ln/>
        </p:spPr>
        <p:txBody>
          <a:bodyPr wrap="square" lIns="0" tIns="0" rIns="0" bIns="0" rtlCol="0" anchor="ctr"/>
          <a:lstStyle/>
          <a:p>
            <a:pPr indent="0" marL="0">
              <a:buNone/>
            </a:pPr>
            <a:r>
              <a:rPr lang="en-US" sz="1600" b="1" dirty="0">
                <a:solidFill>
                  <a:schemeClr val="tx1"/>
                </a:solidFill>
              </a:rPr>
              <a:t>Empate conservador</a:t>
            </a:r>
            <a:endParaRPr lang="en-US" sz="1600" dirty="0"/>
          </a:p>
        </p:txBody>
      </p:sp>
      <p:sp>
        <p:nvSpPr>
          <p:cNvPr id="23" name="Text 16"/>
          <p:cNvSpPr txBox="1"/>
          <p:nvPr/>
        </p:nvSpPr>
        <p:spPr>
          <a:xfrm>
            <a:off x="777240" y="4800600"/>
            <a:ext cx="3088538" cy="1188720"/>
          </a:xfrm>
          <a:prstGeom prst="rect">
            <a:avLst/>
          </a:prstGeom>
          <a:noFill/>
          <a:ln/>
        </p:spPr>
        <p:txBody>
          <a:bodyPr wrap="square" lIns="0" tIns="0" rIns="0" bIns="0" rtlCol="0" anchor="t"/>
          <a:lstStyle/>
          <a:p>
            <a:pPr indent="0" marL="0">
              <a:buNone/>
            </a:pPr>
            <a:r>
              <a:rPr lang="en-US" sz="1500" dirty="0">
                <a:solidFill>
                  <a:schemeClr val="tx2"/>
                </a:solidFill>
              </a:rPr>
              <a:t>Ante la duda se reporta el dato: mejor un falso hallazgo que un fantasma.</a:t>
            </a:r>
            <a:endParaRPr lang="en-US" sz="1500" dirty="0"/>
          </a:p>
        </p:txBody>
      </p:sp>
      <p:sp>
        <p:nvSpPr>
          <p:cNvPr id="24" name="Shape 17"/>
          <p:cNvSpPr/>
          <p:nvPr/>
        </p:nvSpPr>
        <p:spPr>
          <a:xfrm>
            <a:off x="4322978" y="3794760"/>
            <a:ext cx="3545738" cy="2286000"/>
          </a:xfrm>
          <a:prstGeom prst="roundRect">
            <a:avLst>
              <a:gd name="adj" fmla="val 4000"/>
            </a:avLst>
          </a:prstGeom>
          <a:solidFill>
            <a:schemeClr val="bg2"/>
          </a:solidFill>
          <a:ln w="9525">
            <a:solidFill>
              <a:schemeClr val="bg2"/>
            </a:solidFill>
            <a:prstDash val="solid"/>
          </a:ln>
        </p:spPr>
      </p:sp>
      <p:sp>
        <p:nvSpPr>
          <p:cNvPr id="25" name="Shape 18"/>
          <p:cNvSpPr/>
          <p:nvPr/>
        </p:nvSpPr>
        <p:spPr>
          <a:xfrm>
            <a:off x="4551578" y="4023360"/>
            <a:ext cx="594360" cy="594360"/>
          </a:xfrm>
          <a:prstGeom prst="ellipse">
            <a:avLst/>
          </a:prstGeom>
          <a:solidFill>
            <a:schemeClr val="accent3"/>
          </a:solidFill>
          <a:ln w="12700">
            <a:solidFill>
              <a:schemeClr val="accent3"/>
            </a:solidFill>
            <a:prstDash val="solid"/>
          </a:ln>
        </p:spPr>
      </p:sp>
      <p:pic>
        <p:nvPicPr>
          <p:cNvPr id="26" name="Image 4" descr="preencoded.png">    </p:cNvPr>
          <p:cNvPicPr>
            <a:picLocks noChangeAspect="1"/>
          </p:cNvPicPr>
          <p:nvPr/>
        </p:nvPicPr>
        <p:blipFill>
          <a:blip r:embed="rId5"/>
          <a:stretch>
            <a:fillRect/>
          </a:stretch>
        </p:blipFill>
        <p:spPr>
          <a:xfrm>
            <a:off x="4682338" y="4154119"/>
            <a:ext cx="332842" cy="332842"/>
          </a:xfrm>
          <a:prstGeom prst="rect">
            <a:avLst/>
          </a:prstGeom>
        </p:spPr>
      </p:pic>
      <p:sp>
        <p:nvSpPr>
          <p:cNvPr id="27" name="Text 19"/>
          <p:cNvSpPr txBox="1"/>
          <p:nvPr/>
        </p:nvSpPr>
        <p:spPr>
          <a:xfrm>
            <a:off x="5283098" y="4023360"/>
            <a:ext cx="2448458" cy="594360"/>
          </a:xfrm>
          <a:prstGeom prst="rect">
            <a:avLst/>
          </a:prstGeom>
          <a:noFill/>
          <a:ln/>
        </p:spPr>
        <p:txBody>
          <a:bodyPr wrap="square" lIns="0" tIns="0" rIns="0" bIns="0" rtlCol="0" anchor="ctr"/>
          <a:lstStyle/>
          <a:p>
            <a:pPr indent="0" marL="0">
              <a:buNone/>
            </a:pPr>
            <a:r>
              <a:rPr lang="en-US" sz="1600" b="1" dirty="0">
                <a:solidFill>
                  <a:schemeClr val="tx1"/>
                </a:solidFill>
              </a:rPr>
              <a:t>Caché por hash</a:t>
            </a:r>
            <a:endParaRPr lang="en-US" sz="1600" dirty="0"/>
          </a:p>
        </p:txBody>
      </p:sp>
      <p:sp>
        <p:nvSpPr>
          <p:cNvPr id="28" name="Text 20"/>
          <p:cNvSpPr txBox="1"/>
          <p:nvPr/>
        </p:nvSpPr>
        <p:spPr>
          <a:xfrm>
            <a:off x="4551578" y="4800600"/>
            <a:ext cx="3088538" cy="1188720"/>
          </a:xfrm>
          <a:prstGeom prst="rect">
            <a:avLst/>
          </a:prstGeom>
          <a:noFill/>
          <a:ln/>
        </p:spPr>
        <p:txBody>
          <a:bodyPr wrap="square" lIns="0" tIns="0" rIns="0" bIns="0" rtlCol="0" anchor="t"/>
          <a:lstStyle/>
          <a:p>
            <a:pPr indent="0" marL="0">
              <a:buNone/>
            </a:pPr>
            <a:r>
              <a:rPr lang="en-US" sz="1500" dirty="0">
                <a:solidFill>
                  <a:schemeClr val="tx2"/>
                </a:solidFill>
              </a:rPr>
              <a:t>Misma salida sin clave y costo cero al repetir. Cambiar un prompt invalida su caché.</a:t>
            </a:r>
            <a:endParaRPr lang="en-US" sz="1500" dirty="0"/>
          </a:p>
        </p:txBody>
      </p:sp>
      <p:sp>
        <p:nvSpPr>
          <p:cNvPr id="29" name="Shape 21"/>
          <p:cNvSpPr/>
          <p:nvPr/>
        </p:nvSpPr>
        <p:spPr>
          <a:xfrm>
            <a:off x="8097317" y="3794760"/>
            <a:ext cx="3545738" cy="2286000"/>
          </a:xfrm>
          <a:prstGeom prst="roundRect">
            <a:avLst>
              <a:gd name="adj" fmla="val 4000"/>
            </a:avLst>
          </a:prstGeom>
          <a:solidFill>
            <a:schemeClr val="bg2"/>
          </a:solidFill>
          <a:ln w="9525">
            <a:solidFill>
              <a:schemeClr val="bg2"/>
            </a:solidFill>
            <a:prstDash val="solid"/>
          </a:ln>
        </p:spPr>
      </p:sp>
      <p:sp>
        <p:nvSpPr>
          <p:cNvPr id="30" name="Shape 22"/>
          <p:cNvSpPr/>
          <p:nvPr/>
        </p:nvSpPr>
        <p:spPr>
          <a:xfrm>
            <a:off x="8325917" y="4023360"/>
            <a:ext cx="594360" cy="594360"/>
          </a:xfrm>
          <a:prstGeom prst="ellipse">
            <a:avLst/>
          </a:prstGeom>
          <a:solidFill>
            <a:schemeClr val="accent6"/>
          </a:solidFill>
          <a:ln w="12700">
            <a:solidFill>
              <a:schemeClr val="accent6"/>
            </a:solidFill>
            <a:prstDash val="solid"/>
          </a:ln>
        </p:spPr>
      </p:sp>
      <p:pic>
        <p:nvPicPr>
          <p:cNvPr id="31" name="Image 5" descr="preencoded.png">    </p:cNvPr>
          <p:cNvPicPr>
            <a:picLocks noChangeAspect="1"/>
          </p:cNvPicPr>
          <p:nvPr/>
        </p:nvPicPr>
        <p:blipFill>
          <a:blip r:embed="rId6"/>
          <a:stretch>
            <a:fillRect/>
          </a:stretch>
        </p:blipFill>
        <p:spPr>
          <a:xfrm>
            <a:off x="8456676" y="4154119"/>
            <a:ext cx="332842" cy="332842"/>
          </a:xfrm>
          <a:prstGeom prst="rect">
            <a:avLst/>
          </a:prstGeom>
        </p:spPr>
      </p:pic>
      <p:sp>
        <p:nvSpPr>
          <p:cNvPr id="32" name="Text 23"/>
          <p:cNvSpPr txBox="1"/>
          <p:nvPr/>
        </p:nvSpPr>
        <p:spPr>
          <a:xfrm>
            <a:off x="9057437" y="4023360"/>
            <a:ext cx="2448458" cy="594360"/>
          </a:xfrm>
          <a:prstGeom prst="rect">
            <a:avLst/>
          </a:prstGeom>
          <a:noFill/>
          <a:ln/>
        </p:spPr>
        <p:txBody>
          <a:bodyPr wrap="square" lIns="0" tIns="0" rIns="0" bIns="0" rtlCol="0" anchor="ctr"/>
          <a:lstStyle/>
          <a:p>
            <a:pPr indent="0" marL="0">
              <a:buNone/>
            </a:pPr>
            <a:r>
              <a:rPr lang="en-US" sz="1600" b="1" dirty="0">
                <a:solidFill>
                  <a:schemeClr val="tx1"/>
                </a:solidFill>
              </a:rPr>
              <a:t>Validar antes de escribir</a:t>
            </a:r>
            <a:endParaRPr lang="en-US" sz="1600" dirty="0"/>
          </a:p>
        </p:txBody>
      </p:sp>
      <p:sp>
        <p:nvSpPr>
          <p:cNvPr id="33" name="Text 24"/>
          <p:cNvSpPr txBox="1"/>
          <p:nvPr/>
        </p:nvSpPr>
        <p:spPr>
          <a:xfrm>
            <a:off x="8325917" y="4800600"/>
            <a:ext cx="3088538" cy="1188720"/>
          </a:xfrm>
          <a:prstGeom prst="rect">
            <a:avLst/>
          </a:prstGeom>
          <a:noFill/>
          <a:ln/>
        </p:spPr>
        <p:txBody>
          <a:bodyPr wrap="square" lIns="0" tIns="0" rIns="0" bIns="0" rtlCol="0" anchor="t"/>
          <a:lstStyle/>
          <a:p>
            <a:pPr indent="0" marL="0">
              <a:buNone/>
            </a:pPr>
            <a:r>
              <a:rPr lang="en-US" sz="1500" dirty="0">
                <a:solidFill>
                  <a:schemeClr val="tx2"/>
                </a:solidFill>
              </a:rPr>
              <a:t>Imposible entregar en silencio una fila inválida o una evidencia posterior.</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Límites conocidos y próximos pasos</a:t>
            </a:r>
            <a:endParaRPr lang="en-US" sz="3200" dirty="0"/>
          </a:p>
        </p:txBody>
      </p:sp>
      <p:sp>
        <p:nvSpPr>
          <p:cNvPr id="4" name="Text 1"/>
          <p:cNvSpPr txBox="1"/>
          <p:nvPr/>
        </p:nvSpPr>
        <p:spPr>
          <a:xfrm>
            <a:off x="548640" y="1325880"/>
            <a:ext cx="5394960" cy="411480"/>
          </a:xfrm>
          <a:prstGeom prst="rect">
            <a:avLst/>
          </a:prstGeom>
          <a:noFill/>
          <a:ln/>
        </p:spPr>
        <p:txBody>
          <a:bodyPr wrap="square" lIns="0" tIns="0" rIns="0" bIns="0" rtlCol="0" anchor="t"/>
          <a:lstStyle/>
          <a:p>
            <a:pPr indent="0" marL="0">
              <a:buNone/>
            </a:pPr>
            <a:r>
              <a:rPr lang="en-US" sz="2000" b="1" dirty="0">
                <a:solidFill>
                  <a:schemeClr val="accent2"/>
                </a:solidFill>
              </a:rPr>
              <a:t>Límites</a:t>
            </a:r>
            <a:endParaRPr lang="en-US" sz="2000" dirty="0"/>
          </a:p>
        </p:txBody>
      </p:sp>
      <p:sp>
        <p:nvSpPr>
          <p:cNvPr id="5" name="Shape 2"/>
          <p:cNvSpPr/>
          <p:nvPr/>
        </p:nvSpPr>
        <p:spPr>
          <a:xfrm>
            <a:off x="548640" y="1920240"/>
            <a:ext cx="457200" cy="4572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649224" y="2020824"/>
            <a:ext cx="256032" cy="256032"/>
          </a:xfrm>
          <a:prstGeom prst="rect">
            <a:avLst/>
          </a:prstGeom>
        </p:spPr>
      </p:pic>
      <p:sp>
        <p:nvSpPr>
          <p:cNvPr id="7" name="Text 3"/>
          <p:cNvSpPr txBox="1"/>
          <p:nvPr/>
        </p:nvSpPr>
        <p:spPr>
          <a:xfrm>
            <a:off x="1188720" y="1874520"/>
            <a:ext cx="4754880" cy="777240"/>
          </a:xfrm>
          <a:prstGeom prst="rect">
            <a:avLst/>
          </a:prstGeom>
          <a:noFill/>
          <a:ln/>
        </p:spPr>
        <p:txBody>
          <a:bodyPr wrap="square" lIns="0" tIns="0" rIns="0" bIns="0" rtlCol="0" anchor="ctr"/>
          <a:lstStyle/>
          <a:p>
            <a:pPr indent="0" marL="0">
              <a:buNone/>
            </a:pPr>
            <a:r>
              <a:rPr lang="en-US" sz="1400" dirty="0">
                <a:solidFill>
                  <a:schemeClr val="tx1"/>
                </a:solidFill>
              </a:rPr>
              <a:t>Dos filas de analítica sin identificadores en una corrida: 50/50 resuelto en orden estable.</a:t>
            </a:r>
            <a:endParaRPr lang="en-US" sz="1400" dirty="0"/>
          </a:p>
        </p:txBody>
      </p:sp>
      <p:sp>
        <p:nvSpPr>
          <p:cNvPr id="8" name="Shape 4"/>
          <p:cNvSpPr/>
          <p:nvPr/>
        </p:nvSpPr>
        <p:spPr>
          <a:xfrm>
            <a:off x="548640" y="2788920"/>
            <a:ext cx="457200" cy="45720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49224" y="2889504"/>
            <a:ext cx="256032" cy="256032"/>
          </a:xfrm>
          <a:prstGeom prst="rect">
            <a:avLst/>
          </a:prstGeom>
        </p:spPr>
      </p:pic>
      <p:sp>
        <p:nvSpPr>
          <p:cNvPr id="10" name="Text 5"/>
          <p:cNvSpPr txBox="1"/>
          <p:nvPr/>
        </p:nvSpPr>
        <p:spPr>
          <a:xfrm>
            <a:off x="1188720" y="2743200"/>
            <a:ext cx="4754880" cy="777240"/>
          </a:xfrm>
          <a:prstGeom prst="rect">
            <a:avLst/>
          </a:prstGeom>
          <a:noFill/>
          <a:ln/>
        </p:spPr>
        <p:txBody>
          <a:bodyPr wrap="square" lIns="0" tIns="0" rIns="0" bIns="0" rtlCol="0" anchor="ctr"/>
          <a:lstStyle/>
          <a:p>
            <a:pPr indent="0" marL="0">
              <a:buNone/>
            </a:pPr>
            <a:r>
              <a:rPr lang="en-US" sz="1400" dirty="0">
                <a:solidFill>
                  <a:schemeClr val="tx1"/>
                </a:solidFill>
              </a:rPr>
              <a:t>39 asignaciones de perfil ambiguas, marcadas batch-guess en la traza.</a:t>
            </a:r>
            <a:endParaRPr lang="en-US" sz="1400" dirty="0"/>
          </a:p>
        </p:txBody>
      </p:sp>
      <p:sp>
        <p:nvSpPr>
          <p:cNvPr id="11" name="Shape 6"/>
          <p:cNvSpPr/>
          <p:nvPr/>
        </p:nvSpPr>
        <p:spPr>
          <a:xfrm>
            <a:off x="548640" y="3657600"/>
            <a:ext cx="457200" cy="457200"/>
          </a:xfrm>
          <a:prstGeom prst="ellipse">
            <a:avLst/>
          </a:prstGeom>
          <a:solidFill>
            <a:schemeClr val="accent2"/>
          </a:solidFill>
          <a:ln w="12700">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649224" y="3758184"/>
            <a:ext cx="256032" cy="256032"/>
          </a:xfrm>
          <a:prstGeom prst="rect">
            <a:avLst/>
          </a:prstGeom>
        </p:spPr>
      </p:pic>
      <p:sp>
        <p:nvSpPr>
          <p:cNvPr id="13" name="Text 7"/>
          <p:cNvSpPr txBox="1"/>
          <p:nvPr/>
        </p:nvSpPr>
        <p:spPr>
          <a:xfrm>
            <a:off x="1188720" y="3611880"/>
            <a:ext cx="4754880" cy="777240"/>
          </a:xfrm>
          <a:prstGeom prst="rect">
            <a:avLst/>
          </a:prstGeom>
          <a:noFill/>
          <a:ln/>
        </p:spPr>
        <p:txBody>
          <a:bodyPr wrap="square" lIns="0" tIns="0" rIns="0" bIns="0" rtlCol="0" anchor="ctr"/>
          <a:lstStyle/>
          <a:p>
            <a:pPr indent="0" marL="0">
              <a:buNone/>
            </a:pPr>
            <a:r>
              <a:rPr lang="en-US" sz="1400" dirty="0">
                <a:solidFill>
                  <a:schemeClr val="tx1"/>
                </a:solidFill>
              </a:rPr>
              <a:t>La lectura de capturas depende de la transcripción; se validan ids e identificadores.</a:t>
            </a:r>
            <a:endParaRPr lang="en-US" sz="1400" dirty="0"/>
          </a:p>
        </p:txBody>
      </p:sp>
      <p:sp>
        <p:nvSpPr>
          <p:cNvPr id="14" name="Shape 8"/>
          <p:cNvSpPr/>
          <p:nvPr/>
        </p:nvSpPr>
        <p:spPr>
          <a:xfrm>
            <a:off x="548640" y="4526280"/>
            <a:ext cx="457200" cy="457200"/>
          </a:xfrm>
          <a:prstGeom prst="ellipse">
            <a:avLst/>
          </a:prstGeom>
          <a:solidFill>
            <a:schemeClr val="accent2"/>
          </a:solidFill>
          <a:ln w="12700">
            <a:solidFill>
              <a:schemeClr val="accent2"/>
            </a:solidFill>
            <a:prstDash val="solid"/>
          </a:ln>
        </p:spPr>
      </p:sp>
      <p:pic>
        <p:nvPicPr>
          <p:cNvPr id="15" name="Image 3" descr="preencoded.png">    </p:cNvPr>
          <p:cNvPicPr>
            <a:picLocks noChangeAspect="1"/>
          </p:cNvPicPr>
          <p:nvPr/>
        </p:nvPicPr>
        <p:blipFill>
          <a:blip r:embed="rId4"/>
          <a:stretch>
            <a:fillRect/>
          </a:stretch>
        </p:blipFill>
        <p:spPr>
          <a:xfrm>
            <a:off x="649224" y="4626864"/>
            <a:ext cx="256032" cy="256032"/>
          </a:xfrm>
          <a:prstGeom prst="rect">
            <a:avLst/>
          </a:prstGeom>
        </p:spPr>
      </p:pic>
      <p:sp>
        <p:nvSpPr>
          <p:cNvPr id="16" name="Text 9"/>
          <p:cNvSpPr txBox="1"/>
          <p:nvPr/>
        </p:nvSpPr>
        <p:spPr>
          <a:xfrm>
            <a:off x="1188720" y="4480560"/>
            <a:ext cx="4754880" cy="777240"/>
          </a:xfrm>
          <a:prstGeom prst="rect">
            <a:avLst/>
          </a:prstGeom>
          <a:noFill/>
          <a:ln/>
        </p:spPr>
        <p:txBody>
          <a:bodyPr wrap="square" lIns="0" tIns="0" rIns="0" bIns="0" rtlCol="0" anchor="ctr"/>
          <a:lstStyle/>
          <a:p>
            <a:pPr indent="0" marL="0">
              <a:buNone/>
            </a:pPr>
            <a:r>
              <a:rPr lang="en-US" sz="1400" dirty="0">
                <a:solidFill>
                  <a:schemeClr val="tx1"/>
                </a:solidFill>
              </a:rPr>
              <a:t>Parsers ajustados a los formatos de este dataset.</a:t>
            </a:r>
            <a:endParaRPr lang="en-US" sz="1400" dirty="0"/>
          </a:p>
        </p:txBody>
      </p:sp>
      <p:sp>
        <p:nvSpPr>
          <p:cNvPr id="17" name="Shape 10"/>
          <p:cNvSpPr/>
          <p:nvPr/>
        </p:nvSpPr>
        <p:spPr>
          <a:xfrm>
            <a:off x="548640" y="5394960"/>
            <a:ext cx="457200" cy="457200"/>
          </a:xfrm>
          <a:prstGeom prst="ellipse">
            <a:avLst/>
          </a:prstGeom>
          <a:solidFill>
            <a:schemeClr val="accent2"/>
          </a:solidFill>
          <a:ln w="12700">
            <a:solidFill>
              <a:schemeClr val="accent2"/>
            </a:solidFill>
            <a:prstDash val="solid"/>
          </a:ln>
        </p:spPr>
      </p:sp>
      <p:pic>
        <p:nvPicPr>
          <p:cNvPr id="18" name="Image 4" descr="preencoded.png">    </p:cNvPr>
          <p:cNvPicPr>
            <a:picLocks noChangeAspect="1"/>
          </p:cNvPicPr>
          <p:nvPr/>
        </p:nvPicPr>
        <p:blipFill>
          <a:blip r:embed="rId5"/>
          <a:stretch>
            <a:fillRect/>
          </a:stretch>
        </p:blipFill>
        <p:spPr>
          <a:xfrm>
            <a:off x="649224" y="5495544"/>
            <a:ext cx="256032" cy="256032"/>
          </a:xfrm>
          <a:prstGeom prst="rect">
            <a:avLst/>
          </a:prstGeom>
        </p:spPr>
      </p:pic>
      <p:sp>
        <p:nvSpPr>
          <p:cNvPr id="19" name="Text 11"/>
          <p:cNvSpPr txBox="1"/>
          <p:nvPr/>
        </p:nvSpPr>
        <p:spPr>
          <a:xfrm>
            <a:off x="1188720" y="5349240"/>
            <a:ext cx="4754880" cy="777240"/>
          </a:xfrm>
          <a:prstGeom prst="rect">
            <a:avLst/>
          </a:prstGeom>
          <a:noFill/>
          <a:ln/>
        </p:spPr>
        <p:txBody>
          <a:bodyPr wrap="square" lIns="0" tIns="0" rIns="0" bIns="0" rtlCol="0" anchor="ctr"/>
          <a:lstStyle/>
          <a:p>
            <a:pPr indent="0" marL="0">
              <a:buNone/>
            </a:pPr>
            <a:r>
              <a:rPr lang="en-US" sz="1400" dirty="0">
                <a:solidFill>
                  <a:schemeClr val="tx1"/>
                </a:solidFill>
              </a:rPr>
              <a:t>No se inventan recursos ausentes de la evidencia visible (case_04, 18, 20).</a:t>
            </a:r>
            <a:endParaRPr lang="en-US" sz="1400" dirty="0"/>
          </a:p>
        </p:txBody>
      </p:sp>
      <p:sp>
        <p:nvSpPr>
          <p:cNvPr id="20" name="Shape 12"/>
          <p:cNvSpPr/>
          <p:nvPr/>
        </p:nvSpPr>
        <p:spPr>
          <a:xfrm>
            <a:off x="6263640" y="1325880"/>
            <a:ext cx="5376672" cy="4937760"/>
          </a:xfrm>
          <a:prstGeom prst="roundRect">
            <a:avLst>
              <a:gd name="adj" fmla="val 1852"/>
            </a:avLst>
          </a:prstGeom>
          <a:solidFill>
            <a:schemeClr val="bg2"/>
          </a:solidFill>
          <a:ln w="9525">
            <a:solidFill>
              <a:schemeClr val="bg2"/>
            </a:solidFill>
            <a:prstDash val="solid"/>
          </a:ln>
        </p:spPr>
      </p:sp>
      <p:sp>
        <p:nvSpPr>
          <p:cNvPr id="21" name="Text 13"/>
          <p:cNvSpPr txBox="1"/>
          <p:nvPr/>
        </p:nvSpPr>
        <p:spPr>
          <a:xfrm>
            <a:off x="6492240" y="1463040"/>
            <a:ext cx="4937760" cy="411480"/>
          </a:xfrm>
          <a:prstGeom prst="rect">
            <a:avLst/>
          </a:prstGeom>
          <a:noFill/>
          <a:ln/>
        </p:spPr>
        <p:txBody>
          <a:bodyPr wrap="square" lIns="0" tIns="0" rIns="0" bIns="0" rtlCol="0" anchor="t"/>
          <a:lstStyle/>
          <a:p>
            <a:pPr indent="0" marL="0">
              <a:buNone/>
            </a:pPr>
            <a:r>
              <a:rPr lang="en-US" sz="2000" b="1" dirty="0">
                <a:solidFill>
                  <a:schemeClr val="accent1"/>
                </a:solidFill>
              </a:rPr>
              <a:t>Próximos pasos</a:t>
            </a:r>
            <a:endParaRPr lang="en-US" sz="2000" dirty="0"/>
          </a:p>
        </p:txBody>
      </p:sp>
      <p:sp>
        <p:nvSpPr>
          <p:cNvPr id="22" name="Shape 14"/>
          <p:cNvSpPr/>
          <p:nvPr/>
        </p:nvSpPr>
        <p:spPr>
          <a:xfrm>
            <a:off x="6492240" y="2057400"/>
            <a:ext cx="457200" cy="457200"/>
          </a:xfrm>
          <a:prstGeom prst="ellipse">
            <a:avLst/>
          </a:prstGeom>
          <a:solidFill>
            <a:schemeClr val="accent1"/>
          </a:solidFill>
          <a:ln w="12700">
            <a:solidFill>
              <a:schemeClr val="accent1"/>
            </a:solidFill>
            <a:prstDash val="solid"/>
          </a:ln>
        </p:spPr>
      </p:sp>
      <p:pic>
        <p:nvPicPr>
          <p:cNvPr id="23" name="Image 5" descr="preencoded.png">    </p:cNvPr>
          <p:cNvPicPr>
            <a:picLocks noChangeAspect="1"/>
          </p:cNvPicPr>
          <p:nvPr/>
        </p:nvPicPr>
        <p:blipFill>
          <a:blip r:embed="rId6"/>
          <a:stretch>
            <a:fillRect/>
          </a:stretch>
        </p:blipFill>
        <p:spPr>
          <a:xfrm>
            <a:off x="6592824" y="2157984"/>
            <a:ext cx="256032" cy="256032"/>
          </a:xfrm>
          <a:prstGeom prst="rect">
            <a:avLst/>
          </a:prstGeom>
        </p:spPr>
      </p:pic>
      <p:sp>
        <p:nvSpPr>
          <p:cNvPr id="24" name="Text 15"/>
          <p:cNvSpPr txBox="1"/>
          <p:nvPr/>
        </p:nvSpPr>
        <p:spPr>
          <a:xfrm>
            <a:off x="7132320" y="2011680"/>
            <a:ext cx="4343400" cy="868680"/>
          </a:xfrm>
          <a:prstGeom prst="rect">
            <a:avLst/>
          </a:prstGeom>
          <a:noFill/>
          <a:ln/>
        </p:spPr>
        <p:txBody>
          <a:bodyPr wrap="square" lIns="0" tIns="0" rIns="0" bIns="0" rtlCol="0" anchor="ctr"/>
          <a:lstStyle/>
          <a:p>
            <a:pPr indent="0" marL="0">
              <a:buNone/>
            </a:pPr>
            <a:r>
              <a:rPr lang="en-US" sz="1400" dirty="0">
                <a:solidFill>
                  <a:schemeClr val="tx1"/>
                </a:solidFill>
              </a:rPr>
              <a:t>Parser de respaldo con LLM para formatos desconocidos, con la misma validación.</a:t>
            </a:r>
            <a:endParaRPr lang="en-US" sz="1400" dirty="0"/>
          </a:p>
        </p:txBody>
      </p:sp>
      <p:sp>
        <p:nvSpPr>
          <p:cNvPr id="25" name="Shape 16"/>
          <p:cNvSpPr/>
          <p:nvPr/>
        </p:nvSpPr>
        <p:spPr>
          <a:xfrm>
            <a:off x="6492240" y="3063240"/>
            <a:ext cx="457200" cy="457200"/>
          </a:xfrm>
          <a:prstGeom prst="ellipse">
            <a:avLst/>
          </a:prstGeom>
          <a:solidFill>
            <a:schemeClr val="accent1"/>
          </a:solidFill>
          <a:ln w="12700">
            <a:solidFill>
              <a:schemeClr val="accent1"/>
            </a:solidFill>
            <a:prstDash val="solid"/>
          </a:ln>
        </p:spPr>
      </p:sp>
      <p:pic>
        <p:nvPicPr>
          <p:cNvPr id="26" name="Image 6" descr="preencoded.png">    </p:cNvPr>
          <p:cNvPicPr>
            <a:picLocks noChangeAspect="1"/>
          </p:cNvPicPr>
          <p:nvPr/>
        </p:nvPicPr>
        <p:blipFill>
          <a:blip r:embed="rId7"/>
          <a:stretch>
            <a:fillRect/>
          </a:stretch>
        </p:blipFill>
        <p:spPr>
          <a:xfrm>
            <a:off x="6592824" y="3163824"/>
            <a:ext cx="256032" cy="256032"/>
          </a:xfrm>
          <a:prstGeom prst="rect">
            <a:avLst/>
          </a:prstGeom>
        </p:spPr>
      </p:pic>
      <p:sp>
        <p:nvSpPr>
          <p:cNvPr id="27" name="Text 17"/>
          <p:cNvSpPr txBox="1"/>
          <p:nvPr/>
        </p:nvSpPr>
        <p:spPr>
          <a:xfrm>
            <a:off x="7132320" y="3017520"/>
            <a:ext cx="4343400" cy="868680"/>
          </a:xfrm>
          <a:prstGeom prst="rect">
            <a:avLst/>
          </a:prstGeom>
          <a:noFill/>
          <a:ln/>
        </p:spPr>
        <p:txBody>
          <a:bodyPr wrap="square" lIns="0" tIns="0" rIns="0" bIns="0" rtlCol="0" anchor="ctr"/>
          <a:lstStyle/>
          <a:p>
            <a:pPr indent="0" marL="0">
              <a:buNone/>
            </a:pPr>
            <a:r>
              <a:rPr lang="en-US" sz="1400" dirty="0">
                <a:solidFill>
                  <a:schemeClr val="tx1"/>
                </a:solidFill>
              </a:rPr>
              <a:t>Confianza por recurso y cola de revisión humana para los batch-guess.</a:t>
            </a:r>
            <a:endParaRPr lang="en-US" sz="1400" dirty="0"/>
          </a:p>
        </p:txBody>
      </p:sp>
      <p:sp>
        <p:nvSpPr>
          <p:cNvPr id="28" name="Shape 18"/>
          <p:cNvSpPr/>
          <p:nvPr/>
        </p:nvSpPr>
        <p:spPr>
          <a:xfrm>
            <a:off x="6492240" y="4069080"/>
            <a:ext cx="457200" cy="457200"/>
          </a:xfrm>
          <a:prstGeom prst="ellipse">
            <a:avLst/>
          </a:prstGeom>
          <a:solidFill>
            <a:schemeClr val="accent1"/>
          </a:solidFill>
          <a:ln w="12700">
            <a:solidFill>
              <a:schemeClr val="accent1"/>
            </a:solidFill>
            <a:prstDash val="solid"/>
          </a:ln>
        </p:spPr>
      </p:sp>
      <p:pic>
        <p:nvPicPr>
          <p:cNvPr id="29" name="Image 7" descr="preencoded.png">    </p:cNvPr>
          <p:cNvPicPr>
            <a:picLocks noChangeAspect="1"/>
          </p:cNvPicPr>
          <p:nvPr/>
        </p:nvPicPr>
        <p:blipFill>
          <a:blip r:embed="rId8"/>
          <a:stretch>
            <a:fillRect/>
          </a:stretch>
        </p:blipFill>
        <p:spPr>
          <a:xfrm>
            <a:off x="6592824" y="4169664"/>
            <a:ext cx="256032" cy="256032"/>
          </a:xfrm>
          <a:prstGeom prst="rect">
            <a:avLst/>
          </a:prstGeom>
        </p:spPr>
      </p:pic>
      <p:sp>
        <p:nvSpPr>
          <p:cNvPr id="30" name="Text 19"/>
          <p:cNvSpPr txBox="1"/>
          <p:nvPr/>
        </p:nvSpPr>
        <p:spPr>
          <a:xfrm>
            <a:off x="7132320" y="4023360"/>
            <a:ext cx="4343400" cy="868680"/>
          </a:xfrm>
          <a:prstGeom prst="rect">
            <a:avLst/>
          </a:prstGeom>
          <a:noFill/>
          <a:ln/>
        </p:spPr>
        <p:txBody>
          <a:bodyPr wrap="square" lIns="0" tIns="0" rIns="0" bIns="0" rtlCol="0" anchor="ctr"/>
          <a:lstStyle/>
          <a:p>
            <a:pPr indent="0" marL="0">
              <a:buNone/>
            </a:pPr>
            <a:r>
              <a:rPr lang="en-US" sz="1400" dirty="0">
                <a:solidFill>
                  <a:schemeClr val="tx1"/>
                </a:solidFill>
              </a:rPr>
              <a:t>Más casos propios de borde: tombstones, retenciones legales, réplicas en conflicto.</a:t>
            </a:r>
            <a:endParaRPr lang="en-US" sz="1400" dirty="0"/>
          </a:p>
        </p:txBody>
      </p:sp>
      <p:sp>
        <p:nvSpPr>
          <p:cNvPr id="31" name="Shape 20"/>
          <p:cNvSpPr/>
          <p:nvPr/>
        </p:nvSpPr>
        <p:spPr>
          <a:xfrm>
            <a:off x="6492240" y="5074920"/>
            <a:ext cx="457200" cy="457200"/>
          </a:xfrm>
          <a:prstGeom prst="ellipse">
            <a:avLst/>
          </a:prstGeom>
          <a:solidFill>
            <a:schemeClr val="accent1"/>
          </a:solidFill>
          <a:ln w="12700">
            <a:solidFill>
              <a:schemeClr val="accent1"/>
            </a:solidFill>
            <a:prstDash val="solid"/>
          </a:ln>
        </p:spPr>
      </p:sp>
      <p:pic>
        <p:nvPicPr>
          <p:cNvPr id="32" name="Image 8" descr="preencoded.png">    </p:cNvPr>
          <p:cNvPicPr>
            <a:picLocks noChangeAspect="1"/>
          </p:cNvPicPr>
          <p:nvPr/>
        </p:nvPicPr>
        <p:blipFill>
          <a:blip r:embed="rId9"/>
          <a:stretch>
            <a:fillRect/>
          </a:stretch>
        </p:blipFill>
        <p:spPr>
          <a:xfrm>
            <a:off x="6592824" y="5175504"/>
            <a:ext cx="256032" cy="256032"/>
          </a:xfrm>
          <a:prstGeom prst="rect">
            <a:avLst/>
          </a:prstGeom>
        </p:spPr>
      </p:pic>
      <p:sp>
        <p:nvSpPr>
          <p:cNvPr id="33" name="Text 21"/>
          <p:cNvSpPr txBox="1"/>
          <p:nvPr/>
        </p:nvSpPr>
        <p:spPr>
          <a:xfrm>
            <a:off x="7132320" y="5029200"/>
            <a:ext cx="4343400" cy="868680"/>
          </a:xfrm>
          <a:prstGeom prst="rect">
            <a:avLst/>
          </a:prstGeom>
          <a:noFill/>
          <a:ln/>
        </p:spPr>
        <p:txBody>
          <a:bodyPr wrap="square" lIns="0" tIns="0" rIns="0" bIns="0" rtlCol="0" anchor="ctr"/>
          <a:lstStyle/>
          <a:p>
            <a:pPr indent="0" marL="0">
              <a:buNone/>
            </a:pPr>
            <a:r>
              <a:rPr lang="en-US" sz="1400" dirty="0">
                <a:solidFill>
                  <a:schemeClr val="tx1"/>
                </a:solidFill>
              </a:rPr>
              <a:t>Ejecución incremental: solo los casos cuyos archivos cambiaron.</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Preguntas probables del AI Judge</a:t>
            </a:r>
            <a:endParaRPr lang="en-US" sz="3200" dirty="0"/>
          </a:p>
        </p:txBody>
      </p:sp>
      <p:sp>
        <p:nvSpPr>
          <p:cNvPr id="4" name="Shape 1"/>
          <p:cNvSpPr/>
          <p:nvPr/>
        </p:nvSpPr>
        <p:spPr>
          <a:xfrm>
            <a:off x="548640" y="1325880"/>
            <a:ext cx="5437480" cy="1463040"/>
          </a:xfrm>
          <a:prstGeom prst="roundRect">
            <a:avLst>
              <a:gd name="adj" fmla="val 6250"/>
            </a:avLst>
          </a:prstGeom>
          <a:solidFill>
            <a:schemeClr val="bg2"/>
          </a:solidFill>
          <a:ln w="9525">
            <a:solidFill>
              <a:schemeClr val="bg2"/>
            </a:solidFill>
            <a:prstDash val="solid"/>
          </a:ln>
        </p:spPr>
      </p:sp>
      <p:sp>
        <p:nvSpPr>
          <p:cNvPr id="5" name="Shape 2"/>
          <p:cNvSpPr/>
          <p:nvPr/>
        </p:nvSpPr>
        <p:spPr>
          <a:xfrm>
            <a:off x="731520" y="1508760"/>
            <a:ext cx="502920" cy="50292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842162" y="1619402"/>
            <a:ext cx="281635" cy="281635"/>
          </a:xfrm>
          <a:prstGeom prst="rect">
            <a:avLst/>
          </a:prstGeom>
        </p:spPr>
      </p:pic>
      <p:sp>
        <p:nvSpPr>
          <p:cNvPr id="7" name="Text 3"/>
          <p:cNvSpPr txBox="1"/>
          <p:nvPr/>
        </p:nvSpPr>
        <p:spPr>
          <a:xfrm>
            <a:off x="1417320" y="1508760"/>
            <a:ext cx="4431640" cy="502920"/>
          </a:xfrm>
          <a:prstGeom prst="rect">
            <a:avLst/>
          </a:prstGeom>
          <a:noFill/>
          <a:ln/>
        </p:spPr>
        <p:txBody>
          <a:bodyPr wrap="square" lIns="0" tIns="0" rIns="0" bIns="0" rtlCol="0" anchor="ctr"/>
          <a:lstStyle/>
          <a:p>
            <a:pPr indent="0" marL="0">
              <a:buNone/>
            </a:pPr>
            <a:r>
              <a:rPr lang="en-US" sz="1600" b="1" dirty="0">
                <a:solidFill>
                  <a:schemeClr val="tx1"/>
                </a:solidFill>
              </a:rPr>
              <a:t>¿Dónde está la IA?</a:t>
            </a:r>
            <a:endParaRPr lang="en-US" sz="1600" dirty="0"/>
          </a:p>
        </p:txBody>
      </p:sp>
      <p:sp>
        <p:nvSpPr>
          <p:cNvPr id="8" name="Text 4"/>
          <p:cNvSpPr txBox="1"/>
          <p:nvPr/>
        </p:nvSpPr>
        <p:spPr>
          <a:xfrm>
            <a:off x="1417320" y="2039112"/>
            <a:ext cx="4385920" cy="713232"/>
          </a:xfrm>
          <a:prstGeom prst="rect">
            <a:avLst/>
          </a:prstGeom>
          <a:noFill/>
          <a:ln/>
        </p:spPr>
        <p:txBody>
          <a:bodyPr wrap="square" lIns="0" tIns="0" rIns="0" bIns="0" rtlCol="0" anchor="t"/>
          <a:lstStyle/>
          <a:p>
            <a:pPr indent="0" marL="0">
              <a:buNone/>
            </a:pPr>
            <a:r>
              <a:rPr lang="en-US" sz="1450" dirty="0">
                <a:solidFill>
                  <a:schemeClr val="tx2"/>
                </a:solidFill>
              </a:rPr>
              <a:t>Solo en intención y capturas: lo que requiere percepción. El resto es verificable.</a:t>
            </a:r>
            <a:endParaRPr lang="en-US" sz="1450" dirty="0"/>
          </a:p>
        </p:txBody>
      </p:sp>
      <p:sp>
        <p:nvSpPr>
          <p:cNvPr id="9" name="Shape 5"/>
          <p:cNvSpPr/>
          <p:nvPr/>
        </p:nvSpPr>
        <p:spPr>
          <a:xfrm>
            <a:off x="6205576" y="1325880"/>
            <a:ext cx="5437480" cy="1463040"/>
          </a:xfrm>
          <a:prstGeom prst="roundRect">
            <a:avLst>
              <a:gd name="adj" fmla="val 6250"/>
            </a:avLst>
          </a:prstGeom>
          <a:solidFill>
            <a:schemeClr val="bg2"/>
          </a:solidFill>
          <a:ln w="9525">
            <a:solidFill>
              <a:schemeClr val="bg2"/>
            </a:solidFill>
            <a:prstDash val="solid"/>
          </a:ln>
        </p:spPr>
      </p:sp>
      <p:sp>
        <p:nvSpPr>
          <p:cNvPr id="10" name="Shape 6"/>
          <p:cNvSpPr/>
          <p:nvPr/>
        </p:nvSpPr>
        <p:spPr>
          <a:xfrm>
            <a:off x="6388456" y="1508760"/>
            <a:ext cx="502920" cy="50292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6499098" y="1619402"/>
            <a:ext cx="281635" cy="281635"/>
          </a:xfrm>
          <a:prstGeom prst="rect">
            <a:avLst/>
          </a:prstGeom>
        </p:spPr>
      </p:pic>
      <p:sp>
        <p:nvSpPr>
          <p:cNvPr id="12" name="Text 7"/>
          <p:cNvSpPr txBox="1"/>
          <p:nvPr/>
        </p:nvSpPr>
        <p:spPr>
          <a:xfrm>
            <a:off x="7074256" y="1508760"/>
            <a:ext cx="4431640" cy="502920"/>
          </a:xfrm>
          <a:prstGeom prst="rect">
            <a:avLst/>
          </a:prstGeom>
          <a:noFill/>
          <a:ln/>
        </p:spPr>
        <p:txBody>
          <a:bodyPr wrap="square" lIns="0" tIns="0" rIns="0" bIns="0" rtlCol="0" anchor="ctr"/>
          <a:lstStyle/>
          <a:p>
            <a:pPr indent="0" marL="0">
              <a:buNone/>
            </a:pPr>
            <a:r>
              <a:rPr lang="en-US" sz="1600" b="1" dirty="0">
                <a:solidFill>
                  <a:schemeClr val="tx1"/>
                </a:solidFill>
              </a:rPr>
              <a:t>¿Cómo evitas la evidencia futura?</a:t>
            </a:r>
            <a:endParaRPr lang="en-US" sz="1600" dirty="0"/>
          </a:p>
        </p:txBody>
      </p:sp>
      <p:sp>
        <p:nvSpPr>
          <p:cNvPr id="13" name="Text 8"/>
          <p:cNvSpPr txBox="1"/>
          <p:nvPr/>
        </p:nvSpPr>
        <p:spPr>
          <a:xfrm>
            <a:off x="7074256" y="2039112"/>
            <a:ext cx="4385920" cy="713232"/>
          </a:xfrm>
          <a:prstGeom prst="rect">
            <a:avLst/>
          </a:prstGeom>
          <a:noFill/>
          <a:ln/>
        </p:spPr>
        <p:txBody>
          <a:bodyPr wrap="square" lIns="0" tIns="0" rIns="0" bIns="0" rtlCol="0" anchor="t"/>
          <a:lstStyle/>
          <a:p>
            <a:pPr indent="0" marL="0">
              <a:buNone/>
            </a:pPr>
            <a:r>
              <a:rPr lang="en-US" sz="1450" dirty="0">
                <a:solidFill>
                  <a:schemeClr val="tx2"/>
                </a:solidFill>
              </a:rPr>
              <a:t>La ventana in_window y un validador que rechaza citas posteriores a audit_at.</a:t>
            </a:r>
            <a:endParaRPr lang="en-US" sz="1450" dirty="0"/>
          </a:p>
        </p:txBody>
      </p:sp>
      <p:sp>
        <p:nvSpPr>
          <p:cNvPr id="14" name="Shape 9"/>
          <p:cNvSpPr/>
          <p:nvPr/>
        </p:nvSpPr>
        <p:spPr>
          <a:xfrm>
            <a:off x="548640" y="2971800"/>
            <a:ext cx="5437480" cy="1463040"/>
          </a:xfrm>
          <a:prstGeom prst="roundRect">
            <a:avLst>
              <a:gd name="adj" fmla="val 6250"/>
            </a:avLst>
          </a:prstGeom>
          <a:solidFill>
            <a:schemeClr val="bg2"/>
          </a:solidFill>
          <a:ln w="9525">
            <a:solidFill>
              <a:schemeClr val="bg2"/>
            </a:solidFill>
            <a:prstDash val="solid"/>
          </a:ln>
        </p:spPr>
      </p:sp>
      <p:sp>
        <p:nvSpPr>
          <p:cNvPr id="15" name="Shape 10"/>
          <p:cNvSpPr/>
          <p:nvPr/>
        </p:nvSpPr>
        <p:spPr>
          <a:xfrm>
            <a:off x="731520" y="3154680"/>
            <a:ext cx="502920" cy="50292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842162" y="3265322"/>
            <a:ext cx="281635" cy="281635"/>
          </a:xfrm>
          <a:prstGeom prst="rect">
            <a:avLst/>
          </a:prstGeom>
        </p:spPr>
      </p:pic>
      <p:sp>
        <p:nvSpPr>
          <p:cNvPr id="17" name="Text 11"/>
          <p:cNvSpPr txBox="1"/>
          <p:nvPr/>
        </p:nvSpPr>
        <p:spPr>
          <a:xfrm>
            <a:off x="1417320" y="3154680"/>
            <a:ext cx="4431640" cy="502920"/>
          </a:xfrm>
          <a:prstGeom prst="rect">
            <a:avLst/>
          </a:prstGeom>
          <a:noFill/>
          <a:ln/>
        </p:spPr>
        <p:txBody>
          <a:bodyPr wrap="square" lIns="0" tIns="0" rIns="0" bIns="0" rtlCol="0" anchor="ctr"/>
          <a:lstStyle/>
          <a:p>
            <a:pPr indent="0" marL="0">
              <a:buNone/>
            </a:pPr>
            <a:r>
              <a:rPr lang="en-US" sz="1600" b="1" dirty="0">
                <a:solidFill>
                  <a:schemeClr val="tx1"/>
                </a:solidFill>
              </a:rPr>
              <a:t>¿Y los emails antiguos?</a:t>
            </a:r>
            <a:endParaRPr lang="en-US" sz="1600" dirty="0"/>
          </a:p>
        </p:txBody>
      </p:sp>
      <p:sp>
        <p:nvSpPr>
          <p:cNvPr id="18" name="Text 12"/>
          <p:cNvSpPr txBox="1"/>
          <p:nvPr/>
        </p:nvSpPr>
        <p:spPr>
          <a:xfrm>
            <a:off x="1417320" y="3685032"/>
            <a:ext cx="4385920" cy="713232"/>
          </a:xfrm>
          <a:prstGeom prst="rect">
            <a:avLst/>
          </a:prstGeom>
          <a:noFill/>
          <a:ln/>
        </p:spPr>
        <p:txBody>
          <a:bodyPr wrap="square" lIns="0" tIns="0" rIns="0" bIns="0" rtlCol="0" anchor="t"/>
          <a:lstStyle/>
          <a:p>
            <a:pPr indent="0" marL="0">
              <a:buNone/>
            </a:pPr>
            <a:r>
              <a:rPr lang="en-US" sz="1450" dirty="0">
                <a:solidFill>
                  <a:schemeClr val="tx2"/>
                </a:solidFill>
              </a:rPr>
              <a:t>user_audit_log + sha256 de cada email. Lo prueban case_12 y custom_03.</a:t>
            </a:r>
            <a:endParaRPr lang="en-US" sz="1450" dirty="0"/>
          </a:p>
        </p:txBody>
      </p:sp>
      <p:sp>
        <p:nvSpPr>
          <p:cNvPr id="19" name="Shape 13"/>
          <p:cNvSpPr/>
          <p:nvPr/>
        </p:nvSpPr>
        <p:spPr>
          <a:xfrm>
            <a:off x="6205576" y="2971800"/>
            <a:ext cx="5437480" cy="1463040"/>
          </a:xfrm>
          <a:prstGeom prst="roundRect">
            <a:avLst>
              <a:gd name="adj" fmla="val 6250"/>
            </a:avLst>
          </a:prstGeom>
          <a:solidFill>
            <a:schemeClr val="bg2"/>
          </a:solidFill>
          <a:ln w="9525">
            <a:solidFill>
              <a:schemeClr val="bg2"/>
            </a:solidFill>
            <a:prstDash val="solid"/>
          </a:ln>
        </p:spPr>
      </p:sp>
      <p:sp>
        <p:nvSpPr>
          <p:cNvPr id="20" name="Shape 14"/>
          <p:cNvSpPr/>
          <p:nvPr/>
        </p:nvSpPr>
        <p:spPr>
          <a:xfrm>
            <a:off x="6388456" y="3154680"/>
            <a:ext cx="502920" cy="502920"/>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6499098" y="3265322"/>
            <a:ext cx="281635" cy="281635"/>
          </a:xfrm>
          <a:prstGeom prst="rect">
            <a:avLst/>
          </a:prstGeom>
        </p:spPr>
      </p:pic>
      <p:sp>
        <p:nvSpPr>
          <p:cNvPr id="22" name="Text 15"/>
          <p:cNvSpPr txBox="1"/>
          <p:nvPr/>
        </p:nvSpPr>
        <p:spPr>
          <a:xfrm>
            <a:off x="7074256" y="3154680"/>
            <a:ext cx="4431640" cy="502920"/>
          </a:xfrm>
          <a:prstGeom prst="rect">
            <a:avLst/>
          </a:prstGeom>
          <a:noFill/>
          <a:ln/>
        </p:spPr>
        <p:txBody>
          <a:bodyPr wrap="square" lIns="0" tIns="0" rIns="0" bIns="0" rtlCol="0" anchor="ctr"/>
          <a:lstStyle/>
          <a:p>
            <a:pPr indent="0" marL="0">
              <a:buNone/>
            </a:pPr>
            <a:r>
              <a:rPr lang="en-US" sz="1600" b="1" dirty="0">
                <a:solidFill>
                  <a:schemeClr val="tx1"/>
                </a:solidFill>
              </a:rPr>
              <a:t>¿Sin API key?</a:t>
            </a:r>
            <a:endParaRPr lang="en-US" sz="1600" dirty="0"/>
          </a:p>
        </p:txBody>
      </p:sp>
      <p:sp>
        <p:nvSpPr>
          <p:cNvPr id="23" name="Text 16"/>
          <p:cNvSpPr txBox="1"/>
          <p:nvPr/>
        </p:nvSpPr>
        <p:spPr>
          <a:xfrm>
            <a:off x="7074256" y="3685032"/>
            <a:ext cx="4385920" cy="713232"/>
          </a:xfrm>
          <a:prstGeom prst="rect">
            <a:avLst/>
          </a:prstGeom>
          <a:noFill/>
          <a:ln/>
        </p:spPr>
        <p:txBody>
          <a:bodyPr wrap="square" lIns="0" tIns="0" rIns="0" bIns="0" rtlCol="0" anchor="t"/>
          <a:lstStyle/>
          <a:p>
            <a:pPr indent="0" marL="0">
              <a:buNone/>
            </a:pPr>
            <a:r>
              <a:rPr lang="en-US" sz="1450" dirty="0">
                <a:solidFill>
                  <a:schemeClr val="tx2"/>
                </a:solidFill>
              </a:rPr>
              <a:t>Caché: salida idéntica. Modo off: palabras clave y PDFs, salida válida.</a:t>
            </a:r>
            <a:endParaRPr lang="en-US" sz="1450" dirty="0"/>
          </a:p>
        </p:txBody>
      </p:sp>
      <p:sp>
        <p:nvSpPr>
          <p:cNvPr id="24" name="Shape 17"/>
          <p:cNvSpPr/>
          <p:nvPr/>
        </p:nvSpPr>
        <p:spPr>
          <a:xfrm>
            <a:off x="548640" y="4617720"/>
            <a:ext cx="5437480" cy="1463040"/>
          </a:xfrm>
          <a:prstGeom prst="roundRect">
            <a:avLst>
              <a:gd name="adj" fmla="val 6250"/>
            </a:avLst>
          </a:prstGeom>
          <a:solidFill>
            <a:schemeClr val="bg2"/>
          </a:solidFill>
          <a:ln w="9525">
            <a:solidFill>
              <a:schemeClr val="bg2"/>
            </a:solidFill>
            <a:prstDash val="solid"/>
          </a:ln>
        </p:spPr>
      </p:sp>
      <p:sp>
        <p:nvSpPr>
          <p:cNvPr id="25" name="Shape 18"/>
          <p:cNvSpPr/>
          <p:nvPr/>
        </p:nvSpPr>
        <p:spPr>
          <a:xfrm>
            <a:off x="731520" y="4800600"/>
            <a:ext cx="502920" cy="502920"/>
          </a:xfrm>
          <a:prstGeom prst="ellipse">
            <a:avLst/>
          </a:prstGeom>
          <a:solidFill>
            <a:schemeClr val="tx2"/>
          </a:solidFill>
          <a:ln w="12700">
            <a:solidFill>
              <a:schemeClr val="tx2"/>
            </a:solidFill>
            <a:prstDash val="solid"/>
          </a:ln>
        </p:spPr>
      </p:sp>
      <p:pic>
        <p:nvPicPr>
          <p:cNvPr id="26" name="Image 4" descr="preencoded.png">    </p:cNvPr>
          <p:cNvPicPr>
            <a:picLocks noChangeAspect="1"/>
          </p:cNvPicPr>
          <p:nvPr/>
        </p:nvPicPr>
        <p:blipFill>
          <a:blip r:embed="rId5"/>
          <a:stretch>
            <a:fillRect/>
          </a:stretch>
        </p:blipFill>
        <p:spPr>
          <a:xfrm>
            <a:off x="842162" y="4911242"/>
            <a:ext cx="281635" cy="281635"/>
          </a:xfrm>
          <a:prstGeom prst="rect">
            <a:avLst/>
          </a:prstGeom>
        </p:spPr>
      </p:pic>
      <p:sp>
        <p:nvSpPr>
          <p:cNvPr id="27" name="Text 19"/>
          <p:cNvSpPr txBox="1"/>
          <p:nvPr/>
        </p:nvSpPr>
        <p:spPr>
          <a:xfrm>
            <a:off x="1417320" y="4800600"/>
            <a:ext cx="4431640" cy="502920"/>
          </a:xfrm>
          <a:prstGeom prst="rect">
            <a:avLst/>
          </a:prstGeom>
          <a:noFill/>
          <a:ln/>
        </p:spPr>
        <p:txBody>
          <a:bodyPr wrap="square" lIns="0" tIns="0" rIns="0" bIns="0" rtlCol="0" anchor="ctr"/>
          <a:lstStyle/>
          <a:p>
            <a:pPr indent="0" marL="0">
              <a:buNone/>
            </a:pPr>
            <a:r>
              <a:rPr lang="en-US" sz="1600" b="1" dirty="0">
                <a:solidFill>
                  <a:schemeClr val="tx1"/>
                </a:solidFill>
              </a:rPr>
              <a:t>¿Cómo sabes que funciona?</a:t>
            </a:r>
            <a:endParaRPr lang="en-US" sz="1600" dirty="0"/>
          </a:p>
        </p:txBody>
      </p:sp>
      <p:sp>
        <p:nvSpPr>
          <p:cNvPr id="28" name="Text 20"/>
          <p:cNvSpPr txBox="1"/>
          <p:nvPr/>
        </p:nvSpPr>
        <p:spPr>
          <a:xfrm>
            <a:off x="1417320" y="5330952"/>
            <a:ext cx="4385920" cy="713232"/>
          </a:xfrm>
          <a:prstGeom prst="rect">
            <a:avLst/>
          </a:prstGeom>
          <a:noFill/>
          <a:ln/>
        </p:spPr>
        <p:txBody>
          <a:bodyPr wrap="square" lIns="0" tIns="0" rIns="0" bIns="0" rtlCol="0" anchor="t"/>
          <a:lstStyle/>
          <a:p>
            <a:pPr indent="0" marL="0">
              <a:buNone/>
            </a:pPr>
            <a:r>
              <a:rPr lang="en-US" sz="1450" dirty="0">
                <a:solidFill>
                  <a:schemeClr val="tx2"/>
                </a:solidFill>
              </a:rPr>
              <a:t>32/32 estados, 98,7 % F1, 4/4 propios, 39 pruebas, 0 violaciones.</a:t>
            </a:r>
            <a:endParaRPr lang="en-US" sz="1450" dirty="0"/>
          </a:p>
        </p:txBody>
      </p:sp>
      <p:sp>
        <p:nvSpPr>
          <p:cNvPr id="29" name="Shape 21"/>
          <p:cNvSpPr/>
          <p:nvPr/>
        </p:nvSpPr>
        <p:spPr>
          <a:xfrm>
            <a:off x="6205576" y="4617720"/>
            <a:ext cx="5437480" cy="1463040"/>
          </a:xfrm>
          <a:prstGeom prst="roundRect">
            <a:avLst>
              <a:gd name="adj" fmla="val 6250"/>
            </a:avLst>
          </a:prstGeom>
          <a:solidFill>
            <a:schemeClr val="bg2"/>
          </a:solidFill>
          <a:ln w="9525">
            <a:solidFill>
              <a:schemeClr val="bg2"/>
            </a:solidFill>
            <a:prstDash val="solid"/>
          </a:ln>
        </p:spPr>
      </p:sp>
      <p:sp>
        <p:nvSpPr>
          <p:cNvPr id="30" name="Shape 22"/>
          <p:cNvSpPr/>
          <p:nvPr/>
        </p:nvSpPr>
        <p:spPr>
          <a:xfrm>
            <a:off x="6388456" y="4800600"/>
            <a:ext cx="502920" cy="502920"/>
          </a:xfrm>
          <a:prstGeom prst="ellipse">
            <a:avLst/>
          </a:prstGeom>
          <a:solidFill>
            <a:schemeClr val="tx2"/>
          </a:solidFill>
          <a:ln w="12700">
            <a:solidFill>
              <a:schemeClr val="tx2"/>
            </a:solidFill>
            <a:prstDash val="solid"/>
          </a:ln>
        </p:spPr>
      </p:sp>
      <p:pic>
        <p:nvPicPr>
          <p:cNvPr id="31" name="Image 5" descr="preencoded.png">    </p:cNvPr>
          <p:cNvPicPr>
            <a:picLocks noChangeAspect="1"/>
          </p:cNvPicPr>
          <p:nvPr/>
        </p:nvPicPr>
        <p:blipFill>
          <a:blip r:embed="rId6"/>
          <a:stretch>
            <a:fillRect/>
          </a:stretch>
        </p:blipFill>
        <p:spPr>
          <a:xfrm>
            <a:off x="6499098" y="4911242"/>
            <a:ext cx="281635" cy="281635"/>
          </a:xfrm>
          <a:prstGeom prst="rect">
            <a:avLst/>
          </a:prstGeom>
        </p:spPr>
      </p:pic>
      <p:sp>
        <p:nvSpPr>
          <p:cNvPr id="32" name="Text 23"/>
          <p:cNvSpPr txBox="1"/>
          <p:nvPr/>
        </p:nvSpPr>
        <p:spPr>
          <a:xfrm>
            <a:off x="7074256" y="4800600"/>
            <a:ext cx="4431640" cy="502920"/>
          </a:xfrm>
          <a:prstGeom prst="rect">
            <a:avLst/>
          </a:prstGeom>
          <a:noFill/>
          <a:ln/>
        </p:spPr>
        <p:txBody>
          <a:bodyPr wrap="square" lIns="0" tIns="0" rIns="0" bIns="0" rtlCol="0" anchor="ctr"/>
          <a:lstStyle/>
          <a:p>
            <a:pPr indent="0" marL="0">
              <a:buNone/>
            </a:pPr>
            <a:r>
              <a:rPr lang="en-US" sz="1600" b="1" dirty="0">
                <a:solidFill>
                  <a:schemeClr val="tx1"/>
                </a:solidFill>
              </a:rPr>
              <a:t>¿Cuánto cuesta?</a:t>
            </a:r>
            <a:endParaRPr lang="en-US" sz="1600" dirty="0"/>
          </a:p>
        </p:txBody>
      </p:sp>
      <p:sp>
        <p:nvSpPr>
          <p:cNvPr id="33" name="Text 24"/>
          <p:cNvSpPr txBox="1"/>
          <p:nvPr/>
        </p:nvSpPr>
        <p:spPr>
          <a:xfrm>
            <a:off x="7074256" y="5330952"/>
            <a:ext cx="4385920" cy="713232"/>
          </a:xfrm>
          <a:prstGeom prst="rect">
            <a:avLst/>
          </a:prstGeom>
          <a:noFill/>
          <a:ln/>
        </p:spPr>
        <p:txBody>
          <a:bodyPr wrap="square" lIns="0" tIns="0" rIns="0" bIns="0" rtlCol="0" anchor="t"/>
          <a:lstStyle/>
          <a:p>
            <a:pPr indent="0" marL="0">
              <a:buNone/>
            </a:pPr>
            <a:r>
              <a:rPr lang="en-US" sz="1450" dirty="0">
                <a:solidFill>
                  <a:schemeClr val="tx2"/>
                </a:solidFill>
              </a:rPr>
              <a:t>$0,05 por las 518 solicitudes; repetir cuesta cero.</a:t>
            </a:r>
            <a:endParaRPr lang="en-US" sz="145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371600"/>
          </a:xfrm>
          <a:prstGeom prst="rect">
            <a:avLst/>
          </a:prstGeom>
          <a:noFill/>
          <a:ln/>
        </p:spPr>
        <p:txBody>
          <a:bodyPr wrap="square" lIns="0" tIns="0" rIns="0" bIns="0" rtlCol="0" anchor="b"/>
          <a:lstStyle/>
          <a:p>
            <a:pPr algn="l" indent="0" marL="0">
              <a:buNone/>
            </a:pPr>
            <a:r>
              <a:rPr lang="en-US" sz="5400" b="1" dirty="0">
                <a:solidFill>
                  <a:schemeClr val="bg1"/>
                </a:solidFill>
              </a:rPr>
              <a:t>En resumen</a:t>
            </a:r>
            <a:endParaRPr lang="en-US" sz="5400" dirty="0"/>
          </a:p>
        </p:txBody>
      </p:sp>
      <p:sp>
        <p:nvSpPr>
          <p:cNvPr id="3" name="Text 0"/>
          <p:cNvSpPr/>
          <p:nvPr>
            <p:ph idx="101" type="body" hasCustomPrompt="1"/>
          </p:nvPr>
        </p:nvSpPr>
        <p:spPr>
          <a:xfrm>
            <a:off x="731520" y="3383280"/>
            <a:ext cx="7680960" cy="1097280"/>
          </a:xfrm>
          <a:prstGeom prst="rect">
            <a:avLst/>
          </a:prstGeom>
          <a:noFill/>
          <a:ln/>
        </p:spPr>
        <p:txBody>
          <a:bodyPr wrap="square" lIns="0" tIns="0" rIns="0" bIns="0" rtlCol="0" anchor="t"/>
          <a:lstStyle/>
          <a:p>
            <a:pPr indent="0" marL="0">
              <a:buNone/>
            </a:pPr>
            <a:r>
              <a:rPr lang="en-US" sz="2400" dirty="0">
                <a:solidFill>
                  <a:schemeClr val="accent5"/>
                </a:solidFill>
              </a:rPr>
              <a:t>No confía en lo que dicen los sistemas: reconstruye lo que existe, aplica la política y prueba cada paso con evidencia.</a:t>
            </a:r>
            <a:endParaRPr lang="en-US" sz="2400" dirty="0"/>
          </a:p>
        </p:txBody>
      </p:sp>
      <p:sp>
        <p:nvSpPr>
          <p:cNvPr id="4" name="Text 0"/>
          <p:cNvSpPr/>
          <p:nvPr>
            <p:ph idx="102" type="body" hasCustomPrompt="1"/>
          </p:nvPr>
        </p:nvSpPr>
        <p:spPr>
          <a:xfrm>
            <a:off x="731520" y="5120640"/>
            <a:ext cx="7680960" cy="822960"/>
          </a:xfrm>
          <a:prstGeom prst="rect">
            <a:avLst/>
          </a:prstGeom>
          <a:noFill/>
          <a:ln/>
        </p:spPr>
        <p:txBody>
          <a:bodyPr wrap="square" lIns="0" tIns="0" rIns="0" bIns="0" rtlCol="0" anchor="t"/>
          <a:lstStyle/>
          <a:p>
            <a:pPr indent="0" marL="0">
              <a:buNone/>
            </a:pPr>
            <a:r>
              <a:rPr lang="en-US" sz="1400" dirty="0">
                <a:solidFill>
                  <a:schemeClr val="bg2"/>
                </a:solidFill>
              </a:rPr>
              <a:t>Entrega: https://www.hackerrank.com/contests/hackerrank-orchestrate-october26/challenges/ghost-data-still-exists</a:t>
            </a:r>
            <a:endParaRPr lang="en-US" sz="1400" dirty="0"/>
          </a:p>
        </p:txBody>
      </p:sp>
      <p:sp>
        <p:nvSpPr>
          <p:cNvPr id="5" name="Shape 3"/>
          <p:cNvSpPr/>
          <p:nvPr/>
        </p:nvSpPr>
        <p:spPr>
          <a:xfrm>
            <a:off x="8641080" y="146304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802014" y="1623974"/>
            <a:ext cx="409651" cy="409651"/>
          </a:xfrm>
          <a:prstGeom prst="rect">
            <a:avLst/>
          </a:prstGeom>
        </p:spPr>
      </p:pic>
      <p:sp>
        <p:nvSpPr>
          <p:cNvPr id="7" name="Text 4"/>
          <p:cNvSpPr txBox="1"/>
          <p:nvPr/>
        </p:nvSpPr>
        <p:spPr>
          <a:xfrm>
            <a:off x="9509760" y="1444752"/>
            <a:ext cx="2130552" cy="822960"/>
          </a:xfrm>
          <a:prstGeom prst="rect">
            <a:avLst/>
          </a:prstGeom>
          <a:noFill/>
          <a:ln/>
        </p:spPr>
        <p:txBody>
          <a:bodyPr wrap="square" lIns="0" tIns="0" rIns="0" bIns="0" rtlCol="0" anchor="ctr"/>
          <a:lstStyle/>
          <a:p>
            <a:pPr indent="0" marL="0">
              <a:buNone/>
            </a:pPr>
            <a:r>
              <a:rPr lang="en-US" sz="1700" b="1" dirty="0">
                <a:solidFill>
                  <a:schemeClr val="bg1"/>
                </a:solidFill>
              </a:rPr>
              <a:t>Identidad completa</a:t>
            </a:r>
            <a:endParaRPr lang="en-US" sz="1400" dirty="0"/>
          </a:p>
          <a:p>
            <a:pPr indent="0" marL="0">
              <a:buNone/>
            </a:pPr>
            <a:r>
              <a:rPr lang="en-US" sz="1350" dirty="0">
                <a:solidFill>
                  <a:schemeClr val="accent5"/>
                </a:solidFill>
              </a:rPr>
              <a:t>actual e histórica</a:t>
            </a:r>
            <a:endParaRPr lang="en-US" sz="1400" dirty="0"/>
          </a:p>
        </p:txBody>
      </p:sp>
      <p:sp>
        <p:nvSpPr>
          <p:cNvPr id="8" name="Shape 5"/>
          <p:cNvSpPr/>
          <p:nvPr/>
        </p:nvSpPr>
        <p:spPr>
          <a:xfrm>
            <a:off x="8641080" y="2788920"/>
            <a:ext cx="731520" cy="73152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8802014" y="2949854"/>
            <a:ext cx="409651" cy="409651"/>
          </a:xfrm>
          <a:prstGeom prst="rect">
            <a:avLst/>
          </a:prstGeom>
        </p:spPr>
      </p:pic>
      <p:sp>
        <p:nvSpPr>
          <p:cNvPr id="10" name="Text 6"/>
          <p:cNvSpPr txBox="1"/>
          <p:nvPr/>
        </p:nvSpPr>
        <p:spPr>
          <a:xfrm>
            <a:off x="9509760" y="2770632"/>
            <a:ext cx="2130552" cy="822960"/>
          </a:xfrm>
          <a:prstGeom prst="rect">
            <a:avLst/>
          </a:prstGeom>
          <a:noFill/>
          <a:ln/>
        </p:spPr>
        <p:txBody>
          <a:bodyPr wrap="square" lIns="0" tIns="0" rIns="0" bIns="0" rtlCol="0" anchor="ctr"/>
          <a:lstStyle/>
          <a:p>
            <a:pPr indent="0" marL="0">
              <a:buNone/>
            </a:pPr>
            <a:r>
              <a:rPr lang="en-US" sz="1700" b="1" dirty="0">
                <a:solidFill>
                  <a:schemeClr val="bg1"/>
                </a:solidFill>
              </a:rPr>
              <a:t>Estado en audit_at</a:t>
            </a:r>
            <a:endParaRPr lang="en-US" sz="1400" dirty="0"/>
          </a:p>
          <a:p>
            <a:pPr indent="0" marL="0">
              <a:buNone/>
            </a:pPr>
            <a:r>
              <a:rPr lang="en-US" sz="1350" dirty="0">
                <a:solidFill>
                  <a:schemeClr val="accent5"/>
                </a:solidFill>
              </a:rPr>
              <a:t>la última observación válida</a:t>
            </a:r>
            <a:endParaRPr lang="en-US" sz="1400" dirty="0"/>
          </a:p>
        </p:txBody>
      </p:sp>
      <p:sp>
        <p:nvSpPr>
          <p:cNvPr id="11" name="Shape 7"/>
          <p:cNvSpPr/>
          <p:nvPr/>
        </p:nvSpPr>
        <p:spPr>
          <a:xfrm>
            <a:off x="8641080" y="4114800"/>
            <a:ext cx="731520" cy="73152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8802014" y="4275734"/>
            <a:ext cx="409651" cy="409651"/>
          </a:xfrm>
          <a:prstGeom prst="rect">
            <a:avLst/>
          </a:prstGeom>
        </p:spPr>
      </p:pic>
      <p:sp>
        <p:nvSpPr>
          <p:cNvPr id="13" name="Text 8"/>
          <p:cNvSpPr txBox="1"/>
          <p:nvPr/>
        </p:nvSpPr>
        <p:spPr>
          <a:xfrm>
            <a:off x="9509760" y="4096512"/>
            <a:ext cx="2130552" cy="822960"/>
          </a:xfrm>
          <a:prstGeom prst="rect">
            <a:avLst/>
          </a:prstGeom>
          <a:noFill/>
          <a:ln/>
        </p:spPr>
        <p:txBody>
          <a:bodyPr wrap="square" lIns="0" tIns="0" rIns="0" bIns="0" rtlCol="0" anchor="ctr"/>
          <a:lstStyle/>
          <a:p>
            <a:pPr indent="0" marL="0">
              <a:buNone/>
            </a:pPr>
            <a:r>
              <a:rPr lang="en-US" sz="1700" b="1" dirty="0">
                <a:solidFill>
                  <a:schemeClr val="bg1"/>
                </a:solidFill>
              </a:rPr>
              <a:t>Política y orden</a:t>
            </a:r>
            <a:endParaRPr lang="en-US" sz="1400" dirty="0"/>
          </a:p>
          <a:p>
            <a:pPr indent="0" marL="0">
              <a:buNone/>
            </a:pPr>
            <a:r>
              <a:rPr lang="en-US" sz="1350" dirty="0">
                <a:solidFill>
                  <a:schemeClr val="accent5"/>
                </a:solidFill>
              </a:rPr>
              <a:t>15 reglas, pasos verificados</a:t>
            </a:r>
            <a:endParaRPr lang="en-US" sz="1400" dirty="0"/>
          </a:p>
        </p:txBody>
      </p:sp>
    </p:spTree>
  </p:cSld>
  <p:clrMapOvr>
    <a:masterClrMapping/>
  </p:clrMapOvr>
</p:sld>
</file>

<file path=ppt/theme/theme1.xml><?xml version="1.0" encoding="utf-8"?>
<a:theme xmlns:a="http://schemas.openxmlformats.org/drawingml/2006/main" name="Ghost Data">
  <a:themeElements>
    <a:clrScheme name="Ghost Data">
      <a:dk1>
        <a:srgbClr val="16212C"/>
      </a:dk1>
      <a:lt1>
        <a:srgbClr val="FFFFFF"/>
      </a:lt1>
      <a:dk2>
        <a:srgbClr val="24425A"/>
      </a:dk2>
      <a:lt2>
        <a:srgbClr val="EEF3F5"/>
      </a:lt2>
      <a:accent1>
        <a:srgbClr val="0F8A80"/>
      </a:accent1>
      <a:accent2>
        <a:srgbClr val="D9512C"/>
      </a:accent2>
      <a:accent3>
        <a:srgbClr val="F0A92B"/>
      </a:accent3>
      <a:accent4>
        <a:srgbClr val="5E7385"/>
      </a:accent4>
      <a:accent5>
        <a:srgbClr val="8ED6CC"/>
      </a:accent5>
      <a:accent6>
        <a:srgbClr val="6A4FC4"/>
      </a:accent6>
      <a:hlink>
        <a:srgbClr val="0F8A80"/>
      </a:hlink>
      <a:folHlink>
        <a:srgbClr val="5E7385"/>
      </a:folHlink>
    </a:clrScheme>
    <a:fontScheme name="Ghos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Ghost Data Still Exists: cómo funciona la solución</dc:title>
  <dc:subject>Guía de estudio del agente de auditoría de borrado</dc:subject>
  <dc:creator>Baruch</dc:creator>
  <cp:lastModifiedBy>Baruch</cp:lastModifiedBy>
  <cp:revision>1</cp:revision>
  <dcterms:created xsi:type="dcterms:W3CDTF">2026-10-25T06:18:38Z</dcterms:created>
  <dcterms:modified xsi:type="dcterms:W3CDTF">2026-10-25T06:18:38Z</dcterms:modified>
</cp:coreProperties>
</file>